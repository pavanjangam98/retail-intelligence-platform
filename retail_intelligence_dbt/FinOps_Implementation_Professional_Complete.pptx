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1371600"/>
          </a:xfrm>
          <a:prstGeom prst="rect">
            <a:avLst/>
          </a:prstGeom>
          <a:solidFill>
            <a:srgbClr val="003C77"/>
          </a:solidFill>
          <a:ln/>
        </p:spPr>
      </p:sp>
      <p:sp>
        <p:nvSpPr>
          <p:cNvPr id="3" name="Text 1"/>
          <p:cNvSpPr/>
          <p:nvPr/>
        </p:nvSpPr>
        <p:spPr>
          <a:xfrm>
            <a:off x="457200" y="365760"/>
            <a:ext cx="8229600" cy="640080"/>
          </a:xfrm>
          <a:prstGeom prst="rect">
            <a:avLst/>
          </a:prstGeom>
          <a:noFill/>
          <a:ln/>
        </p:spPr>
        <p:txBody>
          <a:bodyPr wrap="square"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FinOps Implementation</a:t>
            </a:r>
            <a:endParaRPr lang="en-US" sz="4800" dirty="0"/>
          </a:p>
        </p:txBody>
      </p:sp>
      <p:sp>
        <p:nvSpPr>
          <p:cNvPr id="4" name="Text 2"/>
          <p:cNvSpPr/>
          <p:nvPr/>
        </p:nvSpPr>
        <p:spPr>
          <a:xfrm>
            <a:off x="457200" y="2103120"/>
            <a:ext cx="8229600" cy="457200"/>
          </a:xfrm>
          <a:prstGeom prst="rect">
            <a:avLst/>
          </a:prstGeom>
          <a:noFill/>
          <a:ln/>
        </p:spPr>
        <p:txBody>
          <a:bodyPr wrap="square" rtlCol="0" anchor="ctr"/>
          <a:lstStyle/>
          <a:p>
            <a:pPr algn="l" indent="0" marL="0">
              <a:buNone/>
            </a:pPr>
            <a:r>
              <a:rPr lang="en-US" sz="2800" dirty="0">
                <a:solidFill>
                  <a:srgbClr val="333333"/>
                </a:solidFill>
                <a:latin typeface="Calibri Light" pitchFamily="34" charset="0"/>
                <a:ea typeface="Calibri Light" pitchFamily="34" charset="-122"/>
                <a:cs typeface="Calibri Light" pitchFamily="34" charset="-120"/>
              </a:rPr>
              <a:t>Insights and Metrics Overview</a:t>
            </a:r>
            <a:endParaRPr lang="en-US" sz="2800" dirty="0"/>
          </a:p>
        </p:txBody>
      </p:sp>
      <p:sp>
        <p:nvSpPr>
          <p:cNvPr id="5" name="Shape 3"/>
          <p:cNvSpPr/>
          <p:nvPr/>
        </p:nvSpPr>
        <p:spPr>
          <a:xfrm>
            <a:off x="457200" y="1920240"/>
            <a:ext cx="1828800" cy="73152"/>
          </a:xfrm>
          <a:prstGeom prst="rect">
            <a:avLst/>
          </a:prstGeom>
          <a:solidFill>
            <a:srgbClr val="FF9500"/>
          </a:solidFill>
          <a:ln/>
        </p:spPr>
      </p:sp>
      <p:sp>
        <p:nvSpPr>
          <p:cNvPr id="6" name="Text 4"/>
          <p:cNvSpPr/>
          <p:nvPr/>
        </p:nvSpPr>
        <p:spPr>
          <a:xfrm>
            <a:off x="457200" y="4663440"/>
            <a:ext cx="7315200" cy="274320"/>
          </a:xfrm>
          <a:prstGeom prst="rect">
            <a:avLst/>
          </a:prstGeom>
          <a:noFill/>
          <a:ln/>
        </p:spPr>
        <p:txBody>
          <a:bodyPr wrap="square" rtlCol="0" anchor="ctr"/>
          <a:lstStyle/>
          <a:p>
            <a:pPr algn="l"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7" name="Text 5"/>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algn="l" indent="0" marL="0">
              <a:buNone/>
            </a:pPr>
            <a:r>
              <a:rPr lang="en-US" sz="3600" b="1" dirty="0">
                <a:solidFill>
                  <a:srgbClr val="003C77"/>
                </a:solidFill>
                <a:latin typeface="Calibri" pitchFamily="34" charset="0"/>
                <a:ea typeface="Calibri" pitchFamily="34" charset="-122"/>
                <a:cs typeface="Calibri" pitchFamily="34" charset="-120"/>
              </a:rPr>
              <a:t>Introduction</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97280"/>
            <a:ext cx="8229600" cy="914400"/>
          </a:xfrm>
          <a:prstGeom prst="rect">
            <a:avLst/>
          </a:prstGeom>
          <a:noFill/>
          <a:ln/>
        </p:spPr>
        <p:txBody>
          <a:bodyPr wrap="square" rtlCol="0" anchor="t"/>
          <a:lstStyle/>
          <a:p>
            <a:pPr algn="l" indent="0" marL="0">
              <a:buNone/>
            </a:pPr>
            <a:r>
              <a:rPr lang="en-US" sz="1400" dirty="0">
                <a:solidFill>
                  <a:srgbClr val="333333"/>
                </a:solidFill>
                <a:latin typeface="Calibri Light" pitchFamily="34" charset="0"/>
                <a:ea typeface="Calibri Light" pitchFamily="34" charset="-122"/>
                <a:cs typeface="Calibri Light" pitchFamily="34" charset="-120"/>
              </a:rPr>
              <a:t>This presentation provides a comprehensive overview of the FinOps implementation in Snowflake, focusing on controlling, optimizing, and governing cloud data platform spend to ensure every credit delivers measurable business value.</a:t>
            </a:r>
            <a:endParaRPr lang="en-US" sz="1400" dirty="0"/>
          </a:p>
        </p:txBody>
      </p:sp>
      <p:sp>
        <p:nvSpPr>
          <p:cNvPr id="6" name="Text 4"/>
          <p:cNvSpPr/>
          <p:nvPr/>
        </p:nvSpPr>
        <p:spPr>
          <a:xfrm>
            <a:off x="457200" y="2194560"/>
            <a:ext cx="8229600" cy="32004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Key Focus Areas:</a:t>
            </a:r>
            <a:endParaRPr lang="en-US" sz="1800" dirty="0"/>
          </a:p>
        </p:txBody>
      </p:sp>
      <p:sp>
        <p:nvSpPr>
          <p:cNvPr id="7" name="Shape 5"/>
          <p:cNvSpPr/>
          <p:nvPr/>
        </p:nvSpPr>
        <p:spPr>
          <a:xfrm>
            <a:off x="457200" y="2633472"/>
            <a:ext cx="137160" cy="137160"/>
          </a:xfrm>
          <a:prstGeom prst="ellipse">
            <a:avLst/>
          </a:prstGeom>
          <a:solidFill>
            <a:srgbClr val="FF9500"/>
          </a:solidFill>
          <a:ln/>
        </p:spPr>
      </p:sp>
      <p:sp>
        <p:nvSpPr>
          <p:cNvPr id="8" name="Text 6"/>
          <p:cNvSpPr/>
          <p:nvPr/>
        </p:nvSpPr>
        <p:spPr>
          <a:xfrm>
            <a:off x="685800" y="2651760"/>
            <a:ext cx="8001000" cy="274320"/>
          </a:xfrm>
          <a:prstGeom prst="rect">
            <a:avLst/>
          </a:prstGeom>
          <a:noFill/>
          <a:ln/>
        </p:spPr>
        <p:txBody>
          <a:bodyPr wrap="square" rtlCol="0" anchor="ctr"/>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Cost visibility and accountability across all zones and teams</a:t>
            </a:r>
            <a:endParaRPr lang="en-US" sz="1300" dirty="0"/>
          </a:p>
        </p:txBody>
      </p:sp>
      <p:sp>
        <p:nvSpPr>
          <p:cNvPr id="9" name="Shape 7"/>
          <p:cNvSpPr/>
          <p:nvPr/>
        </p:nvSpPr>
        <p:spPr>
          <a:xfrm>
            <a:off x="457200" y="2953512"/>
            <a:ext cx="137160" cy="137160"/>
          </a:xfrm>
          <a:prstGeom prst="ellipse">
            <a:avLst/>
          </a:prstGeom>
          <a:solidFill>
            <a:srgbClr val="FF9500"/>
          </a:solidFill>
          <a:ln/>
        </p:spPr>
      </p:sp>
      <p:sp>
        <p:nvSpPr>
          <p:cNvPr id="10" name="Text 8"/>
          <p:cNvSpPr/>
          <p:nvPr/>
        </p:nvSpPr>
        <p:spPr>
          <a:xfrm>
            <a:off x="685800" y="2971800"/>
            <a:ext cx="8001000" cy="274320"/>
          </a:xfrm>
          <a:prstGeom prst="rect">
            <a:avLst/>
          </a:prstGeom>
          <a:noFill/>
          <a:ln/>
        </p:spPr>
        <p:txBody>
          <a:bodyPr wrap="square" rtlCol="0" anchor="ctr"/>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Row-level security ensuring data privacy while maintaining transparency</a:t>
            </a:r>
            <a:endParaRPr lang="en-US" sz="1300" dirty="0"/>
          </a:p>
        </p:txBody>
      </p:sp>
      <p:sp>
        <p:nvSpPr>
          <p:cNvPr id="11" name="Shape 9"/>
          <p:cNvSpPr/>
          <p:nvPr/>
        </p:nvSpPr>
        <p:spPr>
          <a:xfrm>
            <a:off x="457200" y="3273552"/>
            <a:ext cx="137160" cy="137160"/>
          </a:xfrm>
          <a:prstGeom prst="ellipse">
            <a:avLst/>
          </a:prstGeom>
          <a:solidFill>
            <a:srgbClr val="FF9500"/>
          </a:solidFill>
          <a:ln/>
        </p:spPr>
      </p:sp>
      <p:sp>
        <p:nvSpPr>
          <p:cNvPr id="12" name="Text 10"/>
          <p:cNvSpPr/>
          <p:nvPr/>
        </p:nvSpPr>
        <p:spPr>
          <a:xfrm>
            <a:off x="685800" y="3291840"/>
            <a:ext cx="8001000" cy="274320"/>
          </a:xfrm>
          <a:prstGeom prst="rect">
            <a:avLst/>
          </a:prstGeom>
          <a:noFill/>
          <a:ln/>
        </p:spPr>
        <p:txBody>
          <a:bodyPr wrap="square" rtlCol="0" anchor="ctr"/>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Comprehensive monitoring of credit consumption, storage, and query performance</a:t>
            </a:r>
            <a:endParaRPr lang="en-US" sz="1300" dirty="0"/>
          </a:p>
        </p:txBody>
      </p:sp>
      <p:sp>
        <p:nvSpPr>
          <p:cNvPr id="13" name="Shape 11"/>
          <p:cNvSpPr/>
          <p:nvPr/>
        </p:nvSpPr>
        <p:spPr>
          <a:xfrm>
            <a:off x="457200" y="3593592"/>
            <a:ext cx="137160" cy="137160"/>
          </a:xfrm>
          <a:prstGeom prst="ellipse">
            <a:avLst/>
          </a:prstGeom>
          <a:solidFill>
            <a:srgbClr val="FF9500"/>
          </a:solidFill>
          <a:ln/>
        </p:spPr>
      </p:sp>
      <p:sp>
        <p:nvSpPr>
          <p:cNvPr id="14" name="Text 12"/>
          <p:cNvSpPr/>
          <p:nvPr/>
        </p:nvSpPr>
        <p:spPr>
          <a:xfrm>
            <a:off x="685800" y="3611880"/>
            <a:ext cx="8001000" cy="274320"/>
          </a:xfrm>
          <a:prstGeom prst="rect">
            <a:avLst/>
          </a:prstGeom>
          <a:noFill/>
          <a:ln/>
        </p:spPr>
        <p:txBody>
          <a:bodyPr wrap="square" rtlCol="0" anchor="ctr"/>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Actionable dashboards for proactive cost management and optimization</a:t>
            </a:r>
            <a:endParaRPr lang="en-US" sz="1300" dirty="0"/>
          </a:p>
        </p:txBody>
      </p:sp>
      <p:sp>
        <p:nvSpPr>
          <p:cNvPr id="15" name="Text 1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16" name="Text 1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2</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What We're Offering with FinOps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05840"/>
            <a:ext cx="3931920" cy="320040"/>
          </a:xfrm>
          <a:prstGeom prst="rect">
            <a:avLst/>
          </a:prstGeom>
          <a:noFill/>
          <a:ln/>
        </p:spPr>
        <p:txBody>
          <a:bodyPr wrap="square" rtlCol="0" anchor="ctr"/>
          <a:lstStyle/>
          <a:p>
            <a:pPr indent="0" marL="0">
              <a:buNone/>
            </a:pPr>
            <a:r>
              <a:rPr lang="en-US" sz="2000" b="1" dirty="0">
                <a:solidFill>
                  <a:srgbClr val="003C77"/>
                </a:solidFill>
                <a:latin typeface="Calibri" pitchFamily="34" charset="0"/>
                <a:ea typeface="Calibri" pitchFamily="34" charset="-122"/>
                <a:cs typeface="Calibri" pitchFamily="34" charset="-120"/>
              </a:rPr>
              <a:t>What is FinOps?</a:t>
            </a:r>
            <a:endParaRPr lang="en-US" sz="2000" dirty="0"/>
          </a:p>
        </p:txBody>
      </p:sp>
      <p:sp>
        <p:nvSpPr>
          <p:cNvPr id="6" name="Text 4"/>
          <p:cNvSpPr/>
          <p:nvPr/>
        </p:nvSpPr>
        <p:spPr>
          <a:xfrm>
            <a:off x="457200" y="1371600"/>
            <a:ext cx="3931920" cy="914400"/>
          </a:xfrm>
          <a:prstGeom prst="rect">
            <a:avLst/>
          </a:prstGeom>
          <a:noFill/>
          <a:ln/>
        </p:spPr>
        <p:txBody>
          <a:bodyPr wrap="square" rtlCol="0" anchor="t"/>
          <a:lstStyle/>
          <a:p>
            <a:pPr algn="l" indent="0" marL="0">
              <a:buNone/>
            </a:pPr>
            <a:r>
              <a:rPr lang="en-US" sz="1200" dirty="0">
                <a:solidFill>
                  <a:srgbClr val="333333"/>
                </a:solidFill>
                <a:latin typeface="Calibri Light" pitchFamily="34" charset="0"/>
                <a:ea typeface="Calibri Light" pitchFamily="34" charset="-122"/>
                <a:cs typeface="Calibri Light" pitchFamily="34" charset="-120"/>
              </a:rPr>
              <a:t>FinOps (Financial Operations) is a cultural practice that brings financial accountability to cloud spending. It enables teams to make informed trade-offs between speed, cost, and quality by providing visibility, control, and optimization of cloud resources in real-time.</a:t>
            </a:r>
            <a:endParaRPr lang="en-US" sz="1200" dirty="0"/>
          </a:p>
        </p:txBody>
      </p:sp>
      <p:sp>
        <p:nvSpPr>
          <p:cNvPr id="7" name="Text 5"/>
          <p:cNvSpPr/>
          <p:nvPr/>
        </p:nvSpPr>
        <p:spPr>
          <a:xfrm>
            <a:off x="4754880" y="1005840"/>
            <a:ext cx="3931920" cy="320040"/>
          </a:xfrm>
          <a:prstGeom prst="rect">
            <a:avLst/>
          </a:prstGeom>
          <a:noFill/>
          <a:ln/>
        </p:spPr>
        <p:txBody>
          <a:bodyPr wrap="square" rtlCol="0" anchor="ctr"/>
          <a:lstStyle/>
          <a:p>
            <a:pPr indent="0" marL="0">
              <a:buNone/>
            </a:pPr>
            <a:r>
              <a:rPr lang="en-US" sz="2000" b="1" dirty="0">
                <a:solidFill>
                  <a:srgbClr val="0066CC"/>
                </a:solidFill>
                <a:latin typeface="Calibri" pitchFamily="34" charset="0"/>
                <a:ea typeface="Calibri" pitchFamily="34" charset="-122"/>
                <a:cs typeface="Calibri" pitchFamily="34" charset="-120"/>
              </a:rPr>
              <a:t>Core FinOps Capabilities</a:t>
            </a:r>
            <a:endParaRPr lang="en-US" sz="2000" dirty="0"/>
          </a:p>
        </p:txBody>
      </p:sp>
      <p:sp>
        <p:nvSpPr>
          <p:cNvPr id="8" name="Text 6"/>
          <p:cNvSpPr/>
          <p:nvPr/>
        </p:nvSpPr>
        <p:spPr>
          <a:xfrm>
            <a:off x="4754880" y="1371600"/>
            <a:ext cx="3931920" cy="25603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Cost Visibility &amp; Transparency</a:t>
            </a:r>
            <a:endParaRPr lang="en-US" sz="1300" dirty="0"/>
          </a:p>
        </p:txBody>
      </p:sp>
      <p:sp>
        <p:nvSpPr>
          <p:cNvPr id="9" name="Text 7"/>
          <p:cNvSpPr/>
          <p:nvPr/>
        </p:nvSpPr>
        <p:spPr>
          <a:xfrm>
            <a:off x="4754880" y="1627632"/>
            <a:ext cx="3931920" cy="365760"/>
          </a:xfrm>
          <a:prstGeom prst="rect">
            <a:avLst/>
          </a:prstGeom>
          <a:noFill/>
          <a:ln/>
        </p:spPr>
        <p:txBody>
          <a:bodyPr wrap="square" rtlCol="0" anchor="ctr"/>
          <a:lstStyle/>
          <a:p>
            <a:pPr algn="l" indent="0" marL="0">
              <a:buNone/>
            </a:pPr>
            <a:r>
              <a:rPr lang="en-US" sz="1100" dirty="0">
                <a:solidFill>
                  <a:srgbClr val="666666"/>
                </a:solidFill>
                <a:latin typeface="Calibri Light" pitchFamily="34" charset="0"/>
                <a:ea typeface="Calibri Light" pitchFamily="34" charset="-122"/>
                <a:cs typeface="Calibri Light" pitchFamily="34" charset="-120"/>
              </a:rPr>
              <a:t>Complete view of Snowflake credit consumption across all teams</a:t>
            </a:r>
            <a:endParaRPr lang="en-US" sz="1100" dirty="0"/>
          </a:p>
        </p:txBody>
      </p:sp>
      <p:sp>
        <p:nvSpPr>
          <p:cNvPr id="10" name="Text 8"/>
          <p:cNvSpPr/>
          <p:nvPr/>
        </p:nvSpPr>
        <p:spPr>
          <a:xfrm>
            <a:off x="4754880" y="2057400"/>
            <a:ext cx="3931920" cy="25603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Accountability &amp; Chargeback</a:t>
            </a:r>
            <a:endParaRPr lang="en-US" sz="1300" dirty="0"/>
          </a:p>
        </p:txBody>
      </p:sp>
      <p:sp>
        <p:nvSpPr>
          <p:cNvPr id="11" name="Text 9"/>
          <p:cNvSpPr/>
          <p:nvPr/>
        </p:nvSpPr>
        <p:spPr>
          <a:xfrm>
            <a:off x="4754880" y="2313432"/>
            <a:ext cx="3931920" cy="365760"/>
          </a:xfrm>
          <a:prstGeom prst="rect">
            <a:avLst/>
          </a:prstGeom>
          <a:noFill/>
          <a:ln/>
        </p:spPr>
        <p:txBody>
          <a:bodyPr wrap="square" rtlCol="0" anchor="ctr"/>
          <a:lstStyle/>
          <a:p>
            <a:pPr algn="l" indent="0" marL="0">
              <a:buNone/>
            </a:pPr>
            <a:r>
              <a:rPr lang="en-US" sz="1100" dirty="0">
                <a:solidFill>
                  <a:srgbClr val="666666"/>
                </a:solidFill>
                <a:latin typeface="Calibri Light" pitchFamily="34" charset="0"/>
                <a:ea typeface="Calibri Light" pitchFamily="34" charset="-122"/>
                <a:cs typeface="Calibri Light" pitchFamily="34" charset="-120"/>
              </a:rPr>
              <a:t>Track costs by warehouse, user, and workload for accurate attribution</a:t>
            </a:r>
            <a:endParaRPr lang="en-US" sz="1100" dirty="0"/>
          </a:p>
        </p:txBody>
      </p:sp>
      <p:sp>
        <p:nvSpPr>
          <p:cNvPr id="12" name="Text 10"/>
          <p:cNvSpPr/>
          <p:nvPr/>
        </p:nvSpPr>
        <p:spPr>
          <a:xfrm>
            <a:off x="4754880" y="2743200"/>
            <a:ext cx="3931920" cy="25603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Cost Optimization</a:t>
            </a:r>
            <a:endParaRPr lang="en-US" sz="1300" dirty="0"/>
          </a:p>
        </p:txBody>
      </p:sp>
      <p:sp>
        <p:nvSpPr>
          <p:cNvPr id="13" name="Text 11"/>
          <p:cNvSpPr/>
          <p:nvPr/>
        </p:nvSpPr>
        <p:spPr>
          <a:xfrm>
            <a:off x="4754880" y="2999232"/>
            <a:ext cx="3931920" cy="365760"/>
          </a:xfrm>
          <a:prstGeom prst="rect">
            <a:avLst/>
          </a:prstGeom>
          <a:noFill/>
          <a:ln/>
        </p:spPr>
        <p:txBody>
          <a:bodyPr wrap="square" rtlCol="0" anchor="ctr"/>
          <a:lstStyle/>
          <a:p>
            <a:pPr algn="l" indent="0" marL="0">
              <a:buNone/>
            </a:pPr>
            <a:r>
              <a:rPr lang="en-US" sz="1100" dirty="0">
                <a:solidFill>
                  <a:srgbClr val="666666"/>
                </a:solidFill>
                <a:latin typeface="Calibri Light" pitchFamily="34" charset="0"/>
                <a:ea typeface="Calibri Light" pitchFamily="34" charset="-122"/>
                <a:cs typeface="Calibri Light" pitchFamily="34" charset="-120"/>
              </a:rPr>
              <a:t>Identify inefficiencies and right-size resources to reduce waste</a:t>
            </a:r>
            <a:endParaRPr lang="en-US" sz="1100" dirty="0"/>
          </a:p>
        </p:txBody>
      </p:sp>
      <p:sp>
        <p:nvSpPr>
          <p:cNvPr id="14" name="Text 12"/>
          <p:cNvSpPr/>
          <p:nvPr/>
        </p:nvSpPr>
        <p:spPr>
          <a:xfrm>
            <a:off x="4754880" y="3429000"/>
            <a:ext cx="3931920" cy="256032"/>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Forecasting &amp; Budgeting</a:t>
            </a:r>
            <a:endParaRPr lang="en-US" sz="1300" dirty="0"/>
          </a:p>
        </p:txBody>
      </p:sp>
      <p:sp>
        <p:nvSpPr>
          <p:cNvPr id="15" name="Text 13"/>
          <p:cNvSpPr/>
          <p:nvPr/>
        </p:nvSpPr>
        <p:spPr>
          <a:xfrm>
            <a:off x="4754880" y="3685032"/>
            <a:ext cx="3931920" cy="365760"/>
          </a:xfrm>
          <a:prstGeom prst="rect">
            <a:avLst/>
          </a:prstGeom>
          <a:noFill/>
          <a:ln/>
        </p:spPr>
        <p:txBody>
          <a:bodyPr wrap="square" rtlCol="0" anchor="ctr"/>
          <a:lstStyle/>
          <a:p>
            <a:pPr algn="l" indent="0" marL="0">
              <a:buNone/>
            </a:pPr>
            <a:r>
              <a:rPr lang="en-US" sz="1100" dirty="0">
                <a:solidFill>
                  <a:srgbClr val="666666"/>
                </a:solidFill>
                <a:latin typeface="Calibri Light" pitchFamily="34" charset="0"/>
                <a:ea typeface="Calibri Light" pitchFamily="34" charset="-122"/>
                <a:cs typeface="Calibri Light" pitchFamily="34" charset="-120"/>
              </a:rPr>
              <a:t>Predict future costs and set budget thresholds with alerts</a:t>
            </a:r>
            <a:endParaRPr lang="en-US" sz="1100" dirty="0"/>
          </a:p>
        </p:txBody>
      </p:sp>
      <p:sp>
        <p:nvSpPr>
          <p:cNvPr id="16" name="Text 14"/>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17" name="Text 15"/>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3</a:t>
            </a:r>
            <a:endParaRPr lang="en-US" sz="10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5143500"/>
          </a:xfrm>
          <a:prstGeom prst="rect">
            <a:avLst/>
          </a:prstGeom>
          <a:solidFill>
            <a:srgbClr val="003C77"/>
          </a:solidFill>
          <a:ln/>
        </p:spPr>
      </p:sp>
      <p:sp>
        <p:nvSpPr>
          <p:cNvPr id="3" name="Text 1"/>
          <p:cNvSpPr/>
          <p:nvPr/>
        </p:nvSpPr>
        <p:spPr>
          <a:xfrm>
            <a:off x="457200" y="1371600"/>
            <a:ext cx="8229600" cy="731520"/>
          </a:xfrm>
          <a:prstGeom prst="rect">
            <a:avLst/>
          </a:prstGeom>
          <a:noFill/>
          <a:ln/>
        </p:spPr>
        <p:txBody>
          <a:bodyPr wrap="square" rtlCol="0" anchor="ctr"/>
          <a:lstStyle/>
          <a:p>
            <a:pPr algn="ctr" indent="0" marL="0">
              <a:buNone/>
            </a:pPr>
            <a:r>
              <a:rPr lang="en-US" sz="9600" b="1" dirty="0">
                <a:solidFill>
                  <a:srgbClr val="FF9500"/>
                </a:solidFill>
                <a:latin typeface="Calibri" pitchFamily="34" charset="0"/>
                <a:ea typeface="Calibri" pitchFamily="34" charset="-122"/>
                <a:cs typeface="Calibri" pitchFamily="34" charset="-120"/>
              </a:rPr>
              <a:t>01</a:t>
            </a:r>
            <a:endParaRPr lang="en-US" sz="9600" dirty="0"/>
          </a:p>
        </p:txBody>
      </p:sp>
      <p:sp>
        <p:nvSpPr>
          <p:cNvPr id="4" name="Text 2"/>
          <p:cNvSpPr/>
          <p:nvPr/>
        </p:nvSpPr>
        <p:spPr>
          <a:xfrm>
            <a:off x="457200" y="2468880"/>
            <a:ext cx="8229600" cy="54864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FinOps Dashboard Overview</a:t>
            </a:r>
            <a:endParaRPr lang="en-US" sz="4400" dirty="0"/>
          </a:p>
        </p:txBody>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F5F5F5"/>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F5F5F5"/>
                </a:solidFill>
                <a:latin typeface="Calibri Light" pitchFamily="34" charset="0"/>
                <a:ea typeface="Calibri Light" pitchFamily="34" charset="-122"/>
                <a:cs typeface="Calibri Light" pitchFamily="34" charset="-120"/>
              </a:rPr>
              <a:t>4</a:t>
            </a:r>
            <a:endParaRPr lang="en-US" sz="10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Dashboard Implementation</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97280"/>
            <a:ext cx="8229600" cy="731520"/>
          </a:xfrm>
          <a:prstGeom prst="rect">
            <a:avLst/>
          </a:prstGeom>
          <a:noFill/>
          <a:ln/>
        </p:spPr>
        <p:txBody>
          <a:bodyPr wrap="square" rtlCol="0" anchor="t"/>
          <a:lstStyle/>
          <a:p>
            <a:pPr algn="l" indent="0" marL="0">
              <a:buNone/>
            </a:pPr>
            <a:r>
              <a:rPr lang="en-US" sz="1400" dirty="0">
                <a:solidFill>
                  <a:srgbClr val="333333"/>
                </a:solidFill>
                <a:latin typeface="Calibri Light" pitchFamily="34" charset="0"/>
                <a:ea typeface="Calibri Light" pitchFamily="34" charset="-122"/>
                <a:cs typeface="Calibri Light" pitchFamily="34" charset="-120"/>
              </a:rPr>
              <a:t>Build a user-friendly dashboard to visualize usage, costs, and security policies in one place. Dashboards make tracking easy and help teams quickly spot issues or opportunities for optimization. A good dashboard turns complex data into simple, actionable insights.</a:t>
            </a:r>
            <a:endParaRPr lang="en-US" sz="1400" dirty="0"/>
          </a:p>
        </p:txBody>
      </p:sp>
      <p:sp>
        <p:nvSpPr>
          <p:cNvPr id="6" name="Shape 4"/>
          <p:cNvSpPr/>
          <p:nvPr/>
        </p:nvSpPr>
        <p:spPr>
          <a:xfrm>
            <a:off x="457200" y="2103120"/>
            <a:ext cx="8229600" cy="548640"/>
          </a:xfrm>
          <a:prstGeom prst="rect">
            <a:avLst/>
          </a:prstGeom>
          <a:solidFill>
            <a:srgbClr val="F5F5F5"/>
          </a:solidFill>
          <a:ln/>
        </p:spPr>
      </p:sp>
      <p:sp>
        <p:nvSpPr>
          <p:cNvPr id="7" name="Text 5"/>
          <p:cNvSpPr/>
          <p:nvPr/>
        </p:nvSpPr>
        <p:spPr>
          <a:xfrm>
            <a:off x="640080" y="2240280"/>
            <a:ext cx="7863840" cy="274320"/>
          </a:xfrm>
          <a:prstGeom prst="rect">
            <a:avLst/>
          </a:prstGeom>
          <a:noFill/>
          <a:ln/>
        </p:spPr>
        <p:txBody>
          <a:bodyPr wrap="square" rtlCol="0" anchor="ctr"/>
          <a:lstStyle/>
          <a:p>
            <a:pPr indent="0" marL="0">
              <a:buNone/>
            </a:pPr>
            <a:r>
              <a:rPr lang="en-US" sz="1400" b="1" dirty="0">
                <a:solidFill>
                  <a:srgbClr val="333333"/>
                </a:solidFill>
                <a:latin typeface="Calibri Light" pitchFamily="34" charset="0"/>
                <a:ea typeface="Calibri Light" pitchFamily="34" charset="-122"/>
                <a:cs typeface="Calibri Light" pitchFamily="34" charset="-120"/>
              </a:rPr>
              <a:t>Dashboard URL: </a:t>
            </a:r>
            <a:pPr indent="0" marL="0">
              <a:buNone/>
            </a:pPr>
            <a:r>
              <a:rPr lang="en-US" sz="1400" dirty="0">
                <a:solidFill>
                  <a:srgbClr val="0066CC"/>
                </a:solidFill>
                <a:latin typeface="Calibri Light" pitchFamily="34" charset="0"/>
                <a:ea typeface="Calibri Light" pitchFamily="34" charset="-122"/>
                <a:cs typeface="Calibri Light" pitchFamily="34" charset="-120"/>
              </a:rPr>
              <a:t>Finops-Dashboard - Snowflake</a:t>
            </a:r>
            <a:endParaRPr lang="en-US" sz="1400" dirty="0"/>
          </a:p>
        </p:txBody>
      </p:sp>
      <p:sp>
        <p:nvSpPr>
          <p:cNvPr id="8" name="Text 6"/>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9" name="Text 7"/>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5</a:t>
            </a:r>
            <a:endParaRPr lang="en-US" sz="10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Key Metrics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05840"/>
            <a:ext cx="8229600" cy="640080"/>
          </a:xfrm>
          <a:prstGeom prst="rect">
            <a:avLst/>
          </a:prstGeom>
          <a:noFill/>
          <a:ln/>
        </p:spPr>
        <p:txBody>
          <a:bodyPr wrap="square" rtlCol="0" anchor="ctr"/>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This covers how to monitor Snowflake usage and control costs effectively. We'll look at key metrics like storage, warehouses, and query performance. You'll learn how to track who's consuming credits and how to optimize warehouse sizing for better cost efficiency.</a:t>
            </a:r>
            <a:endParaRPr lang="en-US" sz="1300" dirty="0"/>
          </a:p>
        </p:txBody>
      </p:sp>
      <p:sp>
        <p:nvSpPr>
          <p:cNvPr id="6" name="Shape 4"/>
          <p:cNvSpPr/>
          <p:nvPr/>
        </p:nvSpPr>
        <p:spPr>
          <a:xfrm>
            <a:off x="457200" y="1828800"/>
            <a:ext cx="1600200" cy="640080"/>
          </a:xfrm>
          <a:prstGeom prst="rect">
            <a:avLst/>
          </a:prstGeom>
          <a:solidFill>
            <a:srgbClr val="003C77"/>
          </a:solidFill>
          <a:ln/>
        </p:spPr>
      </p:sp>
      <p:sp>
        <p:nvSpPr>
          <p:cNvPr id="7" name="Text 5"/>
          <p:cNvSpPr/>
          <p:nvPr/>
        </p:nvSpPr>
        <p:spPr>
          <a:xfrm>
            <a:off x="548640" y="1920240"/>
            <a:ext cx="1417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Active Users</a:t>
            </a:r>
            <a:endParaRPr lang="en-US" sz="1200" dirty="0"/>
          </a:p>
        </p:txBody>
      </p:sp>
      <p:sp>
        <p:nvSpPr>
          <p:cNvPr id="8" name="Text 6"/>
          <p:cNvSpPr/>
          <p:nvPr/>
        </p:nvSpPr>
        <p:spPr>
          <a:xfrm>
            <a:off x="548640" y="2194560"/>
            <a:ext cx="1417320" cy="228600"/>
          </a:xfrm>
          <a:prstGeom prst="rect">
            <a:avLst/>
          </a:prstGeom>
          <a:noFill/>
          <a:ln/>
        </p:spPr>
        <p:txBody>
          <a:bodyPr wrap="square" rtlCol="0" anchor="ctr"/>
          <a:lstStyle/>
          <a:p>
            <a:pPr algn="ctr" indent="0" marL="0">
              <a:buNone/>
            </a:pPr>
            <a:r>
              <a:rPr lang="en-US" sz="1100" dirty="0">
                <a:solidFill>
                  <a:srgbClr val="FF9500"/>
                </a:solidFill>
                <a:latin typeface="Calibri Light" pitchFamily="34" charset="0"/>
                <a:ea typeface="Calibri Light" pitchFamily="34" charset="-122"/>
                <a:cs typeface="Calibri Light" pitchFamily="34" charset="-120"/>
              </a:rPr>
              <a:t>Count</a:t>
            </a:r>
            <a:endParaRPr lang="en-US" sz="1100" dirty="0"/>
          </a:p>
        </p:txBody>
      </p:sp>
      <p:sp>
        <p:nvSpPr>
          <p:cNvPr id="9" name="Shape 7"/>
          <p:cNvSpPr/>
          <p:nvPr/>
        </p:nvSpPr>
        <p:spPr>
          <a:xfrm>
            <a:off x="2194560" y="1828800"/>
            <a:ext cx="1600200" cy="640080"/>
          </a:xfrm>
          <a:prstGeom prst="rect">
            <a:avLst/>
          </a:prstGeom>
          <a:solidFill>
            <a:srgbClr val="003C77"/>
          </a:solidFill>
          <a:ln/>
        </p:spPr>
      </p:sp>
      <p:sp>
        <p:nvSpPr>
          <p:cNvPr id="10" name="Text 8"/>
          <p:cNvSpPr/>
          <p:nvPr/>
        </p:nvSpPr>
        <p:spPr>
          <a:xfrm>
            <a:off x="2286000" y="1920240"/>
            <a:ext cx="1417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Databases</a:t>
            </a:r>
            <a:endParaRPr lang="en-US" sz="1200" dirty="0"/>
          </a:p>
        </p:txBody>
      </p:sp>
      <p:sp>
        <p:nvSpPr>
          <p:cNvPr id="11" name="Text 9"/>
          <p:cNvSpPr/>
          <p:nvPr/>
        </p:nvSpPr>
        <p:spPr>
          <a:xfrm>
            <a:off x="2286000" y="2194560"/>
            <a:ext cx="1417320" cy="228600"/>
          </a:xfrm>
          <a:prstGeom prst="rect">
            <a:avLst/>
          </a:prstGeom>
          <a:noFill/>
          <a:ln/>
        </p:spPr>
        <p:txBody>
          <a:bodyPr wrap="square" rtlCol="0" anchor="ctr"/>
          <a:lstStyle/>
          <a:p>
            <a:pPr algn="ctr" indent="0" marL="0">
              <a:buNone/>
            </a:pPr>
            <a:r>
              <a:rPr lang="en-US" sz="1100" dirty="0">
                <a:solidFill>
                  <a:srgbClr val="FF9500"/>
                </a:solidFill>
                <a:latin typeface="Calibri Light" pitchFamily="34" charset="0"/>
                <a:ea typeface="Calibri Light" pitchFamily="34" charset="-122"/>
                <a:cs typeface="Calibri Light" pitchFamily="34" charset="-120"/>
              </a:rPr>
              <a:t>Count</a:t>
            </a:r>
            <a:endParaRPr lang="en-US" sz="1100" dirty="0"/>
          </a:p>
        </p:txBody>
      </p:sp>
      <p:sp>
        <p:nvSpPr>
          <p:cNvPr id="12" name="Shape 10"/>
          <p:cNvSpPr/>
          <p:nvPr/>
        </p:nvSpPr>
        <p:spPr>
          <a:xfrm>
            <a:off x="3931920" y="1828800"/>
            <a:ext cx="1600200" cy="640080"/>
          </a:xfrm>
          <a:prstGeom prst="rect">
            <a:avLst/>
          </a:prstGeom>
          <a:solidFill>
            <a:srgbClr val="003C77"/>
          </a:solidFill>
          <a:ln/>
        </p:spPr>
      </p:sp>
      <p:sp>
        <p:nvSpPr>
          <p:cNvPr id="13" name="Text 11"/>
          <p:cNvSpPr/>
          <p:nvPr/>
        </p:nvSpPr>
        <p:spPr>
          <a:xfrm>
            <a:off x="4023360" y="1920240"/>
            <a:ext cx="1417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Queries Executed</a:t>
            </a:r>
            <a:endParaRPr lang="en-US" sz="1200" dirty="0"/>
          </a:p>
        </p:txBody>
      </p:sp>
      <p:sp>
        <p:nvSpPr>
          <p:cNvPr id="14" name="Text 12"/>
          <p:cNvSpPr/>
          <p:nvPr/>
        </p:nvSpPr>
        <p:spPr>
          <a:xfrm>
            <a:off x="4023360" y="2194560"/>
            <a:ext cx="1417320" cy="228600"/>
          </a:xfrm>
          <a:prstGeom prst="rect">
            <a:avLst/>
          </a:prstGeom>
          <a:noFill/>
          <a:ln/>
        </p:spPr>
        <p:txBody>
          <a:bodyPr wrap="square" rtlCol="0" anchor="ctr"/>
          <a:lstStyle/>
          <a:p>
            <a:pPr algn="ctr" indent="0" marL="0">
              <a:buNone/>
            </a:pPr>
            <a:r>
              <a:rPr lang="en-US" sz="1100" dirty="0">
                <a:solidFill>
                  <a:srgbClr val="FF9500"/>
                </a:solidFill>
                <a:latin typeface="Calibri Light" pitchFamily="34" charset="0"/>
                <a:ea typeface="Calibri Light" pitchFamily="34" charset="-122"/>
                <a:cs typeface="Calibri Light" pitchFamily="34" charset="-120"/>
              </a:rPr>
              <a:t>Total</a:t>
            </a:r>
            <a:endParaRPr lang="en-US" sz="1100" dirty="0"/>
          </a:p>
        </p:txBody>
      </p:sp>
      <p:sp>
        <p:nvSpPr>
          <p:cNvPr id="15" name="Shape 13"/>
          <p:cNvSpPr/>
          <p:nvPr/>
        </p:nvSpPr>
        <p:spPr>
          <a:xfrm>
            <a:off x="457200" y="2651760"/>
            <a:ext cx="1600200" cy="640080"/>
          </a:xfrm>
          <a:prstGeom prst="rect">
            <a:avLst/>
          </a:prstGeom>
          <a:solidFill>
            <a:srgbClr val="003C77"/>
          </a:solidFill>
          <a:ln/>
        </p:spPr>
      </p:sp>
      <p:sp>
        <p:nvSpPr>
          <p:cNvPr id="16" name="Text 14"/>
          <p:cNvSpPr/>
          <p:nvPr/>
        </p:nvSpPr>
        <p:spPr>
          <a:xfrm>
            <a:off x="548640" y="2743200"/>
            <a:ext cx="1417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Warehouses</a:t>
            </a:r>
            <a:endParaRPr lang="en-US" sz="1200" dirty="0"/>
          </a:p>
        </p:txBody>
      </p:sp>
      <p:sp>
        <p:nvSpPr>
          <p:cNvPr id="17" name="Text 15"/>
          <p:cNvSpPr/>
          <p:nvPr/>
        </p:nvSpPr>
        <p:spPr>
          <a:xfrm>
            <a:off x="548640" y="3017520"/>
            <a:ext cx="1417320" cy="228600"/>
          </a:xfrm>
          <a:prstGeom prst="rect">
            <a:avLst/>
          </a:prstGeom>
          <a:noFill/>
          <a:ln/>
        </p:spPr>
        <p:txBody>
          <a:bodyPr wrap="square" rtlCol="0" anchor="ctr"/>
          <a:lstStyle/>
          <a:p>
            <a:pPr algn="ctr" indent="0" marL="0">
              <a:buNone/>
            </a:pPr>
            <a:r>
              <a:rPr lang="en-US" sz="1100" dirty="0">
                <a:solidFill>
                  <a:srgbClr val="FF9500"/>
                </a:solidFill>
                <a:latin typeface="Calibri Light" pitchFamily="34" charset="0"/>
                <a:ea typeface="Calibri Light" pitchFamily="34" charset="-122"/>
                <a:cs typeface="Calibri Light" pitchFamily="34" charset="-120"/>
              </a:rPr>
              <a:t>Count</a:t>
            </a:r>
            <a:endParaRPr lang="en-US" sz="1100" dirty="0"/>
          </a:p>
        </p:txBody>
      </p:sp>
      <p:sp>
        <p:nvSpPr>
          <p:cNvPr id="18" name="Shape 16"/>
          <p:cNvSpPr/>
          <p:nvPr/>
        </p:nvSpPr>
        <p:spPr>
          <a:xfrm>
            <a:off x="2194560" y="2651760"/>
            <a:ext cx="1600200" cy="640080"/>
          </a:xfrm>
          <a:prstGeom prst="rect">
            <a:avLst/>
          </a:prstGeom>
          <a:solidFill>
            <a:srgbClr val="003C77"/>
          </a:solidFill>
          <a:ln/>
        </p:spPr>
      </p:sp>
      <p:sp>
        <p:nvSpPr>
          <p:cNvPr id="19" name="Text 17"/>
          <p:cNvSpPr/>
          <p:nvPr/>
        </p:nvSpPr>
        <p:spPr>
          <a:xfrm>
            <a:off x="2286000" y="2743200"/>
            <a:ext cx="141732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Storage</a:t>
            </a:r>
            <a:endParaRPr lang="en-US" sz="1200" dirty="0"/>
          </a:p>
        </p:txBody>
      </p:sp>
      <p:sp>
        <p:nvSpPr>
          <p:cNvPr id="20" name="Text 18"/>
          <p:cNvSpPr/>
          <p:nvPr/>
        </p:nvSpPr>
        <p:spPr>
          <a:xfrm>
            <a:off x="2286000" y="3017520"/>
            <a:ext cx="1417320" cy="228600"/>
          </a:xfrm>
          <a:prstGeom prst="rect">
            <a:avLst/>
          </a:prstGeom>
          <a:noFill/>
          <a:ln/>
        </p:spPr>
        <p:txBody>
          <a:bodyPr wrap="square" rtlCol="0" anchor="ctr"/>
          <a:lstStyle/>
          <a:p>
            <a:pPr algn="ctr" indent="0" marL="0">
              <a:buNone/>
            </a:pPr>
            <a:r>
              <a:rPr lang="en-US" sz="1100" dirty="0">
                <a:solidFill>
                  <a:srgbClr val="FF9500"/>
                </a:solidFill>
                <a:latin typeface="Calibri Light" pitchFamily="34" charset="0"/>
                <a:ea typeface="Calibri Light" pitchFamily="34" charset="-122"/>
                <a:cs typeface="Calibri Light" pitchFamily="34" charset="-120"/>
              </a:rPr>
              <a:t>GB</a:t>
            </a:r>
            <a:endParaRPr lang="en-US" sz="1100" dirty="0"/>
          </a:p>
        </p:txBody>
      </p:sp>
      <p:sp>
        <p:nvSpPr>
          <p:cNvPr id="21" name="Text 19"/>
          <p:cNvSpPr/>
          <p:nvPr/>
        </p:nvSpPr>
        <p:spPr>
          <a:xfrm>
            <a:off x="457200" y="347472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Monitoring Capabilities</a:t>
            </a:r>
            <a:endParaRPr lang="en-US" sz="1600" dirty="0"/>
          </a:p>
        </p:txBody>
      </p:sp>
      <p:sp>
        <p:nvSpPr>
          <p:cNvPr id="22" name="Shape 20"/>
          <p:cNvSpPr/>
          <p:nvPr/>
        </p:nvSpPr>
        <p:spPr>
          <a:xfrm>
            <a:off x="457200" y="3776472"/>
            <a:ext cx="109728" cy="109728"/>
          </a:xfrm>
          <a:prstGeom prst="ellipse">
            <a:avLst/>
          </a:prstGeom>
          <a:solidFill>
            <a:srgbClr val="FF9500"/>
          </a:solidFill>
          <a:ln/>
        </p:spPr>
      </p:sp>
      <p:sp>
        <p:nvSpPr>
          <p:cNvPr id="23" name="Text 21"/>
          <p:cNvSpPr/>
          <p:nvPr/>
        </p:nvSpPr>
        <p:spPr>
          <a:xfrm>
            <a:off x="640080" y="3794760"/>
            <a:ext cx="80467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Track storage consumption across all databases and schemas</a:t>
            </a:r>
            <a:endParaRPr lang="en-US" sz="1100" dirty="0"/>
          </a:p>
        </p:txBody>
      </p:sp>
      <p:sp>
        <p:nvSpPr>
          <p:cNvPr id="24" name="Shape 22"/>
          <p:cNvSpPr/>
          <p:nvPr/>
        </p:nvSpPr>
        <p:spPr>
          <a:xfrm>
            <a:off x="457200" y="4023360"/>
            <a:ext cx="109728" cy="109728"/>
          </a:xfrm>
          <a:prstGeom prst="ellipse">
            <a:avLst/>
          </a:prstGeom>
          <a:solidFill>
            <a:srgbClr val="FF9500"/>
          </a:solidFill>
          <a:ln/>
        </p:spPr>
      </p:sp>
      <p:sp>
        <p:nvSpPr>
          <p:cNvPr id="25" name="Text 23"/>
          <p:cNvSpPr/>
          <p:nvPr/>
        </p:nvSpPr>
        <p:spPr>
          <a:xfrm>
            <a:off x="640080" y="4041648"/>
            <a:ext cx="80467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Monitor warehouse utilization and identify idle resources</a:t>
            </a:r>
            <a:endParaRPr lang="en-US" sz="1100" dirty="0"/>
          </a:p>
        </p:txBody>
      </p:sp>
      <p:sp>
        <p:nvSpPr>
          <p:cNvPr id="26" name="Shape 24"/>
          <p:cNvSpPr/>
          <p:nvPr/>
        </p:nvSpPr>
        <p:spPr>
          <a:xfrm>
            <a:off x="457200" y="4270248"/>
            <a:ext cx="109728" cy="109728"/>
          </a:xfrm>
          <a:prstGeom prst="ellipse">
            <a:avLst/>
          </a:prstGeom>
          <a:solidFill>
            <a:srgbClr val="FF9500"/>
          </a:solidFill>
          <a:ln/>
        </p:spPr>
      </p:sp>
      <p:sp>
        <p:nvSpPr>
          <p:cNvPr id="27" name="Text 25"/>
          <p:cNvSpPr/>
          <p:nvPr/>
        </p:nvSpPr>
        <p:spPr>
          <a:xfrm>
            <a:off x="640080" y="4288536"/>
            <a:ext cx="80467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Analyze user activity patterns and query volumes</a:t>
            </a:r>
            <a:endParaRPr lang="en-US" sz="1100" dirty="0"/>
          </a:p>
        </p:txBody>
      </p:sp>
      <p:sp>
        <p:nvSpPr>
          <p:cNvPr id="28" name="Shape 26"/>
          <p:cNvSpPr/>
          <p:nvPr/>
        </p:nvSpPr>
        <p:spPr>
          <a:xfrm>
            <a:off x="457200" y="4517136"/>
            <a:ext cx="109728" cy="109728"/>
          </a:xfrm>
          <a:prstGeom prst="ellipse">
            <a:avLst/>
          </a:prstGeom>
          <a:solidFill>
            <a:srgbClr val="FF9500"/>
          </a:solidFill>
          <a:ln/>
        </p:spPr>
      </p:sp>
      <p:sp>
        <p:nvSpPr>
          <p:cNvPr id="29" name="Text 27"/>
          <p:cNvSpPr/>
          <p:nvPr/>
        </p:nvSpPr>
        <p:spPr>
          <a:xfrm>
            <a:off x="640080" y="4535424"/>
            <a:ext cx="80467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Review resource allocation and capacity planning metrics</a:t>
            </a:r>
            <a:endParaRPr lang="en-US" sz="1100" dirty="0"/>
          </a:p>
        </p:txBody>
      </p:sp>
      <p:sp>
        <p:nvSpPr>
          <p:cNvPr id="30" name="Shape 28"/>
          <p:cNvSpPr/>
          <p:nvPr/>
        </p:nvSpPr>
        <p:spPr>
          <a:xfrm>
            <a:off x="457200" y="4764024"/>
            <a:ext cx="109728" cy="109728"/>
          </a:xfrm>
          <a:prstGeom prst="ellipse">
            <a:avLst/>
          </a:prstGeom>
          <a:solidFill>
            <a:srgbClr val="FF9500"/>
          </a:solidFill>
          <a:ln/>
        </p:spPr>
      </p:sp>
      <p:sp>
        <p:nvSpPr>
          <p:cNvPr id="31" name="Text 29"/>
          <p:cNvSpPr/>
          <p:nvPr/>
        </p:nvSpPr>
        <p:spPr>
          <a:xfrm>
            <a:off x="640080" y="4782312"/>
            <a:ext cx="80467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Identify cost optimization opportunities in real-time</a:t>
            </a:r>
            <a:endParaRPr lang="en-US" sz="1100" dirty="0"/>
          </a:p>
        </p:txBody>
      </p:sp>
      <p:sp>
        <p:nvSpPr>
          <p:cNvPr id="32" name="Text 30"/>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33" name="Text 31"/>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6</a:t>
            </a:r>
            <a:endParaRPr lang="en-US" sz="10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Dashboard Data Sources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66666"/>
                </a:solidFill>
                <a:latin typeface="Calibri Light" pitchFamily="34" charset="0"/>
                <a:ea typeface="Calibri Light" pitchFamily="34" charset="-122"/>
                <a:cs typeface="Calibri Light" pitchFamily="34" charset="-120"/>
              </a:rPr>
              <a:t>Where the data comes from and how it flows into the dashboard</a:t>
            </a:r>
            <a:endParaRPr lang="en-US" sz="1400" dirty="0"/>
          </a:p>
        </p:txBody>
      </p:sp>
      <p:sp>
        <p:nvSpPr>
          <p:cNvPr id="6" name="Shape 4"/>
          <p:cNvSpPr/>
          <p:nvPr/>
        </p:nvSpPr>
        <p:spPr>
          <a:xfrm>
            <a:off x="457200" y="1280160"/>
            <a:ext cx="2560320" cy="2926080"/>
          </a:xfrm>
          <a:prstGeom prst="rect">
            <a:avLst/>
          </a:prstGeom>
          <a:solidFill>
            <a:srgbClr val="F5F5F5"/>
          </a:solidFill>
          <a:ln w="12700">
            <a:solidFill>
              <a:srgbClr val="0066CC"/>
            </a:solidFill>
            <a:prstDash val="solid"/>
          </a:ln>
        </p:spPr>
      </p:sp>
      <p:sp>
        <p:nvSpPr>
          <p:cNvPr id="7" name="Text 5"/>
          <p:cNvSpPr/>
          <p:nvPr/>
        </p:nvSpPr>
        <p:spPr>
          <a:xfrm>
            <a:off x="548640" y="1371600"/>
            <a:ext cx="237744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Source Systems</a:t>
            </a:r>
            <a:endParaRPr lang="en-US" sz="1600" dirty="0"/>
          </a:p>
        </p:txBody>
      </p:sp>
      <p:sp>
        <p:nvSpPr>
          <p:cNvPr id="8" name="Text 6"/>
          <p:cNvSpPr/>
          <p:nvPr/>
        </p:nvSpPr>
        <p:spPr>
          <a:xfrm>
            <a:off x="640080" y="1737360"/>
            <a:ext cx="2194560" cy="2286000"/>
          </a:xfrm>
          <a:prstGeom prst="rect">
            <a:avLst/>
          </a:prstGeom>
          <a:noFill/>
          <a:ln/>
        </p:spPr>
        <p:txBody>
          <a:bodyPr wrap="square" rtlCol="0" anchor="t"/>
          <a:lstStyle/>
          <a:p>
            <a:pPr indent="0" marL="0">
              <a:buNone/>
            </a:pPr>
            <a:r>
              <a:rPr lang="en-US" sz="900" b="1" dirty="0">
                <a:solidFill>
                  <a:srgbClr val="333333"/>
                </a:solidFill>
                <a:latin typeface="Calibri Light" pitchFamily="34" charset="0"/>
                <a:ea typeface="Calibri Light" pitchFamily="34" charset="-122"/>
                <a:cs typeface="Calibri Light" pitchFamily="34" charset="-120"/>
              </a:rPr>
              <a:t>Snowflake Account Usage Views: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QUERY_HISTORY</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WAREHOUSE_METERING_HISTORY</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DATABASE_STORAGE_USAGE_HISTORY</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ACCESS_HISTORY</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WAREHOUSE_EVENTS_HISTORY</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TABLE_STORAGE_METRICS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GRANTS_TO_ROLES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GRANTS_TO_USERS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USERS, TABLES, COLUMNS</a:t>
            </a:r>
            <a:endParaRPr lang="en-US" sz="900" dirty="0"/>
          </a:p>
        </p:txBody>
      </p:sp>
      <p:sp>
        <p:nvSpPr>
          <p:cNvPr id="9" name="Shape 7"/>
          <p:cNvSpPr/>
          <p:nvPr/>
        </p:nvSpPr>
        <p:spPr>
          <a:xfrm>
            <a:off x="3108960" y="2560320"/>
            <a:ext cx="457200" cy="274320"/>
          </a:xfrm>
          <a:prstGeom prst="rightArrow">
            <a:avLst/>
          </a:prstGeom>
          <a:solidFill>
            <a:srgbClr val="0066CC"/>
          </a:solidFill>
          <a:ln/>
        </p:spPr>
      </p:sp>
      <p:sp>
        <p:nvSpPr>
          <p:cNvPr id="10" name="Shape 8"/>
          <p:cNvSpPr/>
          <p:nvPr/>
        </p:nvSpPr>
        <p:spPr>
          <a:xfrm>
            <a:off x="3657600" y="1280160"/>
            <a:ext cx="2560320" cy="2926080"/>
          </a:xfrm>
          <a:prstGeom prst="rect">
            <a:avLst/>
          </a:prstGeom>
          <a:solidFill>
            <a:srgbClr val="F5F5F5"/>
          </a:solidFill>
          <a:ln w="12700">
            <a:solidFill>
              <a:srgbClr val="0066CC"/>
            </a:solidFill>
            <a:prstDash val="solid"/>
          </a:ln>
        </p:spPr>
      </p:sp>
      <p:sp>
        <p:nvSpPr>
          <p:cNvPr id="11" name="Text 9"/>
          <p:cNvSpPr/>
          <p:nvPr/>
        </p:nvSpPr>
        <p:spPr>
          <a:xfrm>
            <a:off x="3749040" y="1371600"/>
            <a:ext cx="237744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Processing Layer</a:t>
            </a:r>
            <a:endParaRPr lang="en-US" sz="1600" dirty="0"/>
          </a:p>
        </p:txBody>
      </p:sp>
      <p:sp>
        <p:nvSpPr>
          <p:cNvPr id="12" name="Text 10"/>
          <p:cNvSpPr/>
          <p:nvPr/>
        </p:nvSpPr>
        <p:spPr>
          <a:xfrm>
            <a:off x="3840480" y="1737360"/>
            <a:ext cx="2194560" cy="2286000"/>
          </a:xfrm>
          <a:prstGeom prst="rect">
            <a:avLst/>
          </a:prstGeom>
          <a:noFill/>
          <a:ln/>
        </p:spPr>
        <p:txBody>
          <a:bodyPr wrap="square" rtlCol="0" anchor="t"/>
          <a:lstStyle/>
          <a:p>
            <a:pPr indent="0" marL="0">
              <a:buNone/>
            </a:pPr>
            <a:r>
              <a:rPr lang="en-US" sz="900" b="1" dirty="0">
                <a:solidFill>
                  <a:srgbClr val="333333"/>
                </a:solidFill>
                <a:latin typeface="Calibri Light" pitchFamily="34" charset="0"/>
                <a:ea typeface="Calibri Light" pitchFamily="34" charset="-122"/>
                <a:cs typeface="Calibri Light" pitchFamily="34" charset="-120"/>
              </a:rPr>
              <a:t>DBT Models: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Transform raw metadata</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Aggregate credit consumption</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Calculate storage metrics</a:t>
            </a:r>
            <a:endParaRPr lang="en-US" sz="900" dirty="0"/>
          </a:p>
          <a:p>
            <a:pPr indent="0" marL="0">
              <a:buNone/>
            </a:pPr>
            <a:r>
              <a:rPr lang="en-US" sz="900" b="1" dirty="0">
                <a:solidFill>
                  <a:srgbClr val="333333"/>
                </a:solidFill>
                <a:latin typeface="Calibri Light" pitchFamily="34" charset="0"/>
                <a:ea typeface="Calibri Light" pitchFamily="34" charset="-122"/>
                <a:cs typeface="Calibri Light" pitchFamily="34" charset="-120"/>
              </a:rPr>
              <a:t>Airflow DAGs: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Scheduled execution of DBT models</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 Daily/hourly refresh cycles</a:t>
            </a:r>
            <a:endParaRPr lang="en-US" sz="900" dirty="0"/>
          </a:p>
          <a:p>
            <a:pPr indent="0" marL="0">
              <a:buNone/>
            </a:pPr>
            <a:r>
              <a:rPr lang="en-US" sz="900" b="1" dirty="0">
                <a:solidFill>
                  <a:srgbClr val="333333"/>
                </a:solidFill>
                <a:latin typeface="Calibri Light" pitchFamily="34" charset="0"/>
                <a:ea typeface="Calibri Light" pitchFamily="34" charset="-122"/>
                <a:cs typeface="Calibri Light" pitchFamily="34" charset="-120"/>
              </a:rPr>
              <a:t>Target Database:</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PLATFORM__AUDIT__PREPROD</a:t>
            </a:r>
            <a:endParaRPr lang="en-US" sz="9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Schema: FINOPS_CURATED</a:t>
            </a:r>
            <a:endParaRPr lang="en-US" sz="900" dirty="0"/>
          </a:p>
        </p:txBody>
      </p:sp>
      <p:sp>
        <p:nvSpPr>
          <p:cNvPr id="13" name="Shape 11"/>
          <p:cNvSpPr/>
          <p:nvPr/>
        </p:nvSpPr>
        <p:spPr>
          <a:xfrm>
            <a:off x="6309360" y="2560320"/>
            <a:ext cx="457200" cy="274320"/>
          </a:xfrm>
          <a:prstGeom prst="rightArrow">
            <a:avLst/>
          </a:prstGeom>
          <a:solidFill>
            <a:srgbClr val="0066CC"/>
          </a:solidFill>
          <a:ln/>
        </p:spPr>
      </p:sp>
      <p:sp>
        <p:nvSpPr>
          <p:cNvPr id="14" name="Shape 12"/>
          <p:cNvSpPr/>
          <p:nvPr/>
        </p:nvSpPr>
        <p:spPr>
          <a:xfrm>
            <a:off x="6858000" y="1280160"/>
            <a:ext cx="1828800" cy="2926080"/>
          </a:xfrm>
          <a:prstGeom prst="rect">
            <a:avLst/>
          </a:prstGeom>
          <a:solidFill>
            <a:srgbClr val="F5F5F5"/>
          </a:solidFill>
          <a:ln w="12700">
            <a:solidFill>
              <a:srgbClr val="0066CC"/>
            </a:solidFill>
            <a:prstDash val="solid"/>
          </a:ln>
        </p:spPr>
      </p:sp>
      <p:sp>
        <p:nvSpPr>
          <p:cNvPr id="15" name="Text 13"/>
          <p:cNvSpPr/>
          <p:nvPr/>
        </p:nvSpPr>
        <p:spPr>
          <a:xfrm>
            <a:off x="6949440" y="1371600"/>
            <a:ext cx="1645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Dashboard Layer</a:t>
            </a:r>
            <a:endParaRPr lang="en-US" sz="1600" dirty="0"/>
          </a:p>
        </p:txBody>
      </p:sp>
      <p:sp>
        <p:nvSpPr>
          <p:cNvPr id="16" name="Text 14"/>
          <p:cNvSpPr/>
          <p:nvPr/>
        </p:nvSpPr>
        <p:spPr>
          <a:xfrm>
            <a:off x="6995160" y="1737360"/>
            <a:ext cx="1554480" cy="2286000"/>
          </a:xfrm>
          <a:prstGeom prst="rect">
            <a:avLst/>
          </a:prstGeom>
          <a:noFill/>
          <a:ln/>
        </p:spPr>
        <p:txBody>
          <a:bodyPr wrap="square" rtlCol="0" anchor="t"/>
          <a:lstStyle/>
          <a:p>
            <a:pPr indent="0" marL="0">
              <a:buNone/>
            </a:pPr>
            <a:r>
              <a:rPr lang="en-US" sz="800" b="1" dirty="0">
                <a:solidFill>
                  <a:srgbClr val="333333"/>
                </a:solidFill>
                <a:latin typeface="Calibri Light" pitchFamily="34" charset="0"/>
                <a:ea typeface="Calibri Light" pitchFamily="34" charset="-122"/>
                <a:cs typeface="Calibri Light" pitchFamily="34" charset="-120"/>
              </a:rPr>
              <a:t>Curated Tables:</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CREDIT_USAGE</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STORAGE_USAGE</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WAREHOUSE_RECOMMENDER</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BATCH_JOB_OPTIMIZATION</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USER_ACCESS_BY_TAG</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QUERY_COST_RATIO</a:t>
            </a:r>
            <a:endParaRPr lang="en-US" sz="800" dirty="0"/>
          </a:p>
          <a:p>
            <a:pPr indent="0" marL="0">
              <a:buNone/>
            </a:pPr>
            <a:r>
              <a:rPr lang="en-US" sz="800" b="1" dirty="0">
                <a:solidFill>
                  <a:srgbClr val="333333"/>
                </a:solidFill>
                <a:latin typeface="Calibri Light" pitchFamily="34" charset="0"/>
                <a:ea typeface="Calibri Light" pitchFamily="34" charset="-122"/>
                <a:cs typeface="Calibri Light" pitchFamily="34" charset="-120"/>
              </a:rPr>
              <a:t>Snowflake Dashboard:</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Interactive visualizations</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Real-time metrics</a:t>
            </a:r>
            <a:endParaRPr lang="en-US" sz="800" dirty="0"/>
          </a:p>
          <a:p>
            <a:pPr indent="0" marL="0">
              <a:buNone/>
            </a:pPr>
            <a:r>
              <a:rPr lang="en-US" sz="800" dirty="0">
                <a:solidFill>
                  <a:srgbClr val="333333"/>
                </a:solidFill>
                <a:latin typeface="Calibri Light" pitchFamily="34" charset="0"/>
                <a:ea typeface="Calibri Light" pitchFamily="34" charset="-122"/>
                <a:cs typeface="Calibri Light" pitchFamily="34" charset="-120"/>
              </a:rPr>
              <a:t>• Drill-down capabilities</a:t>
            </a:r>
            <a:endParaRPr lang="en-US" sz="800" dirty="0"/>
          </a:p>
        </p:txBody>
      </p:sp>
      <p:sp>
        <p:nvSpPr>
          <p:cNvPr id="17" name="Text 15"/>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18" name="Text 16"/>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7</a:t>
            </a:r>
            <a:endParaRPr lang="en-US" sz="10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FinOps Details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97280"/>
            <a:ext cx="3931920" cy="32004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Database Structure</a:t>
            </a:r>
            <a:endParaRPr lang="en-US" sz="1800" dirty="0"/>
          </a:p>
        </p:txBody>
      </p:sp>
      <p:sp>
        <p:nvSpPr>
          <p:cNvPr id="6" name="Text 4"/>
          <p:cNvSpPr/>
          <p:nvPr/>
        </p:nvSpPr>
        <p:spPr>
          <a:xfrm>
            <a:off x="457200" y="1508760"/>
            <a:ext cx="3931920" cy="2286000"/>
          </a:xfrm>
          <a:prstGeom prst="rect">
            <a:avLst/>
          </a:prstGeom>
          <a:noFill/>
          <a:ln/>
        </p:spPr>
        <p:txBody>
          <a:bodyPr wrap="square" rtlCol="0" anchor="t"/>
          <a:lstStyle/>
          <a:p>
            <a:pPr indent="0" marL="0">
              <a:buNone/>
            </a:pPr>
            <a:r>
              <a:rPr lang="en-US" sz="1100" b="1" dirty="0">
                <a:solidFill>
                  <a:srgbClr val="333333"/>
                </a:solidFill>
                <a:latin typeface="Calibri Light" pitchFamily="34" charset="0"/>
                <a:ea typeface="Calibri Light" pitchFamily="34" charset="-122"/>
                <a:cs typeface="Calibri Light" pitchFamily="34" charset="-120"/>
              </a:rPr>
              <a:t>Database:</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PLATFORM__AUDIT__PREPROD</a:t>
            </a:r>
            <a:endParaRPr lang="en-US" sz="1100" dirty="0"/>
          </a:p>
          <a:p>
            <a:pPr indent="0" marL="0">
              <a:buNone/>
            </a:pPr>
            <a:r>
              <a:rPr lang="en-US" sz="1100" b="1" dirty="0">
                <a:solidFill>
                  <a:srgbClr val="333333"/>
                </a:solidFill>
                <a:latin typeface="Calibri Light" pitchFamily="34" charset="0"/>
                <a:ea typeface="Calibri Light" pitchFamily="34" charset="-122"/>
                <a:cs typeface="Calibri Light" pitchFamily="34" charset="-120"/>
              </a:rPr>
              <a:t>Schemas: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FINOPS_CURATED</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Credit usage tracking</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Storage usage metrics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Warehouse recommendations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SNOWFLAKE</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Audit metadata</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Query history</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 Access logs</a:t>
            </a:r>
            <a:endParaRPr lang="en-US" sz="1100" dirty="0"/>
          </a:p>
        </p:txBody>
      </p:sp>
      <p:sp>
        <p:nvSpPr>
          <p:cNvPr id="7" name="Text 5"/>
          <p:cNvSpPr/>
          <p:nvPr/>
        </p:nvSpPr>
        <p:spPr>
          <a:xfrm>
            <a:off x="4754880" y="1097280"/>
            <a:ext cx="3931920" cy="32004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Key Components</a:t>
            </a:r>
            <a:endParaRPr lang="en-US" sz="1800" dirty="0"/>
          </a:p>
        </p:txBody>
      </p:sp>
      <p:sp>
        <p:nvSpPr>
          <p:cNvPr id="8" name="Shape 6"/>
          <p:cNvSpPr/>
          <p:nvPr/>
        </p:nvSpPr>
        <p:spPr>
          <a:xfrm>
            <a:off x="4754880" y="1508760"/>
            <a:ext cx="45720" cy="457200"/>
          </a:xfrm>
          <a:prstGeom prst="rect">
            <a:avLst/>
          </a:prstGeom>
          <a:solidFill>
            <a:srgbClr val="FF9500"/>
          </a:solidFill>
          <a:ln/>
        </p:spPr>
      </p:sp>
      <p:sp>
        <p:nvSpPr>
          <p:cNvPr id="9" name="Text 7"/>
          <p:cNvSpPr/>
          <p:nvPr/>
        </p:nvSpPr>
        <p:spPr>
          <a:xfrm>
            <a:off x="4892040" y="1508760"/>
            <a:ext cx="3794760" cy="228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Warehouses &amp; Resource Monitors</a:t>
            </a:r>
            <a:endParaRPr lang="en-US" sz="1200" dirty="0"/>
          </a:p>
        </p:txBody>
      </p:sp>
      <p:sp>
        <p:nvSpPr>
          <p:cNvPr id="10" name="Text 8"/>
          <p:cNvSpPr/>
          <p:nvPr/>
        </p:nvSpPr>
        <p:spPr>
          <a:xfrm>
            <a:off x="4892040" y="1737360"/>
            <a:ext cx="3794760" cy="36576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Zone-specific warehouses with credit thresholds</a:t>
            </a:r>
            <a:endParaRPr lang="en-US" sz="1000" dirty="0"/>
          </a:p>
        </p:txBody>
      </p:sp>
      <p:sp>
        <p:nvSpPr>
          <p:cNvPr id="11" name="Shape 9"/>
          <p:cNvSpPr/>
          <p:nvPr/>
        </p:nvSpPr>
        <p:spPr>
          <a:xfrm>
            <a:off x="4754880" y="2148840"/>
            <a:ext cx="45720" cy="457200"/>
          </a:xfrm>
          <a:prstGeom prst="rect">
            <a:avLst/>
          </a:prstGeom>
          <a:solidFill>
            <a:srgbClr val="FF9500"/>
          </a:solidFill>
          <a:ln/>
        </p:spPr>
      </p:sp>
      <p:sp>
        <p:nvSpPr>
          <p:cNvPr id="12" name="Text 10"/>
          <p:cNvSpPr/>
          <p:nvPr/>
        </p:nvSpPr>
        <p:spPr>
          <a:xfrm>
            <a:off x="4892040" y="2148840"/>
            <a:ext cx="3794760" cy="228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Row Access Policies</a:t>
            </a:r>
            <a:endParaRPr lang="en-US" sz="1200" dirty="0"/>
          </a:p>
        </p:txBody>
      </p:sp>
      <p:sp>
        <p:nvSpPr>
          <p:cNvPr id="13" name="Text 11"/>
          <p:cNvSpPr/>
          <p:nvPr/>
        </p:nvSpPr>
        <p:spPr>
          <a:xfrm>
            <a:off x="4892040" y="2377440"/>
            <a:ext cx="3794760" cy="36576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Fine-grained access control at row level</a:t>
            </a:r>
            <a:endParaRPr lang="en-US" sz="1000" dirty="0"/>
          </a:p>
        </p:txBody>
      </p:sp>
      <p:sp>
        <p:nvSpPr>
          <p:cNvPr id="14" name="Shape 12"/>
          <p:cNvSpPr/>
          <p:nvPr/>
        </p:nvSpPr>
        <p:spPr>
          <a:xfrm>
            <a:off x="4754880" y="2788920"/>
            <a:ext cx="45720" cy="457200"/>
          </a:xfrm>
          <a:prstGeom prst="rect">
            <a:avLst/>
          </a:prstGeom>
          <a:solidFill>
            <a:srgbClr val="FF9500"/>
          </a:solidFill>
          <a:ln/>
        </p:spPr>
      </p:sp>
      <p:sp>
        <p:nvSpPr>
          <p:cNvPr id="15" name="Text 13"/>
          <p:cNvSpPr/>
          <p:nvPr/>
        </p:nvSpPr>
        <p:spPr>
          <a:xfrm>
            <a:off x="4892040" y="2788920"/>
            <a:ext cx="3794760" cy="228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Audit &amp; Logging</a:t>
            </a:r>
            <a:endParaRPr lang="en-US" sz="1200" dirty="0"/>
          </a:p>
        </p:txBody>
      </p:sp>
      <p:sp>
        <p:nvSpPr>
          <p:cNvPr id="16" name="Text 14"/>
          <p:cNvSpPr/>
          <p:nvPr/>
        </p:nvSpPr>
        <p:spPr>
          <a:xfrm>
            <a:off x="4892040" y="3017520"/>
            <a:ext cx="3794760" cy="36576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Centralized metadata in platform DB</a:t>
            </a:r>
            <a:endParaRPr lang="en-US" sz="1000" dirty="0"/>
          </a:p>
          <a:p>
            <a:pPr indent="0" marL="0">
              <a:buNone/>
            </a:pPr>
            <a:r>
              <a:rPr lang="en-US" sz="1000" dirty="0">
                <a:solidFill>
                  <a:srgbClr val="666666"/>
                </a:solidFill>
                <a:latin typeface="Calibri Light" pitchFamily="34" charset="0"/>
                <a:ea typeface="Calibri Light" pitchFamily="34" charset="-122"/>
                <a:cs typeface="Calibri Light" pitchFamily="34" charset="-120"/>
              </a:rPr>
              <a:t>Zone-level execution logs</a:t>
            </a:r>
            <a:endParaRPr lang="en-US" sz="1000" dirty="0"/>
          </a:p>
        </p:txBody>
      </p:sp>
      <p:sp>
        <p:nvSpPr>
          <p:cNvPr id="17" name="Shape 15"/>
          <p:cNvSpPr/>
          <p:nvPr/>
        </p:nvSpPr>
        <p:spPr>
          <a:xfrm>
            <a:off x="4754880" y="3429000"/>
            <a:ext cx="45720" cy="457200"/>
          </a:xfrm>
          <a:prstGeom prst="rect">
            <a:avLst/>
          </a:prstGeom>
          <a:solidFill>
            <a:srgbClr val="FF9500"/>
          </a:solidFill>
          <a:ln/>
        </p:spPr>
      </p:sp>
      <p:sp>
        <p:nvSpPr>
          <p:cNvPr id="18" name="Text 16"/>
          <p:cNvSpPr/>
          <p:nvPr/>
        </p:nvSpPr>
        <p:spPr>
          <a:xfrm>
            <a:off x="4892040" y="3429000"/>
            <a:ext cx="3794760" cy="228600"/>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Splunk Integration</a:t>
            </a:r>
            <a:endParaRPr lang="en-US" sz="1200" dirty="0"/>
          </a:p>
        </p:txBody>
      </p:sp>
      <p:sp>
        <p:nvSpPr>
          <p:cNvPr id="19" name="Text 17"/>
          <p:cNvSpPr/>
          <p:nvPr/>
        </p:nvSpPr>
        <p:spPr>
          <a:xfrm>
            <a:off x="4892040" y="3657600"/>
            <a:ext cx="3794760" cy="36576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Real-time monitoring and analytics</a:t>
            </a:r>
            <a:endParaRPr lang="en-US" sz="1000" dirty="0"/>
          </a:p>
        </p:txBody>
      </p:sp>
      <p:sp>
        <p:nvSpPr>
          <p:cNvPr id="20" name="Text 18"/>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21" name="Text 19"/>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8</a:t>
            </a:r>
            <a:endParaRPr lang="en-US" sz="10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200" b="1" dirty="0">
                <a:solidFill>
                  <a:srgbClr val="003C77"/>
                </a:solidFill>
                <a:latin typeface="Calibri" pitchFamily="34" charset="0"/>
                <a:ea typeface="Calibri" pitchFamily="34" charset="-122"/>
                <a:cs typeface="Calibri" pitchFamily="34" charset="-120"/>
              </a:rPr>
              <a:t>Dashboard Implementation (What You Can See)</a:t>
            </a:r>
            <a:endParaRPr lang="en-US" sz="32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66666"/>
                </a:solidFill>
                <a:latin typeface="Calibri Light" pitchFamily="34" charset="0"/>
                <a:ea typeface="Calibri Light" pitchFamily="34" charset="-122"/>
                <a:cs typeface="Calibri Light" pitchFamily="34" charset="-120"/>
              </a:rPr>
              <a:t>Centralized visibility for cost governance and optimization</a:t>
            </a:r>
            <a:endParaRPr lang="en-US" sz="1400" dirty="0"/>
          </a:p>
        </p:txBody>
      </p:sp>
      <p:sp>
        <p:nvSpPr>
          <p:cNvPr id="6" name="Shape 4"/>
          <p:cNvSpPr/>
          <p:nvPr/>
        </p:nvSpPr>
        <p:spPr>
          <a:xfrm>
            <a:off x="457200" y="1261872"/>
            <a:ext cx="109728" cy="109728"/>
          </a:xfrm>
          <a:prstGeom prst="ellipse">
            <a:avLst/>
          </a:prstGeom>
          <a:solidFill>
            <a:srgbClr val="0066CC"/>
          </a:solidFill>
          <a:ln/>
        </p:spPr>
      </p:sp>
      <p:sp>
        <p:nvSpPr>
          <p:cNvPr id="7" name="Text 5"/>
          <p:cNvSpPr/>
          <p:nvPr/>
        </p:nvSpPr>
        <p:spPr>
          <a:xfrm>
            <a:off x="640080" y="1280160"/>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Total Storage (GB)</a:t>
            </a:r>
            <a:endParaRPr lang="en-US" sz="1100" dirty="0"/>
          </a:p>
        </p:txBody>
      </p:sp>
      <p:sp>
        <p:nvSpPr>
          <p:cNvPr id="8" name="Shape 6"/>
          <p:cNvSpPr/>
          <p:nvPr/>
        </p:nvSpPr>
        <p:spPr>
          <a:xfrm>
            <a:off x="457200" y="1554480"/>
            <a:ext cx="109728" cy="109728"/>
          </a:xfrm>
          <a:prstGeom prst="ellipse">
            <a:avLst/>
          </a:prstGeom>
          <a:solidFill>
            <a:srgbClr val="0066CC"/>
          </a:solidFill>
          <a:ln/>
        </p:spPr>
      </p:sp>
      <p:sp>
        <p:nvSpPr>
          <p:cNvPr id="9" name="Text 7"/>
          <p:cNvSpPr/>
          <p:nvPr/>
        </p:nvSpPr>
        <p:spPr>
          <a:xfrm>
            <a:off x="640080" y="1572768"/>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Total Warehouses</a:t>
            </a:r>
            <a:endParaRPr lang="en-US" sz="1100" dirty="0"/>
          </a:p>
        </p:txBody>
      </p:sp>
      <p:sp>
        <p:nvSpPr>
          <p:cNvPr id="10" name="Shape 8"/>
          <p:cNvSpPr/>
          <p:nvPr/>
        </p:nvSpPr>
        <p:spPr>
          <a:xfrm>
            <a:off x="457200" y="1847088"/>
            <a:ext cx="109728" cy="109728"/>
          </a:xfrm>
          <a:prstGeom prst="ellipse">
            <a:avLst/>
          </a:prstGeom>
          <a:solidFill>
            <a:srgbClr val="0066CC"/>
          </a:solidFill>
          <a:ln/>
        </p:spPr>
      </p:sp>
      <p:sp>
        <p:nvSpPr>
          <p:cNvPr id="11" name="Text 9"/>
          <p:cNvSpPr/>
          <p:nvPr/>
        </p:nvSpPr>
        <p:spPr>
          <a:xfrm>
            <a:off x="640080" y="1865376"/>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Total Databases</a:t>
            </a:r>
            <a:endParaRPr lang="en-US" sz="1100" dirty="0"/>
          </a:p>
        </p:txBody>
      </p:sp>
      <p:sp>
        <p:nvSpPr>
          <p:cNvPr id="12" name="Shape 10"/>
          <p:cNvSpPr/>
          <p:nvPr/>
        </p:nvSpPr>
        <p:spPr>
          <a:xfrm>
            <a:off x="457200" y="2139696"/>
            <a:ext cx="109728" cy="109728"/>
          </a:xfrm>
          <a:prstGeom prst="ellipse">
            <a:avLst/>
          </a:prstGeom>
          <a:solidFill>
            <a:srgbClr val="0066CC"/>
          </a:solidFill>
          <a:ln/>
        </p:spPr>
      </p:sp>
      <p:sp>
        <p:nvSpPr>
          <p:cNvPr id="13" name="Text 11"/>
          <p:cNvSpPr/>
          <p:nvPr/>
        </p:nvSpPr>
        <p:spPr>
          <a:xfrm>
            <a:off x="640080" y="2157984"/>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Total Number of Users</a:t>
            </a:r>
            <a:endParaRPr lang="en-US" sz="1100" dirty="0"/>
          </a:p>
        </p:txBody>
      </p:sp>
      <p:sp>
        <p:nvSpPr>
          <p:cNvPr id="14" name="Shape 12"/>
          <p:cNvSpPr/>
          <p:nvPr/>
        </p:nvSpPr>
        <p:spPr>
          <a:xfrm>
            <a:off x="457200" y="2432304"/>
            <a:ext cx="109728" cy="109728"/>
          </a:xfrm>
          <a:prstGeom prst="ellipse">
            <a:avLst/>
          </a:prstGeom>
          <a:solidFill>
            <a:srgbClr val="0066CC"/>
          </a:solidFill>
          <a:ln/>
        </p:spPr>
      </p:sp>
      <p:sp>
        <p:nvSpPr>
          <p:cNvPr id="15" name="Text 13"/>
          <p:cNvSpPr/>
          <p:nvPr/>
        </p:nvSpPr>
        <p:spPr>
          <a:xfrm>
            <a:off x="640080" y="2450592"/>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Total Number of Queries Executed</a:t>
            </a:r>
            <a:endParaRPr lang="en-US" sz="1100" dirty="0"/>
          </a:p>
        </p:txBody>
      </p:sp>
      <p:sp>
        <p:nvSpPr>
          <p:cNvPr id="16" name="Shape 14"/>
          <p:cNvSpPr/>
          <p:nvPr/>
        </p:nvSpPr>
        <p:spPr>
          <a:xfrm>
            <a:off x="457200" y="2724912"/>
            <a:ext cx="109728" cy="109728"/>
          </a:xfrm>
          <a:prstGeom prst="ellipse">
            <a:avLst/>
          </a:prstGeom>
          <a:solidFill>
            <a:srgbClr val="0066CC"/>
          </a:solidFill>
          <a:ln/>
        </p:spPr>
      </p:sp>
      <p:sp>
        <p:nvSpPr>
          <p:cNvPr id="17" name="Text 15"/>
          <p:cNvSpPr/>
          <p:nvPr/>
        </p:nvSpPr>
        <p:spPr>
          <a:xfrm>
            <a:off x="640080" y="2743200"/>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Credit Consumption by Warehouse (Last 30 days)</a:t>
            </a:r>
            <a:endParaRPr lang="en-US" sz="1100" dirty="0"/>
          </a:p>
        </p:txBody>
      </p:sp>
      <p:sp>
        <p:nvSpPr>
          <p:cNvPr id="18" name="Shape 16"/>
          <p:cNvSpPr/>
          <p:nvPr/>
        </p:nvSpPr>
        <p:spPr>
          <a:xfrm>
            <a:off x="4754880" y="1261872"/>
            <a:ext cx="109728" cy="109728"/>
          </a:xfrm>
          <a:prstGeom prst="ellipse">
            <a:avLst/>
          </a:prstGeom>
          <a:solidFill>
            <a:srgbClr val="0066CC"/>
          </a:solidFill>
          <a:ln/>
        </p:spPr>
      </p:sp>
      <p:sp>
        <p:nvSpPr>
          <p:cNvPr id="19" name="Text 17"/>
          <p:cNvSpPr/>
          <p:nvPr/>
        </p:nvSpPr>
        <p:spPr>
          <a:xfrm>
            <a:off x="4937760" y="1280160"/>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Credit Consumption by User (Last 30 days)</a:t>
            </a:r>
            <a:endParaRPr lang="en-US" sz="1100" dirty="0"/>
          </a:p>
        </p:txBody>
      </p:sp>
      <p:sp>
        <p:nvSpPr>
          <p:cNvPr id="20" name="Shape 18"/>
          <p:cNvSpPr/>
          <p:nvPr/>
        </p:nvSpPr>
        <p:spPr>
          <a:xfrm>
            <a:off x="4754880" y="1554480"/>
            <a:ext cx="109728" cy="109728"/>
          </a:xfrm>
          <a:prstGeom prst="ellipse">
            <a:avLst/>
          </a:prstGeom>
          <a:solidFill>
            <a:srgbClr val="0066CC"/>
          </a:solidFill>
          <a:ln/>
        </p:spPr>
      </p:sp>
      <p:sp>
        <p:nvSpPr>
          <p:cNvPr id="21" name="Text 19"/>
          <p:cNvSpPr/>
          <p:nvPr/>
        </p:nvSpPr>
        <p:spPr>
          <a:xfrm>
            <a:off x="4937760" y="1572768"/>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Average Hour by Hour Consumption (Past 30 Days)</a:t>
            </a:r>
            <a:endParaRPr lang="en-US" sz="1100" dirty="0"/>
          </a:p>
        </p:txBody>
      </p:sp>
      <p:sp>
        <p:nvSpPr>
          <p:cNvPr id="22" name="Shape 20"/>
          <p:cNvSpPr/>
          <p:nvPr/>
        </p:nvSpPr>
        <p:spPr>
          <a:xfrm>
            <a:off x="4754880" y="1847088"/>
            <a:ext cx="109728" cy="109728"/>
          </a:xfrm>
          <a:prstGeom prst="ellipse">
            <a:avLst/>
          </a:prstGeom>
          <a:solidFill>
            <a:srgbClr val="0066CC"/>
          </a:solidFill>
          <a:ln/>
        </p:spPr>
      </p:sp>
      <p:sp>
        <p:nvSpPr>
          <p:cNvPr id="23" name="Text 21"/>
          <p:cNvSpPr/>
          <p:nvPr/>
        </p:nvSpPr>
        <p:spPr>
          <a:xfrm>
            <a:off x="4937760" y="1865376"/>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Average Query Volume by Hour (Past 30 Days)</a:t>
            </a:r>
            <a:endParaRPr lang="en-US" sz="1100" dirty="0"/>
          </a:p>
        </p:txBody>
      </p:sp>
      <p:sp>
        <p:nvSpPr>
          <p:cNvPr id="24" name="Shape 22"/>
          <p:cNvSpPr/>
          <p:nvPr/>
        </p:nvSpPr>
        <p:spPr>
          <a:xfrm>
            <a:off x="4754880" y="2139696"/>
            <a:ext cx="109728" cy="109728"/>
          </a:xfrm>
          <a:prstGeom prst="ellipse">
            <a:avLst/>
          </a:prstGeom>
          <a:solidFill>
            <a:srgbClr val="0066CC"/>
          </a:solidFill>
          <a:ln/>
        </p:spPr>
      </p:sp>
      <p:sp>
        <p:nvSpPr>
          <p:cNvPr id="25" name="Text 23"/>
          <p:cNvSpPr/>
          <p:nvPr/>
        </p:nvSpPr>
        <p:spPr>
          <a:xfrm>
            <a:off x="4937760" y="2157984"/>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Top 50 Longest Running Queries</a:t>
            </a:r>
            <a:endParaRPr lang="en-US" sz="1100" dirty="0"/>
          </a:p>
        </p:txBody>
      </p:sp>
      <p:sp>
        <p:nvSpPr>
          <p:cNvPr id="26" name="Shape 24"/>
          <p:cNvSpPr/>
          <p:nvPr/>
        </p:nvSpPr>
        <p:spPr>
          <a:xfrm>
            <a:off x="4754880" y="2432304"/>
            <a:ext cx="109728" cy="109728"/>
          </a:xfrm>
          <a:prstGeom prst="ellipse">
            <a:avLst/>
          </a:prstGeom>
          <a:solidFill>
            <a:srgbClr val="0066CC"/>
          </a:solidFill>
          <a:ln/>
        </p:spPr>
      </p:sp>
      <p:sp>
        <p:nvSpPr>
          <p:cNvPr id="27" name="Text 25"/>
          <p:cNvSpPr/>
          <p:nvPr/>
        </p:nvSpPr>
        <p:spPr>
          <a:xfrm>
            <a:off x="4937760" y="2450592"/>
            <a:ext cx="3931920" cy="228600"/>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Warehouse Recommendations</a:t>
            </a:r>
            <a:endParaRPr lang="en-US" sz="1100" dirty="0"/>
          </a:p>
        </p:txBody>
      </p:sp>
      <p:sp>
        <p:nvSpPr>
          <p:cNvPr id="28" name="Shape 26"/>
          <p:cNvSpPr/>
          <p:nvPr/>
        </p:nvSpPr>
        <p:spPr>
          <a:xfrm>
            <a:off x="457200" y="4114800"/>
            <a:ext cx="8229600" cy="411480"/>
          </a:xfrm>
          <a:prstGeom prst="rect">
            <a:avLst/>
          </a:prstGeom>
          <a:solidFill>
            <a:srgbClr val="FF9500"/>
          </a:solidFill>
          <a:ln/>
        </p:spPr>
      </p:sp>
      <p:sp>
        <p:nvSpPr>
          <p:cNvPr id="29" name="Text 27"/>
          <p:cNvSpPr/>
          <p:nvPr/>
        </p:nvSpPr>
        <p:spPr>
          <a:xfrm>
            <a:off x="640080" y="4224528"/>
            <a:ext cx="7863840" cy="228600"/>
          </a:xfrm>
          <a:prstGeom prst="rect">
            <a:avLst/>
          </a:prstGeom>
          <a:noFill/>
          <a:ln/>
        </p:spPr>
        <p:txBody>
          <a:bodyPr wrap="square" rtlCol="0" anchor="ctr"/>
          <a:lstStyle/>
          <a:p>
            <a:pPr indent="0" marL="0">
              <a:buNone/>
            </a:pPr>
            <a:r>
              <a:rPr lang="en-US" sz="1300" b="1" dirty="0">
                <a:solidFill>
                  <a:srgbClr val="FFFFFF"/>
                </a:solidFill>
                <a:latin typeface="Calibri Light" pitchFamily="34" charset="0"/>
                <a:ea typeface="Calibri Light" pitchFamily="34" charset="-122"/>
                <a:cs typeface="Calibri Light" pitchFamily="34" charset="-120"/>
              </a:rPr>
              <a:t>Access Required: </a:t>
            </a:r>
            <a:pPr indent="0" marL="0">
              <a:buNone/>
            </a:pPr>
            <a:r>
              <a:rPr lang="en-US" sz="1300" dirty="0">
                <a:solidFill>
                  <a:srgbClr val="FFFFFF"/>
                </a:solidFill>
                <a:latin typeface="Calibri Light" pitchFamily="34" charset="0"/>
                <a:ea typeface="Calibri Light" pitchFamily="34" charset="-122"/>
                <a:cs typeface="Calibri Light" pitchFamily="34" charset="-120"/>
              </a:rPr>
              <a:t>A_BDH_sf_fg_plat_dev_developer AD group</a:t>
            </a:r>
            <a:endParaRPr lang="en-US" sz="1300" dirty="0"/>
          </a:p>
        </p:txBody>
      </p:sp>
      <p:sp>
        <p:nvSpPr>
          <p:cNvPr id="30" name="Text 28"/>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31" name="Text 29"/>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9</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5143500"/>
          </a:xfrm>
          <a:prstGeom prst="rect">
            <a:avLst/>
          </a:prstGeom>
          <a:solidFill>
            <a:srgbClr val="003C77"/>
          </a:solidFill>
          <a:ln/>
        </p:spPr>
      </p:sp>
      <p:sp>
        <p:nvSpPr>
          <p:cNvPr id="3" name="Text 1"/>
          <p:cNvSpPr/>
          <p:nvPr/>
        </p:nvSpPr>
        <p:spPr>
          <a:xfrm>
            <a:off x="457200" y="1371600"/>
            <a:ext cx="8229600" cy="731520"/>
          </a:xfrm>
          <a:prstGeom prst="rect">
            <a:avLst/>
          </a:prstGeom>
          <a:noFill/>
          <a:ln/>
        </p:spPr>
        <p:txBody>
          <a:bodyPr wrap="square" rtlCol="0" anchor="ctr"/>
          <a:lstStyle/>
          <a:p>
            <a:pPr algn="ctr" indent="0" marL="0">
              <a:buNone/>
            </a:pPr>
            <a:r>
              <a:rPr lang="en-US" sz="9600" b="1" dirty="0">
                <a:solidFill>
                  <a:srgbClr val="FF9500"/>
                </a:solidFill>
                <a:latin typeface="Calibri" pitchFamily="34" charset="0"/>
                <a:ea typeface="Calibri" pitchFamily="34" charset="-122"/>
                <a:cs typeface="Calibri" pitchFamily="34" charset="-120"/>
              </a:rPr>
              <a:t>02</a:t>
            </a:r>
            <a:endParaRPr lang="en-US" sz="9600" dirty="0"/>
          </a:p>
        </p:txBody>
      </p:sp>
      <p:sp>
        <p:nvSpPr>
          <p:cNvPr id="4" name="Text 2"/>
          <p:cNvSpPr/>
          <p:nvPr/>
        </p:nvSpPr>
        <p:spPr>
          <a:xfrm>
            <a:off x="457200" y="2468880"/>
            <a:ext cx="8229600" cy="54864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Snowflake Security</a:t>
            </a:r>
            <a:endParaRPr lang="en-US" sz="4400" dirty="0"/>
          </a:p>
        </p:txBody>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F5F5F5"/>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F5F5F5"/>
                </a:solidFill>
                <a:latin typeface="Calibri Light" pitchFamily="34" charset="0"/>
                <a:ea typeface="Calibri Light" pitchFamily="34" charset="-122"/>
                <a:cs typeface="Calibri Light" pitchFamily="34" charset="-120"/>
              </a:rPr>
              <a:t>10</a:t>
            </a:r>
            <a:endParaRPr lang="en-US" sz="10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Role-Based Access and Data Privacy</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11</a:t>
            </a:r>
            <a:endParaRPr lang="en-US" sz="1000" dirty="0"/>
          </a:p>
        </p:txBody>
      </p:sp>
      <p:sp>
        <p:nvSpPr>
          <p:cNvPr id="7" name="Text 5"/>
          <p:cNvSpPr/>
          <p:nvPr/>
        </p:nvSpPr>
        <p:spPr>
          <a:xfrm>
            <a:off x="457200" y="1005840"/>
            <a:ext cx="8229600" cy="640080"/>
          </a:xfrm>
          <a:prstGeom prst="rect">
            <a:avLst/>
          </a:prstGeom>
          <a:noFill/>
          <a:ln/>
        </p:spPr>
        <p:txBody>
          <a:bodyPr wrap="square" rtlCol="0" anchor="t"/>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Our security design includes strict role-based filtering to maintain data privacy while providing comprehensive cost visibility. The FinOps team accesses aggregated consumption, trends, and anomalies without sensitive details, while application teams view only their own workload metrics. This balance ensures complete cost transparency without compromising security.</a:t>
            </a:r>
            <a:endParaRPr lang="en-US" sz="1300" dirty="0"/>
          </a:p>
        </p:txBody>
      </p:sp>
      <p:sp>
        <p:nvSpPr>
          <p:cNvPr id="8" name="Text 6"/>
          <p:cNvSpPr/>
          <p:nvPr/>
        </p:nvSpPr>
        <p:spPr>
          <a:xfrm>
            <a:off x="457200" y="182880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Simple Access Flow</a:t>
            </a:r>
            <a:endParaRPr lang="en-US" sz="1600" dirty="0"/>
          </a:p>
        </p:txBody>
      </p:sp>
      <p:sp>
        <p:nvSpPr>
          <p:cNvPr id="9" name="Text 7"/>
          <p:cNvSpPr/>
          <p:nvPr/>
        </p:nvSpPr>
        <p:spPr>
          <a:xfrm>
            <a:off x="457200" y="2148840"/>
            <a:ext cx="8229600" cy="228600"/>
          </a:xfrm>
          <a:prstGeom prst="rect">
            <a:avLst/>
          </a:prstGeom>
          <a:noFill/>
          <a:ln/>
        </p:spPr>
        <p:txBody>
          <a:bodyPr wrap="square" rtlCol="0" anchor="ctr"/>
          <a:lstStyle/>
          <a:p>
            <a:pPr indent="0" marL="0">
              <a:buNone/>
            </a:pPr>
            <a:r>
              <a:rPr lang="en-US" sz="1300" i="1" dirty="0">
                <a:solidFill>
                  <a:srgbClr val="0066CC"/>
                </a:solidFill>
                <a:latin typeface="Calibri Light" pitchFamily="34" charset="0"/>
                <a:ea typeface="Calibri Light" pitchFamily="34" charset="-122"/>
                <a:cs typeface="Calibri Light" pitchFamily="34" charset="-120"/>
              </a:rPr>
              <a:t>User → Role → Row Access Policy → Filtered FinOps Data</a:t>
            </a:r>
            <a:endParaRPr lang="en-US" sz="1300" dirty="0"/>
          </a:p>
        </p:txBody>
      </p:sp>
      <p:sp>
        <p:nvSpPr>
          <p:cNvPr id="10" name="Text 8"/>
          <p:cNvSpPr/>
          <p:nvPr/>
        </p:nvSpPr>
        <p:spPr>
          <a:xfrm>
            <a:off x="457200" y="256032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Role-Based Access Implementation</a:t>
            </a:r>
            <a:endParaRPr lang="en-US" sz="1600" dirty="0"/>
          </a:p>
        </p:txBody>
      </p:sp>
      <p:sp>
        <p:nvSpPr>
          <p:cNvPr id="11" name="Shape 9"/>
          <p:cNvSpPr/>
          <p:nvPr/>
        </p:nvSpPr>
        <p:spPr>
          <a:xfrm>
            <a:off x="457200" y="2862072"/>
            <a:ext cx="109728" cy="109728"/>
          </a:xfrm>
          <a:prstGeom prst="ellipse">
            <a:avLst/>
          </a:prstGeom>
          <a:solidFill>
            <a:srgbClr val="FF9500"/>
          </a:solidFill>
          <a:ln/>
        </p:spPr>
      </p:sp>
      <p:sp>
        <p:nvSpPr>
          <p:cNvPr id="12" name="Text 10"/>
          <p:cNvSpPr/>
          <p:nvPr/>
        </p:nvSpPr>
        <p:spPr>
          <a:xfrm>
            <a:off x="640080" y="2880360"/>
            <a:ext cx="8046720" cy="246888"/>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Access is controlled using zone-based Snowflake roles — users only see data for their assigned zone.</a:t>
            </a:r>
            <a:endParaRPr lang="en-US" sz="1100" dirty="0"/>
          </a:p>
        </p:txBody>
      </p:sp>
      <p:sp>
        <p:nvSpPr>
          <p:cNvPr id="13" name="Shape 11"/>
          <p:cNvSpPr/>
          <p:nvPr/>
        </p:nvSpPr>
        <p:spPr>
          <a:xfrm>
            <a:off x="457200" y="3154680"/>
            <a:ext cx="109728" cy="109728"/>
          </a:xfrm>
          <a:prstGeom prst="ellipse">
            <a:avLst/>
          </a:prstGeom>
          <a:solidFill>
            <a:srgbClr val="FF9500"/>
          </a:solidFill>
          <a:ln/>
        </p:spPr>
      </p:sp>
      <p:sp>
        <p:nvSpPr>
          <p:cNvPr id="14" name="Text 12"/>
          <p:cNvSpPr/>
          <p:nvPr/>
        </p:nvSpPr>
        <p:spPr>
          <a:xfrm>
            <a:off x="640080" y="3172968"/>
            <a:ext cx="8046720" cy="246888"/>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FinOps platform admins have multi-zone visibility; application teams see only their own workloads.</a:t>
            </a:r>
            <a:endParaRPr lang="en-US" sz="1100" dirty="0"/>
          </a:p>
        </p:txBody>
      </p:sp>
      <p:sp>
        <p:nvSpPr>
          <p:cNvPr id="15" name="Shape 13"/>
          <p:cNvSpPr/>
          <p:nvPr/>
        </p:nvSpPr>
        <p:spPr>
          <a:xfrm>
            <a:off x="457200" y="3447288"/>
            <a:ext cx="109728" cy="109728"/>
          </a:xfrm>
          <a:prstGeom prst="ellipse">
            <a:avLst/>
          </a:prstGeom>
          <a:solidFill>
            <a:srgbClr val="FF9500"/>
          </a:solidFill>
          <a:ln/>
        </p:spPr>
      </p:sp>
      <p:sp>
        <p:nvSpPr>
          <p:cNvPr id="16" name="Text 14"/>
          <p:cNvSpPr/>
          <p:nvPr/>
        </p:nvSpPr>
        <p:spPr>
          <a:xfrm>
            <a:off x="640080" y="3465576"/>
            <a:ext cx="8046720" cy="246888"/>
          </a:xfrm>
          <a:prstGeom prst="rect">
            <a:avLst/>
          </a:prstGeom>
          <a:noFill/>
          <a:ln/>
        </p:spPr>
        <p:txBody>
          <a:bodyPr wrap="square" rtlCol="0" anchor="ctr"/>
          <a:lstStyle/>
          <a:p>
            <a:pPr indent="0" marL="0">
              <a:buNone/>
            </a:pPr>
            <a:r>
              <a:rPr lang="en-US" sz="1100" dirty="0">
                <a:solidFill>
                  <a:srgbClr val="333333"/>
                </a:solidFill>
                <a:latin typeface="Calibri Light" pitchFamily="34" charset="0"/>
                <a:ea typeface="Calibri Light" pitchFamily="34" charset="-122"/>
                <a:cs typeface="Calibri Light" pitchFamily="34" charset="-120"/>
              </a:rPr>
              <a:t>System admin roles retain full access for governance and support.</a:t>
            </a:r>
            <a:endParaRPr lang="en-US" sz="1100" dirty="0"/>
          </a:p>
        </p:txBody>
      </p:sp>
      <p:sp>
        <p:nvSpPr>
          <p:cNvPr id="17" name="Text 15"/>
          <p:cNvSpPr/>
          <p:nvPr/>
        </p:nvSpPr>
        <p:spPr>
          <a:xfrm>
            <a:off x="457200" y="3794760"/>
            <a:ext cx="8229600" cy="228600"/>
          </a:xfrm>
          <a:prstGeom prst="rect">
            <a:avLst/>
          </a:prstGeom>
          <a:noFill/>
          <a:ln/>
        </p:spPr>
        <p:txBody>
          <a:bodyPr wrap="square" rtlCol="0" anchor="ctr"/>
          <a:lstStyle/>
          <a:p>
            <a:pPr indent="0" marL="0">
              <a:buNone/>
            </a:pPr>
            <a:r>
              <a:rPr lang="en-US" sz="1600" b="1" dirty="0">
                <a:solidFill>
                  <a:srgbClr val="0066CC"/>
                </a:solidFill>
                <a:latin typeface="Calibri" pitchFamily="34" charset="0"/>
                <a:ea typeface="Calibri" pitchFamily="34" charset="-122"/>
                <a:cs typeface="Calibri" pitchFamily="34" charset="-120"/>
              </a:rPr>
              <a:t>Examples</a:t>
            </a:r>
            <a:endParaRPr lang="en-US" sz="1600" dirty="0"/>
          </a:p>
        </p:txBody>
      </p:sp>
      <p:sp>
        <p:nvSpPr>
          <p:cNvPr id="18" name="Shape 16"/>
          <p:cNvSpPr/>
          <p:nvPr/>
        </p:nvSpPr>
        <p:spPr>
          <a:xfrm>
            <a:off x="457200" y="4069080"/>
            <a:ext cx="3931920" cy="457200"/>
          </a:xfrm>
          <a:prstGeom prst="rect">
            <a:avLst/>
          </a:prstGeom>
          <a:solidFill>
            <a:srgbClr val="F5F5F5"/>
          </a:solidFill>
          <a:ln/>
        </p:spPr>
      </p:sp>
      <p:sp>
        <p:nvSpPr>
          <p:cNvPr id="19" name="Text 17"/>
          <p:cNvSpPr/>
          <p:nvPr/>
        </p:nvSpPr>
        <p:spPr>
          <a:xfrm>
            <a:off x="548640" y="4160520"/>
            <a:ext cx="3749040" cy="320040"/>
          </a:xfrm>
          <a:prstGeom prst="rect">
            <a:avLst/>
          </a:prstGeom>
          <a:noFill/>
          <a:ln/>
        </p:spPr>
        <p:txBody>
          <a:bodyPr wrap="square" rtlCol="0" anchor="t"/>
          <a:lstStyle/>
          <a:p>
            <a:pPr indent="0" marL="0">
              <a:buNone/>
            </a:pPr>
            <a:r>
              <a:rPr lang="en-US" sz="1000" b="1" dirty="0">
                <a:solidFill>
                  <a:srgbClr val="333333"/>
                </a:solidFill>
                <a:latin typeface="Calibri Light" pitchFamily="34" charset="0"/>
                <a:ea typeface="Calibri Light" pitchFamily="34" charset="-122"/>
                <a:cs typeface="Calibri Light" pitchFamily="34" charset="-120"/>
              </a:rPr>
              <a:t>Scenario 1: CUST Zone Developer</a:t>
            </a:r>
            <a:endParaRPr lang="en-US" sz="10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Role: BDH_SF_FR_CUST_DEV_SUPPORTADMIN</a:t>
            </a:r>
            <a:endParaRPr lang="en-US" sz="10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Access: Sees only CUST zone credit usage, storage, and query metrics</a:t>
            </a:r>
            <a:endParaRPr lang="en-US" sz="1000" dirty="0"/>
          </a:p>
        </p:txBody>
      </p:sp>
      <p:sp>
        <p:nvSpPr>
          <p:cNvPr id="20" name="Shape 18"/>
          <p:cNvSpPr/>
          <p:nvPr/>
        </p:nvSpPr>
        <p:spPr>
          <a:xfrm>
            <a:off x="4754880" y="4069080"/>
            <a:ext cx="3931920" cy="457200"/>
          </a:xfrm>
          <a:prstGeom prst="rect">
            <a:avLst/>
          </a:prstGeom>
          <a:solidFill>
            <a:srgbClr val="F5F5F5"/>
          </a:solidFill>
          <a:ln/>
        </p:spPr>
      </p:sp>
      <p:sp>
        <p:nvSpPr>
          <p:cNvPr id="21" name="Text 19"/>
          <p:cNvSpPr/>
          <p:nvPr/>
        </p:nvSpPr>
        <p:spPr>
          <a:xfrm>
            <a:off x="4846320" y="4160520"/>
            <a:ext cx="3749040" cy="320040"/>
          </a:xfrm>
          <a:prstGeom prst="rect">
            <a:avLst/>
          </a:prstGeom>
          <a:noFill/>
          <a:ln/>
        </p:spPr>
        <p:txBody>
          <a:bodyPr wrap="square" rtlCol="0" anchor="t"/>
          <a:lstStyle/>
          <a:p>
            <a:pPr indent="0" marL="0">
              <a:buNone/>
            </a:pPr>
            <a:r>
              <a:rPr lang="en-US" sz="1000" b="1" dirty="0">
                <a:solidFill>
                  <a:srgbClr val="333333"/>
                </a:solidFill>
                <a:latin typeface="Calibri Light" pitchFamily="34" charset="0"/>
                <a:ea typeface="Calibri Light" pitchFamily="34" charset="-122"/>
                <a:cs typeface="Calibri Light" pitchFamily="34" charset="-120"/>
              </a:rPr>
              <a:t>Scenario 2: Platform FinOps Administrator</a:t>
            </a:r>
            <a:endParaRPr lang="en-US" sz="10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Role: BDH_SF_FR_PLATFRM_PREPROD_ADMIN</a:t>
            </a:r>
            <a:endParaRPr lang="en-US" sz="1000" dirty="0"/>
          </a:p>
          <a:p>
            <a:pPr indent="0" marL="0">
              <a:buNone/>
            </a:pPr>
            <a:r>
              <a:rPr lang="en-US" sz="900" dirty="0">
                <a:solidFill>
                  <a:srgbClr val="333333"/>
                </a:solidFill>
                <a:latin typeface="Calibri Light" pitchFamily="34" charset="0"/>
                <a:ea typeface="Calibri Light" pitchFamily="34" charset="-122"/>
                <a:cs typeface="Calibri Light" pitchFamily="34" charset="-120"/>
              </a:rPr>
              <a:t>Access: Multi-zone visibility across CUST, PTP, and LOANS zones</a:t>
            </a:r>
            <a:endParaRPr lang="en-US" sz="10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Designing Row Access Policy - Implementation</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12</a:t>
            </a:r>
            <a:endParaRPr lang="en-US" sz="1000" dirty="0"/>
          </a:p>
        </p:txBody>
      </p:sp>
      <p:sp>
        <p:nvSpPr>
          <p:cNvPr id="7" name="Text 5"/>
          <p:cNvSpPr/>
          <p:nvPr/>
        </p:nvSpPr>
        <p:spPr>
          <a:xfrm>
            <a:off x="457200" y="1005840"/>
            <a:ext cx="8229600" cy="731520"/>
          </a:xfrm>
          <a:prstGeom prst="rect">
            <a:avLst/>
          </a:prstGeom>
          <a:noFill/>
          <a:ln/>
        </p:spPr>
        <p:txBody>
          <a:bodyPr wrap="square" rtlCol="0" anchor="t"/>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Row access policies help protect sensitive data while keeping it visible to the right people. Designing these policies carefully ensures data privacy for FinOps teams and application teams, making sure everyone sees only what they need. This balance improves security without slowing workflow.</a:t>
            </a:r>
            <a:endParaRPr lang="en-US" sz="1300" dirty="0"/>
          </a:p>
        </p:txBody>
      </p:sp>
      <p:sp>
        <p:nvSpPr>
          <p:cNvPr id="8" name="Shape 6"/>
          <p:cNvSpPr/>
          <p:nvPr/>
        </p:nvSpPr>
        <p:spPr>
          <a:xfrm>
            <a:off x="457200" y="1920240"/>
            <a:ext cx="8229600" cy="2011680"/>
          </a:xfrm>
          <a:prstGeom prst="rect">
            <a:avLst/>
          </a:prstGeom>
          <a:solidFill>
            <a:srgbClr val="F5F5F5"/>
          </a:solidFill>
          <a:ln w="25400">
            <a:solidFill>
              <a:srgbClr val="0066CC"/>
            </a:solidFill>
            <a:prstDash val="solid"/>
          </a:ln>
        </p:spPr>
      </p:sp>
      <p:sp>
        <p:nvSpPr>
          <p:cNvPr id="9" name="Text 7"/>
          <p:cNvSpPr/>
          <p:nvPr/>
        </p:nvSpPr>
        <p:spPr>
          <a:xfrm>
            <a:off x="457200" y="2286000"/>
            <a:ext cx="8229600" cy="365760"/>
          </a:xfrm>
          <a:prstGeom prst="rect">
            <a:avLst/>
          </a:prstGeom>
          <a:noFill/>
          <a:ln/>
        </p:spPr>
        <p:txBody>
          <a:bodyPr wrap="square" rtlCol="0" anchor="ctr"/>
          <a:lstStyle/>
          <a:p>
            <a:pPr algn="ctr" indent="0" marL="0">
              <a:buNone/>
            </a:pPr>
            <a:r>
              <a:rPr lang="en-US" sz="2000" b="1" dirty="0">
                <a:solidFill>
                  <a:srgbClr val="003C77"/>
                </a:solidFill>
                <a:latin typeface="Calibri" pitchFamily="34" charset="0"/>
                <a:ea typeface="Calibri" pitchFamily="34" charset="-122"/>
                <a:cs typeface="Calibri" pitchFamily="34" charset="-120"/>
              </a:rPr>
              <a:t>Row Access Policy Diagram</a:t>
            </a:r>
            <a:endParaRPr lang="en-US" sz="2000" dirty="0"/>
          </a:p>
        </p:txBody>
      </p:sp>
      <p:sp>
        <p:nvSpPr>
          <p:cNvPr id="10" name="Text 8"/>
          <p:cNvSpPr/>
          <p:nvPr/>
        </p:nvSpPr>
        <p:spPr>
          <a:xfrm>
            <a:off x="457200" y="2743200"/>
            <a:ext cx="8229600" cy="365760"/>
          </a:xfrm>
          <a:prstGeom prst="rect">
            <a:avLst/>
          </a:prstGeom>
          <a:noFill/>
          <a:ln/>
        </p:spPr>
        <p:txBody>
          <a:bodyPr wrap="square" rtlCol="0" anchor="ctr"/>
          <a:lstStyle/>
          <a:p>
            <a:pPr algn="ctr" indent="0" marL="0">
              <a:buNone/>
            </a:pPr>
            <a:r>
              <a:rPr lang="en-US" sz="1400" i="1" dirty="0">
                <a:solidFill>
                  <a:srgbClr val="666666"/>
                </a:solidFill>
                <a:latin typeface="Calibri Light" pitchFamily="34" charset="0"/>
                <a:ea typeface="Calibri Light" pitchFamily="34" charset="-122"/>
                <a:cs typeface="Calibri Light" pitchFamily="34" charset="-120"/>
              </a:rPr>
              <a:t>[Visual representation of policy flow and access controls]</a:t>
            </a:r>
            <a:endParaRPr lang="en-US" sz="14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Designing Row Access Policy - Implementation</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13</a:t>
            </a:r>
            <a:endParaRPr lang="en-US" sz="1000" dirty="0"/>
          </a:p>
        </p:txBody>
      </p:sp>
      <p:sp>
        <p:nvSpPr>
          <p:cNvPr id="7" name="Text 5"/>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66666"/>
                </a:solidFill>
                <a:latin typeface="Calibri Light" pitchFamily="34" charset="0"/>
                <a:ea typeface="Calibri Light" pitchFamily="34" charset="-122"/>
                <a:cs typeface="Calibri Light" pitchFamily="34" charset="-120"/>
              </a:rPr>
              <a:t>Ensuring zone-based data segregation with fine-grained security</a:t>
            </a:r>
            <a:endParaRPr lang="en-US" sz="1400" dirty="0"/>
          </a:p>
        </p:txBody>
      </p:sp>
      <p:sp>
        <p:nvSpPr>
          <p:cNvPr id="8" name="Text 6"/>
          <p:cNvSpPr/>
          <p:nvPr/>
        </p:nvSpPr>
        <p:spPr>
          <a:xfrm>
            <a:off x="457200" y="1280160"/>
            <a:ext cx="3931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Protected Objects</a:t>
            </a:r>
            <a:endParaRPr lang="en-US" sz="1600" dirty="0"/>
          </a:p>
        </p:txBody>
      </p:sp>
      <p:sp>
        <p:nvSpPr>
          <p:cNvPr id="9" name="Text 7"/>
          <p:cNvSpPr/>
          <p:nvPr/>
        </p:nvSpPr>
        <p:spPr>
          <a:xfrm>
            <a:off x="457200" y="1600200"/>
            <a:ext cx="3931920" cy="548640"/>
          </a:xfrm>
          <a:prstGeom prst="rect">
            <a:avLst/>
          </a:prstGeom>
          <a:noFill/>
          <a:ln/>
        </p:spPr>
        <p:txBody>
          <a:bodyPr wrap="square" rtlCol="0" anchor="t"/>
          <a:lstStyle/>
          <a:p>
            <a:pPr indent="0" marL="0">
              <a:buNone/>
            </a:pPr>
            <a:r>
              <a:rPr lang="en-US" sz="1200" b="1" dirty="0">
                <a:solidFill>
                  <a:srgbClr val="333333"/>
                </a:solidFill>
                <a:latin typeface="Calibri Light" pitchFamily="34" charset="0"/>
                <a:ea typeface="Calibri Light" pitchFamily="34" charset="-122"/>
                <a:cs typeface="Calibri Light" pitchFamily="34" charset="-120"/>
              </a:rPr>
              <a:t>Tables:</a:t>
            </a:r>
            <a:endParaRPr lang="en-US" sz="1200" dirty="0"/>
          </a:p>
          <a:p>
            <a:pPr indent="0" marL="0">
              <a:buNone/>
            </a:pPr>
            <a:r>
              <a:rPr lang="en-US" sz="1200" dirty="0">
                <a:solidFill>
                  <a:srgbClr val="333333"/>
                </a:solidFill>
                <a:latin typeface="Calibri Light" pitchFamily="34" charset="0"/>
                <a:ea typeface="Calibri Light" pitchFamily="34" charset="-122"/>
                <a:cs typeface="Calibri Light" pitchFamily="34" charset="-120"/>
              </a:rPr>
              <a:t>• credit_usage</a:t>
            </a:r>
            <a:endParaRPr lang="en-US" sz="1200" dirty="0"/>
          </a:p>
          <a:p>
            <a:pPr indent="0" marL="0">
              <a:buNone/>
            </a:pPr>
            <a:r>
              <a:rPr lang="en-US" sz="1200" dirty="0">
                <a:solidFill>
                  <a:srgbClr val="333333"/>
                </a:solidFill>
                <a:latin typeface="Calibri Light" pitchFamily="34" charset="0"/>
                <a:ea typeface="Calibri Light" pitchFamily="34" charset="-122"/>
                <a:cs typeface="Calibri Light" pitchFamily="34" charset="-120"/>
              </a:rPr>
              <a:t>• storage_usage</a:t>
            </a:r>
            <a:endParaRPr lang="en-US" sz="1200" dirty="0"/>
          </a:p>
        </p:txBody>
      </p:sp>
      <p:sp>
        <p:nvSpPr>
          <p:cNvPr id="10" name="Text 8"/>
          <p:cNvSpPr/>
          <p:nvPr/>
        </p:nvSpPr>
        <p:spPr>
          <a:xfrm>
            <a:off x="457200" y="2286000"/>
            <a:ext cx="3931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Access Control Logic</a:t>
            </a:r>
            <a:endParaRPr lang="en-US" sz="1600" dirty="0"/>
          </a:p>
        </p:txBody>
      </p:sp>
      <p:sp>
        <p:nvSpPr>
          <p:cNvPr id="11" name="Text 9"/>
          <p:cNvSpPr/>
          <p:nvPr/>
        </p:nvSpPr>
        <p:spPr>
          <a:xfrm>
            <a:off x="457200" y="2606040"/>
            <a:ext cx="3931920" cy="1188720"/>
          </a:xfrm>
          <a:prstGeom prst="rect">
            <a:avLst/>
          </a:prstGeom>
          <a:noFill/>
          <a:ln/>
        </p:spPr>
        <p:txBody>
          <a:bodyPr wrap="square" rtlCol="0" anchor="t"/>
          <a:lstStyle/>
          <a:p>
            <a:pPr indent="0" marL="0">
              <a:buNone/>
            </a:pPr>
            <a:r>
              <a:rPr lang="en-US" sz="1100" b="1" dirty="0">
                <a:solidFill>
                  <a:srgbClr val="333333"/>
                </a:solidFill>
                <a:latin typeface="Calibri Light" pitchFamily="34" charset="0"/>
                <a:ea typeface="Calibri Light" pitchFamily="34" charset="-122"/>
                <a:cs typeface="Calibri Light" pitchFamily="34" charset="-120"/>
              </a:rPr>
              <a:t>Policy evaluates: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CURRENT_ROLE() against zone mapping</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Multi-zone roles (PLATFRM_*_DEVELOPER/ADMIN)</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Single-zone roles (FR_{ZONE}_*_SUPPORT)</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System admins bypass RAP</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Secondary roles via IS_ROLE_IN_SESSION()</a:t>
            </a:r>
            <a:endParaRPr lang="en-US" sz="1100" dirty="0"/>
          </a:p>
        </p:txBody>
      </p:sp>
      <p:sp>
        <p:nvSpPr>
          <p:cNvPr id="12" name="Text 10"/>
          <p:cNvSpPr/>
          <p:nvPr/>
        </p:nvSpPr>
        <p:spPr>
          <a:xfrm>
            <a:off x="4754880" y="1280160"/>
            <a:ext cx="3931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Key Benefits</a:t>
            </a:r>
            <a:endParaRPr lang="en-US" sz="1600" dirty="0"/>
          </a:p>
        </p:txBody>
      </p:sp>
      <p:sp>
        <p:nvSpPr>
          <p:cNvPr id="13" name="Shape 11"/>
          <p:cNvSpPr/>
          <p:nvPr/>
        </p:nvSpPr>
        <p:spPr>
          <a:xfrm>
            <a:off x="4754880" y="1581912"/>
            <a:ext cx="109728" cy="109728"/>
          </a:xfrm>
          <a:prstGeom prst="ellipse">
            <a:avLst/>
          </a:prstGeom>
          <a:solidFill>
            <a:srgbClr val="FF9500"/>
          </a:solidFill>
          <a:ln/>
        </p:spPr>
      </p:sp>
      <p:sp>
        <p:nvSpPr>
          <p:cNvPr id="14" name="Text 12"/>
          <p:cNvSpPr/>
          <p:nvPr/>
        </p:nvSpPr>
        <p:spPr>
          <a:xfrm>
            <a:off x="4937760" y="1600200"/>
            <a:ext cx="3749040" cy="20116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Data Privacy: </a:t>
            </a:r>
            <a:endParaRPr lang="en-US" sz="1100" dirty="0"/>
          </a:p>
        </p:txBody>
      </p:sp>
      <p:sp>
        <p:nvSpPr>
          <p:cNvPr id="15" name="Text 13"/>
          <p:cNvSpPr/>
          <p:nvPr/>
        </p:nvSpPr>
        <p:spPr>
          <a:xfrm>
            <a:off x="4937760" y="1801368"/>
            <a:ext cx="3749040" cy="219456"/>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Users see only authorized zone data</a:t>
            </a:r>
            <a:endParaRPr lang="en-US" sz="1000" dirty="0"/>
          </a:p>
        </p:txBody>
      </p:sp>
      <p:sp>
        <p:nvSpPr>
          <p:cNvPr id="16" name="Shape 14"/>
          <p:cNvSpPr/>
          <p:nvPr/>
        </p:nvSpPr>
        <p:spPr>
          <a:xfrm>
            <a:off x="4754880" y="2057400"/>
            <a:ext cx="109728" cy="109728"/>
          </a:xfrm>
          <a:prstGeom prst="ellipse">
            <a:avLst/>
          </a:prstGeom>
          <a:solidFill>
            <a:srgbClr val="FF9500"/>
          </a:solidFill>
          <a:ln/>
        </p:spPr>
      </p:sp>
      <p:sp>
        <p:nvSpPr>
          <p:cNvPr id="17" name="Text 15"/>
          <p:cNvSpPr/>
          <p:nvPr/>
        </p:nvSpPr>
        <p:spPr>
          <a:xfrm>
            <a:off x="4937760" y="2075688"/>
            <a:ext cx="3749040" cy="20116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Compliance: </a:t>
            </a:r>
            <a:endParaRPr lang="en-US" sz="1100" dirty="0"/>
          </a:p>
        </p:txBody>
      </p:sp>
      <p:sp>
        <p:nvSpPr>
          <p:cNvPr id="18" name="Text 16"/>
          <p:cNvSpPr/>
          <p:nvPr/>
        </p:nvSpPr>
        <p:spPr>
          <a:xfrm>
            <a:off x="4937760" y="2276856"/>
            <a:ext cx="3749040" cy="219456"/>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Meets regulatory requirements for data segregation</a:t>
            </a:r>
            <a:endParaRPr lang="en-US" sz="1000" dirty="0"/>
          </a:p>
        </p:txBody>
      </p:sp>
      <p:sp>
        <p:nvSpPr>
          <p:cNvPr id="19" name="Shape 17"/>
          <p:cNvSpPr/>
          <p:nvPr/>
        </p:nvSpPr>
        <p:spPr>
          <a:xfrm>
            <a:off x="4754880" y="2532888"/>
            <a:ext cx="109728" cy="109728"/>
          </a:xfrm>
          <a:prstGeom prst="ellipse">
            <a:avLst/>
          </a:prstGeom>
          <a:solidFill>
            <a:srgbClr val="FF9500"/>
          </a:solidFill>
          <a:ln/>
        </p:spPr>
      </p:sp>
      <p:sp>
        <p:nvSpPr>
          <p:cNvPr id="20" name="Text 18"/>
          <p:cNvSpPr/>
          <p:nvPr/>
        </p:nvSpPr>
        <p:spPr>
          <a:xfrm>
            <a:off x="4937760" y="2551176"/>
            <a:ext cx="3749040" cy="20116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Centralized Control: </a:t>
            </a:r>
            <a:endParaRPr lang="en-US" sz="1100" dirty="0"/>
          </a:p>
        </p:txBody>
      </p:sp>
      <p:sp>
        <p:nvSpPr>
          <p:cNvPr id="21" name="Text 19"/>
          <p:cNvSpPr/>
          <p:nvPr/>
        </p:nvSpPr>
        <p:spPr>
          <a:xfrm>
            <a:off x="4937760" y="2752344"/>
            <a:ext cx="3749040" cy="219456"/>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Single policy manages all access</a:t>
            </a:r>
            <a:endParaRPr lang="en-US" sz="1000" dirty="0"/>
          </a:p>
        </p:txBody>
      </p:sp>
      <p:sp>
        <p:nvSpPr>
          <p:cNvPr id="22" name="Shape 20"/>
          <p:cNvSpPr/>
          <p:nvPr/>
        </p:nvSpPr>
        <p:spPr>
          <a:xfrm>
            <a:off x="4754880" y="3008376"/>
            <a:ext cx="109728" cy="109728"/>
          </a:xfrm>
          <a:prstGeom prst="ellipse">
            <a:avLst/>
          </a:prstGeom>
          <a:solidFill>
            <a:srgbClr val="FF9500"/>
          </a:solidFill>
          <a:ln/>
        </p:spPr>
      </p:sp>
      <p:sp>
        <p:nvSpPr>
          <p:cNvPr id="23" name="Text 21"/>
          <p:cNvSpPr/>
          <p:nvPr/>
        </p:nvSpPr>
        <p:spPr>
          <a:xfrm>
            <a:off x="4937760" y="3026664"/>
            <a:ext cx="3749040" cy="20116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Audit Trail: </a:t>
            </a:r>
            <a:endParaRPr lang="en-US" sz="1100" dirty="0"/>
          </a:p>
        </p:txBody>
      </p:sp>
      <p:sp>
        <p:nvSpPr>
          <p:cNvPr id="24" name="Text 22"/>
          <p:cNvSpPr/>
          <p:nvPr/>
        </p:nvSpPr>
        <p:spPr>
          <a:xfrm>
            <a:off x="4937760" y="3227832"/>
            <a:ext cx="3749040" cy="219456"/>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All access attempts fully logged</a:t>
            </a:r>
            <a:endParaRPr lang="en-US" sz="1000" dirty="0"/>
          </a:p>
        </p:txBody>
      </p:sp>
      <p:sp>
        <p:nvSpPr>
          <p:cNvPr id="25" name="Shape 23"/>
          <p:cNvSpPr/>
          <p:nvPr/>
        </p:nvSpPr>
        <p:spPr>
          <a:xfrm>
            <a:off x="4754880" y="3483864"/>
            <a:ext cx="109728" cy="109728"/>
          </a:xfrm>
          <a:prstGeom prst="ellipse">
            <a:avLst/>
          </a:prstGeom>
          <a:solidFill>
            <a:srgbClr val="FF9500"/>
          </a:solidFill>
          <a:ln/>
        </p:spPr>
      </p:sp>
      <p:sp>
        <p:nvSpPr>
          <p:cNvPr id="26" name="Text 24"/>
          <p:cNvSpPr/>
          <p:nvPr/>
        </p:nvSpPr>
        <p:spPr>
          <a:xfrm>
            <a:off x="4937760" y="3502152"/>
            <a:ext cx="3749040" cy="201168"/>
          </a:xfrm>
          <a:prstGeom prst="rect">
            <a:avLst/>
          </a:prstGeom>
          <a:noFill/>
          <a:ln/>
        </p:spPr>
        <p:txBody>
          <a:bodyPr wrap="square" rtlCol="0" anchor="ctr"/>
          <a:lstStyle/>
          <a:p>
            <a:pPr indent="0" marL="0">
              <a:buNone/>
            </a:pPr>
            <a:r>
              <a:rPr lang="en-US" sz="1100" b="1" dirty="0">
                <a:solidFill>
                  <a:srgbClr val="333333"/>
                </a:solidFill>
                <a:latin typeface="Calibri" pitchFamily="34" charset="0"/>
                <a:ea typeface="Calibri" pitchFamily="34" charset="-122"/>
                <a:cs typeface="Calibri" pitchFamily="34" charset="-120"/>
              </a:rPr>
              <a:t>Scalability: </a:t>
            </a:r>
            <a:endParaRPr lang="en-US" sz="1100" dirty="0"/>
          </a:p>
        </p:txBody>
      </p:sp>
      <p:sp>
        <p:nvSpPr>
          <p:cNvPr id="27" name="Text 25"/>
          <p:cNvSpPr/>
          <p:nvPr/>
        </p:nvSpPr>
        <p:spPr>
          <a:xfrm>
            <a:off x="4937760" y="3703320"/>
            <a:ext cx="3749040" cy="219456"/>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Easy to add new zones and roles</a:t>
            </a:r>
            <a:endParaRPr lang="en-US" sz="10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Row Access Policies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14</a:t>
            </a:r>
            <a:endParaRPr lang="en-US" sz="1000" dirty="0"/>
          </a:p>
        </p:txBody>
      </p:sp>
      <p:sp>
        <p:nvSpPr>
          <p:cNvPr id="7" name="Text 5"/>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66666"/>
                </a:solidFill>
                <a:latin typeface="Calibri Light" pitchFamily="34" charset="0"/>
                <a:ea typeface="Calibri Light" pitchFamily="34" charset="-122"/>
                <a:cs typeface="Calibri Light" pitchFamily="34" charset="-120"/>
              </a:rPr>
              <a:t>Protecting sensitive data while enabling FinOps visibility</a:t>
            </a:r>
            <a:endParaRPr lang="en-US" sz="1400" dirty="0"/>
          </a:p>
        </p:txBody>
      </p:sp>
      <p:sp>
        <p:nvSpPr>
          <p:cNvPr id="8" name="Text 6"/>
          <p:cNvSpPr/>
          <p:nvPr/>
        </p:nvSpPr>
        <p:spPr>
          <a:xfrm>
            <a:off x="457200" y="1280160"/>
            <a:ext cx="3931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Row Access Policy (RAP) Implementation</a:t>
            </a:r>
            <a:endParaRPr lang="en-US" sz="1600" dirty="0"/>
          </a:p>
        </p:txBody>
      </p:sp>
      <p:sp>
        <p:nvSpPr>
          <p:cNvPr id="9" name="Text 7"/>
          <p:cNvSpPr/>
          <p:nvPr/>
        </p:nvSpPr>
        <p:spPr>
          <a:xfrm>
            <a:off x="457200" y="1600200"/>
            <a:ext cx="3931920" cy="2194560"/>
          </a:xfrm>
          <a:prstGeom prst="rect">
            <a:avLst/>
          </a:prstGeom>
          <a:noFill/>
          <a:ln/>
        </p:spPr>
        <p:txBody>
          <a:bodyPr wrap="square" rtlCol="0" anchor="t"/>
          <a:lstStyle/>
          <a:p>
            <a:pPr indent="0" marL="0">
              <a:buNone/>
            </a:pPr>
            <a:r>
              <a:rPr lang="en-US" sz="1400" b="1" dirty="0">
                <a:solidFill>
                  <a:srgbClr val="333333"/>
                </a:solidFill>
                <a:latin typeface="Calibri Light" pitchFamily="34" charset="0"/>
                <a:ea typeface="Calibri Light" pitchFamily="34" charset="-122"/>
                <a:cs typeface="Calibri Light" pitchFamily="34" charset="-120"/>
              </a:rPr>
              <a:t>Policy Mechanism</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Policy Name: zone_data_policy</a:t>
            </a:r>
            <a:endParaRPr lang="en-US" sz="1100" dirty="0"/>
          </a:p>
          <a:p>
            <a:pPr indent="0" marL="0">
              <a:buNone/>
            </a:pPr>
            <a:r>
              <a:rPr lang="en-US" sz="1100" b="1" dirty="0">
                <a:solidFill>
                  <a:srgbClr val="333333"/>
                </a:solidFill>
                <a:latin typeface="Calibri Light" pitchFamily="34" charset="0"/>
                <a:ea typeface="Calibri Light" pitchFamily="34" charset="-122"/>
                <a:cs typeface="Calibri Light" pitchFamily="34" charset="-120"/>
              </a:rPr>
              <a:t>How it works: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Filters rows based on 'zone' column</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Evaluates CURRENT_ROLE() function</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Uses REGEXP pattern matching</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Checks IS_ROLE_IN_SESSION() for secondary roles</a:t>
            </a:r>
            <a:endParaRPr lang="en-US" sz="1100" dirty="0"/>
          </a:p>
          <a:p>
            <a:pPr indent="0" marL="0">
              <a:buNone/>
            </a:pPr>
            <a:r>
              <a:rPr lang="en-US" sz="1100" b="1" dirty="0">
                <a:solidFill>
                  <a:srgbClr val="333333"/>
                </a:solidFill>
                <a:latin typeface="Calibri Light" pitchFamily="34" charset="0"/>
                <a:ea typeface="Calibri Light" pitchFamily="34" charset="-122"/>
                <a:cs typeface="Calibri Light" pitchFamily="34" charset="-120"/>
              </a:rPr>
              <a:t>Result:</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Returns TRUE: User sees the row</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Returns FALSE: Row is hidden from user</a:t>
            </a:r>
            <a:endParaRPr lang="en-US" sz="1100" dirty="0"/>
          </a:p>
        </p:txBody>
      </p:sp>
      <p:sp>
        <p:nvSpPr>
          <p:cNvPr id="10" name="Text 8"/>
          <p:cNvSpPr/>
          <p:nvPr/>
        </p:nvSpPr>
        <p:spPr>
          <a:xfrm>
            <a:off x="4754880" y="1280160"/>
            <a:ext cx="393192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Security Benefits</a:t>
            </a:r>
            <a:endParaRPr lang="en-US" sz="1600" dirty="0"/>
          </a:p>
        </p:txBody>
      </p:sp>
      <p:sp>
        <p:nvSpPr>
          <p:cNvPr id="11" name="Text 9"/>
          <p:cNvSpPr/>
          <p:nvPr/>
        </p:nvSpPr>
        <p:spPr>
          <a:xfrm>
            <a:off x="4754880" y="1600200"/>
            <a:ext cx="3931920" cy="2194560"/>
          </a:xfrm>
          <a:prstGeom prst="rect">
            <a:avLst/>
          </a:prstGeom>
          <a:noFill/>
          <a:ln/>
        </p:spPr>
        <p:txBody>
          <a:bodyPr wrap="square" rtlCol="0" anchor="t"/>
          <a:lstStyle/>
          <a:p>
            <a:pPr indent="0" marL="0">
              <a:buNone/>
            </a:pPr>
            <a:r>
              <a:rPr lang="en-US" sz="1200" b="1" dirty="0">
                <a:solidFill>
                  <a:srgbClr val="333333"/>
                </a:solidFill>
                <a:latin typeface="Calibri Light" pitchFamily="34" charset="0"/>
                <a:ea typeface="Calibri Light" pitchFamily="34" charset="-122"/>
                <a:cs typeface="Calibri Light" pitchFamily="34" charset="-120"/>
              </a:rPr>
              <a:t>Zone-based Segregation:</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CUST zone users see only CUST data</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PTP zone users see only PTP data</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LOANS zone users see only LOANS data</a:t>
            </a:r>
            <a:endParaRPr lang="en-US" sz="1100" dirty="0"/>
          </a:p>
          <a:p>
            <a:pPr indent="0" marL="0">
              <a:buNone/>
            </a:pPr>
            <a:r>
              <a:rPr lang="en-US" sz="1200" b="1" dirty="0">
                <a:solidFill>
                  <a:srgbClr val="333333"/>
                </a:solidFill>
                <a:latin typeface="Calibri Light" pitchFamily="34" charset="0"/>
                <a:ea typeface="Calibri Light" pitchFamily="34" charset="-122"/>
                <a:cs typeface="Calibri Light" pitchFamily="34" charset="-120"/>
              </a:rPr>
              <a:t>Platform Team Access:</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PLATFRM roles see all zones (multi-zone)</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Required for comprehensive FinOps oversight</a:t>
            </a:r>
            <a:endParaRPr lang="en-US" sz="1100" dirty="0"/>
          </a:p>
          <a:p>
            <a:pPr indent="0" marL="0">
              <a:buNone/>
            </a:pPr>
            <a:r>
              <a:rPr lang="en-US" sz="1200" b="1" dirty="0">
                <a:solidFill>
                  <a:srgbClr val="333333"/>
                </a:solidFill>
                <a:latin typeface="Calibri Light" pitchFamily="34" charset="0"/>
                <a:ea typeface="Calibri Light" pitchFamily="34" charset="-122"/>
                <a:cs typeface="Calibri Light" pitchFamily="34" charset="-120"/>
              </a:rPr>
              <a:t>Performance:</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Negligible performance overhead</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No lookup tables required</a:t>
            </a:r>
            <a:endParaRPr lang="en-US" sz="1100" dirty="0"/>
          </a:p>
          <a:p>
            <a:pPr indent="0" marL="0">
              <a:buNone/>
            </a:pPr>
            <a:r>
              <a:rPr lang="en-US" sz="1100" dirty="0">
                <a:solidFill>
                  <a:srgbClr val="333333"/>
                </a:solidFill>
                <a:latin typeface="Calibri Light" pitchFamily="34" charset="0"/>
                <a:ea typeface="Calibri Light" pitchFamily="34" charset="-122"/>
                <a:cs typeface="Calibri Light" pitchFamily="34" charset="-120"/>
              </a:rPr>
              <a:t>• Native Snowflake feature</a:t>
            </a:r>
            <a:endParaRPr lang="en-US" sz="11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Designing Row Access Policy - Implementation</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15</a:t>
            </a:r>
            <a:endParaRPr lang="en-US" sz="1000" dirty="0"/>
          </a:p>
        </p:txBody>
      </p:sp>
      <p:sp>
        <p:nvSpPr>
          <p:cNvPr id="7" name="Text 5"/>
          <p:cNvSpPr/>
          <p:nvPr/>
        </p:nvSpPr>
        <p:spPr>
          <a:xfrm>
            <a:off x="457200" y="1005840"/>
            <a:ext cx="8229600" cy="32004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Authorization Matrix</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834640"/>
        </p:xfrm>
        <a:graphic>
          <a:graphicData uri="http://schemas.openxmlformats.org/drawingml/2006/table">
            <a:tbl>
              <a:tblPr/>
              <a:tblGrid>
                <a:gridCol w="2560320"/>
                <a:gridCol w="1417320"/>
                <a:gridCol w="1417320"/>
                <a:gridCol w="1417320"/>
                <a:gridCol w="1417320"/>
              </a:tblGrid>
              <a:tr h="411480">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User Role</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Zone-CUST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Zone-PTP</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Zone-LOANS</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All Zones</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ACCOUNTADMIN</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SYSADMIN</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BDH_SF_FR_PLATFRM_PREPROD_SUPPORTADMIN</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BDH_SF_FR_LOANS_DEV_SUPPORTADMIN</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BDH_SF_FR_PTP_DEV_SUPPORT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BDH_SF_FR_CUST_DEV_SUPPORTADMIN</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333333"/>
                          </a:solidFill>
                          <a:latin typeface="Calibri Light" pitchFamily="34" charset="0"/>
                          <a:ea typeface="Calibri Light" pitchFamily="34" charset="-122"/>
                          <a:cs typeface="Calibri Light" pitchFamily="34" charset="-120"/>
                        </a:rPr>
                        <a:t>Unmapped Role</a:t>
                      </a: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pPr indent="0" marL="0">
                        <a:buNone/>
                      </a:pPr>
                      <a:endParaRPr lang="en-US" sz="1000" dirty="0">
                        <a:latin typeface="Calibri Light" charset="0"/>
                        <a:ea typeface="Calibri Light" charset="0"/>
                        <a:cs typeface="Calibri Light" charset="0"/>
                      </a:endParaRPr>
                    </a:p>
                  </a:txBody>
                  <a:tcPr marL="91440" marR="91440" marT="45720" marB="4572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r>
            </a:tbl>
          </a:graphicData>
        </a:graphic>
      </p:graphicFrame>
      <p:sp>
        <p:nvSpPr>
          <p:cNvPr id="9" name="Shape 6"/>
          <p:cNvSpPr/>
          <p:nvPr/>
        </p:nvSpPr>
        <p:spPr>
          <a:xfrm>
            <a:off x="457200" y="1463040"/>
            <a:ext cx="2560320" cy="411480"/>
          </a:xfrm>
          <a:prstGeom prst="rect">
            <a:avLst/>
          </a:prstGeom>
          <a:solidFill>
            <a:srgbClr val="0066CC"/>
          </a:solidFill>
          <a:ln/>
        </p:spPr>
      </p:sp>
      <p:sp>
        <p:nvSpPr>
          <p:cNvPr id="10" name="Shape 7"/>
          <p:cNvSpPr/>
          <p:nvPr/>
        </p:nvSpPr>
        <p:spPr>
          <a:xfrm>
            <a:off x="3017520" y="1463040"/>
            <a:ext cx="1417320" cy="411480"/>
          </a:xfrm>
          <a:prstGeom prst="rect">
            <a:avLst/>
          </a:prstGeom>
          <a:solidFill>
            <a:srgbClr val="0066CC"/>
          </a:solidFill>
          <a:ln/>
        </p:spPr>
      </p:sp>
      <p:sp>
        <p:nvSpPr>
          <p:cNvPr id="11" name="Shape 8"/>
          <p:cNvSpPr/>
          <p:nvPr/>
        </p:nvSpPr>
        <p:spPr>
          <a:xfrm>
            <a:off x="4434840" y="1463040"/>
            <a:ext cx="1417320" cy="411480"/>
          </a:xfrm>
          <a:prstGeom prst="rect">
            <a:avLst/>
          </a:prstGeom>
          <a:solidFill>
            <a:srgbClr val="0066CC"/>
          </a:solidFill>
          <a:ln/>
        </p:spPr>
      </p:sp>
      <p:sp>
        <p:nvSpPr>
          <p:cNvPr id="12" name="Shape 9"/>
          <p:cNvSpPr/>
          <p:nvPr/>
        </p:nvSpPr>
        <p:spPr>
          <a:xfrm>
            <a:off x="5852160" y="1463040"/>
            <a:ext cx="1417320" cy="411480"/>
          </a:xfrm>
          <a:prstGeom prst="rect">
            <a:avLst/>
          </a:prstGeom>
          <a:solidFill>
            <a:srgbClr val="0066CC"/>
          </a:solidFill>
          <a:ln/>
        </p:spPr>
      </p:sp>
      <p:sp>
        <p:nvSpPr>
          <p:cNvPr id="13" name="Shape 10"/>
          <p:cNvSpPr/>
          <p:nvPr/>
        </p:nvSpPr>
        <p:spPr>
          <a:xfrm>
            <a:off x="7269480" y="1463040"/>
            <a:ext cx="1417320" cy="411480"/>
          </a:xfrm>
          <a:prstGeom prst="rect">
            <a:avLst/>
          </a:prstGeom>
          <a:solidFill>
            <a:srgbClr val="0066CC"/>
          </a:solidFill>
          <a:ln/>
        </p:spPr>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Dashboard Sharing &amp; Access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16</a:t>
            </a:r>
            <a:endParaRPr lang="en-US" sz="1000" dirty="0"/>
          </a:p>
        </p:txBody>
      </p:sp>
      <p:sp>
        <p:nvSpPr>
          <p:cNvPr id="7" name="Text 5"/>
          <p:cNvSpPr/>
          <p:nvPr/>
        </p:nvSpPr>
        <p:spPr>
          <a:xfrm>
            <a:off x="457200" y="868680"/>
            <a:ext cx="8229600" cy="274320"/>
          </a:xfrm>
          <a:prstGeom prst="rect">
            <a:avLst/>
          </a:prstGeom>
          <a:noFill/>
          <a:ln/>
        </p:spPr>
        <p:txBody>
          <a:bodyPr wrap="square" rtlCol="0" anchor="ctr"/>
          <a:lstStyle/>
          <a:p>
            <a:pPr indent="0" marL="0">
              <a:buNone/>
            </a:pPr>
            <a:r>
              <a:rPr lang="en-US" sz="1400" i="1" dirty="0">
                <a:solidFill>
                  <a:srgbClr val="666666"/>
                </a:solidFill>
                <a:latin typeface="Calibri Light" pitchFamily="34" charset="0"/>
                <a:ea typeface="Calibri Light" pitchFamily="34" charset="-122"/>
                <a:cs typeface="Calibri Light" pitchFamily="34" charset="-120"/>
              </a:rPr>
              <a:t>How to access and share the FinOps dashboard</a:t>
            </a:r>
            <a:endParaRPr lang="en-US" sz="1400" dirty="0"/>
          </a:p>
        </p:txBody>
      </p:sp>
      <p:sp>
        <p:nvSpPr>
          <p:cNvPr id="8" name="Text 6"/>
          <p:cNvSpPr/>
          <p:nvPr/>
        </p:nvSpPr>
        <p:spPr>
          <a:xfrm>
            <a:off x="457200" y="1371600"/>
            <a:ext cx="8229600" cy="27432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Access Requirements</a:t>
            </a:r>
            <a:endParaRPr lang="en-US" sz="1800" dirty="0"/>
          </a:p>
        </p:txBody>
      </p:sp>
      <p:sp>
        <p:nvSpPr>
          <p:cNvPr id="9" name="Shape 7"/>
          <p:cNvSpPr/>
          <p:nvPr/>
        </p:nvSpPr>
        <p:spPr>
          <a:xfrm>
            <a:off x="457200" y="1737360"/>
            <a:ext cx="8229600" cy="640080"/>
          </a:xfrm>
          <a:prstGeom prst="rect">
            <a:avLst/>
          </a:prstGeom>
          <a:solidFill>
            <a:srgbClr val="F5F5F5"/>
          </a:solidFill>
          <a:ln/>
        </p:spPr>
      </p:sp>
      <p:sp>
        <p:nvSpPr>
          <p:cNvPr id="10" name="Text 8"/>
          <p:cNvSpPr/>
          <p:nvPr/>
        </p:nvSpPr>
        <p:spPr>
          <a:xfrm>
            <a:off x="640080" y="1874520"/>
            <a:ext cx="7863840" cy="411480"/>
          </a:xfrm>
          <a:prstGeom prst="rect">
            <a:avLst/>
          </a:prstGeom>
          <a:noFill/>
          <a:ln/>
        </p:spPr>
        <p:txBody>
          <a:bodyPr wrap="square" rtlCol="0" anchor="ctr"/>
          <a:lstStyle/>
          <a:p>
            <a:pPr indent="0" marL="0">
              <a:buNone/>
            </a:pPr>
            <a:r>
              <a:rPr lang="en-US" sz="1200" b="1" dirty="0">
                <a:solidFill>
                  <a:srgbClr val="333333"/>
                </a:solidFill>
                <a:latin typeface="Calibri Light" pitchFamily="34" charset="0"/>
                <a:ea typeface="Calibri Light" pitchFamily="34" charset="-122"/>
                <a:cs typeface="Calibri Light" pitchFamily="34" charset="-120"/>
              </a:rPr>
              <a:t>Required AD Group: </a:t>
            </a:r>
            <a:pPr indent="0" marL="0">
              <a:buNone/>
            </a:pPr>
            <a:r>
              <a:rPr lang="en-US" sz="1200" dirty="0">
                <a:solidFill>
                  <a:srgbClr val="0066CC"/>
                </a:solidFill>
                <a:latin typeface="Calibri Light" pitchFamily="34" charset="0"/>
                <a:ea typeface="Calibri Light" pitchFamily="34" charset="-122"/>
                <a:cs typeface="Calibri Light" pitchFamily="34" charset="-120"/>
              </a:rPr>
              <a:t>A_BDH_sf_fg_plat_dev_developer</a:t>
            </a:r>
            <a:endParaRPr lang="en-US" sz="1200" dirty="0"/>
          </a:p>
          <a:p>
            <a:pPr indent="0" marL="0">
              <a:buNone/>
            </a:pPr>
            <a:r>
              <a:rPr lang="en-US" sz="1200" b="1" dirty="0">
                <a:solidFill>
                  <a:srgbClr val="333333"/>
                </a:solidFill>
                <a:latin typeface="Calibri Light" pitchFamily="34" charset="0"/>
                <a:ea typeface="Calibri Light" pitchFamily="34" charset="-122"/>
                <a:cs typeface="Calibri Light" pitchFamily="34" charset="-120"/>
              </a:rPr>
              <a:t>Dashboard Location: </a:t>
            </a:r>
            <a:pPr indent="0" marL="0">
              <a:buNone/>
            </a:pPr>
            <a:r>
              <a:rPr lang="en-US" sz="1200" dirty="0">
                <a:solidFill>
                  <a:srgbClr val="333333"/>
                </a:solidFill>
                <a:latin typeface="Calibri Light" pitchFamily="34" charset="0"/>
                <a:ea typeface="Calibri Light" pitchFamily="34" charset="-122"/>
                <a:cs typeface="Calibri Light" pitchFamily="34" charset="-120"/>
              </a:rPr>
              <a:t>Snowflake account → Dashboards → Finops-Dashboard</a:t>
            </a:r>
            <a:endParaRPr lang="en-US" sz="1200" dirty="0"/>
          </a:p>
        </p:txBody>
      </p:sp>
      <p:sp>
        <p:nvSpPr>
          <p:cNvPr id="11" name="Text 9"/>
          <p:cNvSpPr/>
          <p:nvPr/>
        </p:nvSpPr>
        <p:spPr>
          <a:xfrm>
            <a:off x="457200" y="2560320"/>
            <a:ext cx="8229600" cy="27432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Direct URL Sharing</a:t>
            </a:r>
            <a:endParaRPr lang="en-US" sz="1800" dirty="0"/>
          </a:p>
        </p:txBody>
      </p:sp>
      <p:sp>
        <p:nvSpPr>
          <p:cNvPr id="12" name="Text 10"/>
          <p:cNvSpPr/>
          <p:nvPr/>
        </p:nvSpPr>
        <p:spPr>
          <a:xfrm>
            <a:off x="457200" y="2926080"/>
            <a:ext cx="274320"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Shape 11"/>
          <p:cNvSpPr/>
          <p:nvPr/>
        </p:nvSpPr>
        <p:spPr>
          <a:xfrm>
            <a:off x="457200" y="2926080"/>
            <a:ext cx="274320" cy="274320"/>
          </a:xfrm>
          <a:prstGeom prst="ellipse">
            <a:avLst/>
          </a:prstGeom>
          <a:solidFill>
            <a:srgbClr val="FF9500"/>
          </a:solidFill>
          <a:ln/>
        </p:spPr>
      </p:sp>
      <p:sp>
        <p:nvSpPr>
          <p:cNvPr id="14" name="Text 12"/>
          <p:cNvSpPr/>
          <p:nvPr/>
        </p:nvSpPr>
        <p:spPr>
          <a:xfrm>
            <a:off x="822960" y="2953512"/>
            <a:ext cx="7863840" cy="228600"/>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Copy dashboard URL: Finops-Dashboard - Snowflake</a:t>
            </a:r>
            <a:endParaRPr lang="en-US" sz="1200" dirty="0"/>
          </a:p>
        </p:txBody>
      </p:sp>
      <p:sp>
        <p:nvSpPr>
          <p:cNvPr id="15" name="Text 13"/>
          <p:cNvSpPr/>
          <p:nvPr/>
        </p:nvSpPr>
        <p:spPr>
          <a:xfrm>
            <a:off x="457200" y="3291840"/>
            <a:ext cx="274320"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4"/>
          <p:cNvSpPr/>
          <p:nvPr/>
        </p:nvSpPr>
        <p:spPr>
          <a:xfrm>
            <a:off x="457200" y="3291840"/>
            <a:ext cx="274320" cy="274320"/>
          </a:xfrm>
          <a:prstGeom prst="ellipse">
            <a:avLst/>
          </a:prstGeom>
          <a:solidFill>
            <a:srgbClr val="FF9500"/>
          </a:solidFill>
          <a:ln/>
        </p:spPr>
      </p:sp>
      <p:sp>
        <p:nvSpPr>
          <p:cNvPr id="17" name="Text 15"/>
          <p:cNvSpPr/>
          <p:nvPr/>
        </p:nvSpPr>
        <p:spPr>
          <a:xfrm>
            <a:off x="822960" y="3319272"/>
            <a:ext cx="7863840" cy="228600"/>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Share via email (e.g., user_name@bnz.co.nz)</a:t>
            </a:r>
            <a:endParaRPr lang="en-US" sz="1200" dirty="0"/>
          </a:p>
        </p:txBody>
      </p:sp>
      <p:sp>
        <p:nvSpPr>
          <p:cNvPr id="18" name="Text 16"/>
          <p:cNvSpPr/>
          <p:nvPr/>
        </p:nvSpPr>
        <p:spPr>
          <a:xfrm>
            <a:off x="457200" y="3657600"/>
            <a:ext cx="274320"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Shape 17"/>
          <p:cNvSpPr/>
          <p:nvPr/>
        </p:nvSpPr>
        <p:spPr>
          <a:xfrm>
            <a:off x="457200" y="3657600"/>
            <a:ext cx="274320" cy="274320"/>
          </a:xfrm>
          <a:prstGeom prst="ellipse">
            <a:avLst/>
          </a:prstGeom>
          <a:solidFill>
            <a:srgbClr val="FF9500"/>
          </a:solidFill>
          <a:ln/>
        </p:spPr>
      </p:sp>
      <p:sp>
        <p:nvSpPr>
          <p:cNvPr id="20" name="Text 18"/>
          <p:cNvSpPr/>
          <p:nvPr/>
        </p:nvSpPr>
        <p:spPr>
          <a:xfrm>
            <a:off x="822960" y="3685032"/>
            <a:ext cx="7863840" cy="228600"/>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Recipient needs proper AD group access</a:t>
            </a:r>
            <a:endParaRPr lang="en-US" sz="1200" dirty="0"/>
          </a:p>
        </p:txBody>
      </p:sp>
      <p:sp>
        <p:nvSpPr>
          <p:cNvPr id="21" name="Text 19"/>
          <p:cNvSpPr/>
          <p:nvPr/>
        </p:nvSpPr>
        <p:spPr>
          <a:xfrm>
            <a:off x="457200" y="4023360"/>
            <a:ext cx="274320" cy="2743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457200" y="4023360"/>
            <a:ext cx="274320" cy="274320"/>
          </a:xfrm>
          <a:prstGeom prst="ellipse">
            <a:avLst/>
          </a:prstGeom>
          <a:solidFill>
            <a:srgbClr val="FF9500"/>
          </a:solidFill>
          <a:ln/>
        </p:spPr>
      </p:sp>
      <p:sp>
        <p:nvSpPr>
          <p:cNvPr id="23" name="Text 21"/>
          <p:cNvSpPr/>
          <p:nvPr/>
        </p:nvSpPr>
        <p:spPr>
          <a:xfrm>
            <a:off x="822960" y="4050792"/>
            <a:ext cx="7863840" cy="228600"/>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Recipient needs Snowflake login</a:t>
            </a:r>
            <a:endParaRPr lang="en-US" sz="12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Ongoing Maintenance &amp; Support</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17</a:t>
            </a:r>
            <a:endParaRPr lang="en-US" sz="1000" dirty="0"/>
          </a:p>
        </p:txBody>
      </p:sp>
      <p:sp>
        <p:nvSpPr>
          <p:cNvPr id="7" name="Text 5"/>
          <p:cNvSpPr/>
          <p:nvPr/>
        </p:nvSpPr>
        <p:spPr>
          <a:xfrm>
            <a:off x="457200" y="118872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User access management</a:t>
            </a:r>
            <a:endParaRPr lang="en-US" sz="1600" dirty="0"/>
          </a:p>
        </p:txBody>
      </p:sp>
      <p:sp>
        <p:nvSpPr>
          <p:cNvPr id="8" name="Text 6"/>
          <p:cNvSpPr/>
          <p:nvPr/>
        </p:nvSpPr>
        <p:spPr>
          <a:xfrm>
            <a:off x="457200" y="1508760"/>
            <a:ext cx="8229600" cy="457200"/>
          </a:xfrm>
          <a:prstGeom prst="rect">
            <a:avLst/>
          </a:prstGeom>
          <a:noFill/>
          <a:ln/>
        </p:spPr>
        <p:txBody>
          <a:bodyPr wrap="square" rtlCol="0" anchor="t"/>
          <a:lstStyle/>
          <a:p>
            <a:pPr indent="0" marL="0">
              <a:buNone/>
            </a:pPr>
            <a:r>
              <a:rPr lang="en-US" sz="1300" dirty="0">
                <a:solidFill>
                  <a:srgbClr val="333333"/>
                </a:solidFill>
                <a:latin typeface="Calibri Light" pitchFamily="34" charset="0"/>
                <a:ea typeface="Calibri Light" pitchFamily="34" charset="-122"/>
                <a:cs typeface="Calibri Light" pitchFamily="34" charset="-120"/>
              </a:rPr>
              <a:t>New zone Support Admin roles access by providing database (PLATFORM__AUDIT__PREPROD) and schema (FINOPS_CURATED) access to enable FinOps dashboard access.</a:t>
            </a:r>
            <a:endParaRPr lang="en-US" sz="1300" dirty="0"/>
          </a:p>
        </p:txBody>
      </p:sp>
      <p:sp>
        <p:nvSpPr>
          <p:cNvPr id="9" name="Text 7"/>
          <p:cNvSpPr/>
          <p:nvPr/>
        </p:nvSpPr>
        <p:spPr>
          <a:xfrm>
            <a:off x="457200" y="214884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Dashboard Customization:</a:t>
            </a:r>
            <a:endParaRPr lang="en-US" sz="1600" dirty="0"/>
          </a:p>
        </p:txBody>
      </p:sp>
      <p:sp>
        <p:nvSpPr>
          <p:cNvPr id="10" name="Text 8"/>
          <p:cNvSpPr/>
          <p:nvPr/>
        </p:nvSpPr>
        <p:spPr>
          <a:xfrm>
            <a:off x="457200" y="2468880"/>
            <a:ext cx="8229600" cy="457200"/>
          </a:xfrm>
          <a:prstGeom prst="rect">
            <a:avLst/>
          </a:prstGeom>
          <a:noFill/>
          <a:ln/>
        </p:spPr>
        <p:txBody>
          <a:bodyPr wrap="square" rtlCol="0" anchor="t"/>
          <a:lstStyle/>
          <a:p>
            <a:pPr indent="0" marL="0">
              <a:buNone/>
            </a:pPr>
            <a:r>
              <a:rPr lang="en-US" sz="1300" dirty="0">
                <a:solidFill>
                  <a:srgbClr val="333333"/>
                </a:solidFill>
                <a:latin typeface="Calibri Light" pitchFamily="34" charset="0"/>
                <a:ea typeface="Calibri Light" pitchFamily="34" charset="-122"/>
                <a:cs typeface="Calibri Light" pitchFamily="34" charset="-120"/>
              </a:rPr>
              <a:t>Duplicate the dashboard to enable zone teams to create and edit customized versions while preserving the original centralized dashboard.</a:t>
            </a:r>
            <a:endParaRPr lang="en-US" sz="13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Best Practices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18</a:t>
            </a:r>
            <a:endParaRPr lang="en-US" sz="1000" dirty="0"/>
          </a:p>
        </p:txBody>
      </p:sp>
      <p:sp>
        <p:nvSpPr>
          <p:cNvPr id="7" name="Text 5"/>
          <p:cNvSpPr/>
          <p:nvPr/>
        </p:nvSpPr>
        <p:spPr>
          <a:xfrm>
            <a:off x="457200" y="1097280"/>
            <a:ext cx="8229600" cy="274320"/>
          </a:xfrm>
          <a:prstGeom prst="rect">
            <a:avLst/>
          </a:prstGeom>
          <a:noFill/>
          <a:ln/>
        </p:spPr>
        <p:txBody>
          <a:bodyPr wrap="square" rtlCol="0" anchor="ctr"/>
          <a:lstStyle/>
          <a:p>
            <a:pPr indent="0" marL="0">
              <a:buNone/>
            </a:pPr>
            <a:r>
              <a:rPr lang="en-US" sz="1800" b="1" dirty="0">
                <a:solidFill>
                  <a:srgbClr val="003C77"/>
                </a:solidFill>
                <a:latin typeface="Calibri" pitchFamily="34" charset="0"/>
                <a:ea typeface="Calibri" pitchFamily="34" charset="-122"/>
                <a:cs typeface="Calibri" pitchFamily="34" charset="-120"/>
              </a:rPr>
              <a:t>Implementation Best Practices</a:t>
            </a:r>
            <a:endParaRPr lang="en-US" sz="1800" dirty="0"/>
          </a:p>
        </p:txBody>
      </p:sp>
      <p:sp>
        <p:nvSpPr>
          <p:cNvPr id="8" name="Text 6"/>
          <p:cNvSpPr/>
          <p:nvPr/>
        </p:nvSpPr>
        <p:spPr>
          <a:xfrm>
            <a:off x="457200" y="1463040"/>
            <a:ext cx="8229600" cy="640080"/>
          </a:xfrm>
          <a:prstGeom prst="rect">
            <a:avLst/>
          </a:prstGeom>
          <a:noFill/>
          <a:ln/>
        </p:spPr>
        <p:txBody>
          <a:bodyPr wrap="square" rtlCol="0" anchor="t"/>
          <a:lstStyle/>
          <a:p>
            <a:pPr algn="l" indent="0" marL="0">
              <a:buNone/>
            </a:pPr>
            <a:r>
              <a:rPr lang="en-US" sz="1300" dirty="0">
                <a:solidFill>
                  <a:srgbClr val="333333"/>
                </a:solidFill>
                <a:latin typeface="Calibri Light" pitchFamily="34" charset="0"/>
                <a:ea typeface="Calibri Light" pitchFamily="34" charset="-122"/>
                <a:cs typeface="Calibri Light" pitchFamily="34" charset="-120"/>
              </a:rPr>
              <a:t>The solution now gives clear visibility into Snowflake costs, helps teams take ownership of their usage, and puts controls in place to manage spending. Teams can make better decisions using real data, while access remains secure and privacy-compliant.</a:t>
            </a:r>
            <a:endParaRPr lang="en-US" sz="1300" dirty="0"/>
          </a:p>
        </p:txBody>
      </p:sp>
      <p:sp>
        <p:nvSpPr>
          <p:cNvPr id="9" name="Text 7"/>
          <p:cNvSpPr/>
          <p:nvPr/>
        </p:nvSpPr>
        <p:spPr>
          <a:xfrm>
            <a:off x="457200" y="2286000"/>
            <a:ext cx="8229600" cy="274320"/>
          </a:xfrm>
          <a:prstGeom prst="rect">
            <a:avLst/>
          </a:prstGeom>
          <a:noFill/>
          <a:ln/>
        </p:spPr>
        <p:txBody>
          <a:bodyPr wrap="square" rtlCol="0" anchor="ctr"/>
          <a:lstStyle/>
          <a:p>
            <a:pPr indent="0" marL="0">
              <a:buNone/>
            </a:pPr>
            <a:r>
              <a:rPr lang="en-US" sz="1600" b="1" dirty="0">
                <a:solidFill>
                  <a:srgbClr val="003C77"/>
                </a:solidFill>
                <a:latin typeface="Calibri" pitchFamily="34" charset="0"/>
                <a:ea typeface="Calibri" pitchFamily="34" charset="-122"/>
                <a:cs typeface="Calibri" pitchFamily="34" charset="-120"/>
              </a:rPr>
              <a:t>Reference Links</a:t>
            </a:r>
            <a:endParaRPr lang="en-US" sz="1600" dirty="0"/>
          </a:p>
        </p:txBody>
      </p:sp>
      <p:sp>
        <p:nvSpPr>
          <p:cNvPr id="10" name="Shape 8"/>
          <p:cNvSpPr/>
          <p:nvPr/>
        </p:nvSpPr>
        <p:spPr>
          <a:xfrm>
            <a:off x="457200" y="2651760"/>
            <a:ext cx="8229600" cy="365760"/>
          </a:xfrm>
          <a:prstGeom prst="rect">
            <a:avLst/>
          </a:prstGeom>
          <a:solidFill>
            <a:srgbClr val="F5F5F5"/>
          </a:solidFill>
          <a:ln/>
        </p:spPr>
      </p:sp>
      <p:sp>
        <p:nvSpPr>
          <p:cNvPr id="11" name="Text 9"/>
          <p:cNvSpPr/>
          <p:nvPr/>
        </p:nvSpPr>
        <p:spPr>
          <a:xfrm>
            <a:off x="640080" y="2724912"/>
            <a:ext cx="7863840" cy="228600"/>
          </a:xfrm>
          <a:prstGeom prst="rect">
            <a:avLst/>
          </a:prstGeom>
          <a:noFill/>
          <a:ln/>
        </p:spPr>
        <p:txBody>
          <a:bodyPr wrap="square" rtlCol="0" anchor="ctr"/>
          <a:lstStyle/>
          <a:p>
            <a:pPr indent="0" marL="0">
              <a:buNone/>
            </a:pPr>
            <a:r>
              <a:rPr lang="en-US" sz="1200" dirty="0">
                <a:solidFill>
                  <a:srgbClr val="0066CC"/>
                </a:solidFill>
                <a:latin typeface="Calibri Light" pitchFamily="34" charset="0"/>
                <a:ea typeface="Calibri Light" pitchFamily="34" charset="-122"/>
                <a:cs typeface="Calibri Light" pitchFamily="34" charset="-120"/>
              </a:rPr>
              <a:t>1. FinOps Design</a:t>
            </a:r>
            <a:endParaRPr lang="en-US" sz="1200" dirty="0"/>
          </a:p>
        </p:txBody>
      </p:sp>
      <p:sp>
        <p:nvSpPr>
          <p:cNvPr id="12" name="Shape 10"/>
          <p:cNvSpPr/>
          <p:nvPr/>
        </p:nvSpPr>
        <p:spPr>
          <a:xfrm>
            <a:off x="457200" y="3108960"/>
            <a:ext cx="8229600" cy="365760"/>
          </a:xfrm>
          <a:prstGeom prst="rect">
            <a:avLst/>
          </a:prstGeom>
          <a:solidFill>
            <a:srgbClr val="F5F5F5"/>
          </a:solidFill>
          <a:ln/>
        </p:spPr>
      </p:sp>
      <p:sp>
        <p:nvSpPr>
          <p:cNvPr id="13" name="Text 11"/>
          <p:cNvSpPr/>
          <p:nvPr/>
        </p:nvSpPr>
        <p:spPr>
          <a:xfrm>
            <a:off x="640080" y="3182112"/>
            <a:ext cx="7863840" cy="228600"/>
          </a:xfrm>
          <a:prstGeom prst="rect">
            <a:avLst/>
          </a:prstGeom>
          <a:noFill/>
          <a:ln/>
        </p:spPr>
        <p:txBody>
          <a:bodyPr wrap="square" rtlCol="0" anchor="ctr"/>
          <a:lstStyle/>
          <a:p>
            <a:pPr indent="0" marL="0">
              <a:buNone/>
            </a:pPr>
            <a:r>
              <a:rPr lang="en-US" sz="1200" dirty="0">
                <a:solidFill>
                  <a:srgbClr val="0066CC"/>
                </a:solidFill>
                <a:latin typeface="Calibri Light" pitchFamily="34" charset="0"/>
                <a:ea typeface="Calibri Light" pitchFamily="34" charset="-122"/>
                <a:cs typeface="Calibri Light" pitchFamily="34" charset="-120"/>
              </a:rPr>
              <a:t>2. Row Access Policy Design Document</a:t>
            </a:r>
            <a:endParaRPr lang="en-US" sz="1200" dirty="0"/>
          </a:p>
        </p:txBody>
      </p:sp>
      <p:sp>
        <p:nvSpPr>
          <p:cNvPr id="14" name="Shape 12"/>
          <p:cNvSpPr/>
          <p:nvPr/>
        </p:nvSpPr>
        <p:spPr>
          <a:xfrm>
            <a:off x="457200" y="3566160"/>
            <a:ext cx="8229600" cy="365760"/>
          </a:xfrm>
          <a:prstGeom prst="rect">
            <a:avLst/>
          </a:prstGeom>
          <a:solidFill>
            <a:srgbClr val="F5F5F5"/>
          </a:solidFill>
          <a:ln/>
        </p:spPr>
      </p:sp>
      <p:sp>
        <p:nvSpPr>
          <p:cNvPr id="15" name="Text 13"/>
          <p:cNvSpPr/>
          <p:nvPr/>
        </p:nvSpPr>
        <p:spPr>
          <a:xfrm>
            <a:off x="640080" y="3639312"/>
            <a:ext cx="7863840" cy="228600"/>
          </a:xfrm>
          <a:prstGeom prst="rect">
            <a:avLst/>
          </a:prstGeom>
          <a:noFill/>
          <a:ln/>
        </p:spPr>
        <p:txBody>
          <a:bodyPr wrap="square" rtlCol="0" anchor="ctr"/>
          <a:lstStyle/>
          <a:p>
            <a:pPr indent="0" marL="0">
              <a:buNone/>
            </a:pPr>
            <a:r>
              <a:rPr lang="en-US" sz="1200" dirty="0">
                <a:solidFill>
                  <a:srgbClr val="0066CC"/>
                </a:solidFill>
                <a:latin typeface="Calibri Light" pitchFamily="34" charset="0"/>
                <a:ea typeface="Calibri Light" pitchFamily="34" charset="-122"/>
                <a:cs typeface="Calibri Light" pitchFamily="34" charset="-120"/>
              </a:rPr>
              <a:t>3. BDH DLD - Audit Logging Mechanism Solution</a:t>
            </a:r>
            <a:endParaRPr lang="en-US" sz="12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731520"/>
          </a:xfrm>
          <a:prstGeom prst="rect">
            <a:avLst/>
          </a:prstGeom>
          <a:solidFill>
            <a:srgbClr val="FFFFFF"/>
          </a:solidFill>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3600" b="1" dirty="0">
                <a:solidFill>
                  <a:srgbClr val="003C77"/>
                </a:solidFill>
                <a:latin typeface="Calibri" pitchFamily="34" charset="0"/>
                <a:ea typeface="Calibri" pitchFamily="34" charset="-122"/>
                <a:cs typeface="Calibri" pitchFamily="34" charset="-120"/>
              </a:rPr>
              <a:t>Conclusions</a:t>
            </a:r>
            <a:endParaRPr lang="en-US" sz="3600" dirty="0"/>
          </a:p>
        </p:txBody>
      </p:sp>
      <p:sp>
        <p:nvSpPr>
          <p:cNvPr id="4" name="Shape 2"/>
          <p:cNvSpPr/>
          <p:nvPr/>
        </p:nvSpPr>
        <p:spPr>
          <a:xfrm>
            <a:off x="457200" y="658368"/>
            <a:ext cx="8229600" cy="36576"/>
          </a:xfrm>
          <a:prstGeom prst="rect">
            <a:avLst/>
          </a:prstGeom>
          <a:solidFill>
            <a:srgbClr val="003C77"/>
          </a:solidFill>
          <a:ln/>
        </p:spPr>
      </p:sp>
      <p:sp>
        <p:nvSpPr>
          <p:cNvPr id="5" name="Text 3"/>
          <p:cNvSpPr/>
          <p:nvPr/>
        </p:nvSpPr>
        <p:spPr>
          <a:xfrm>
            <a:off x="457200" y="1097280"/>
            <a:ext cx="8229600" cy="914400"/>
          </a:xfrm>
          <a:prstGeom prst="rect">
            <a:avLst/>
          </a:prstGeom>
          <a:noFill/>
          <a:ln/>
        </p:spPr>
        <p:txBody>
          <a:bodyPr wrap="square" rtlCol="0" anchor="t"/>
          <a:lstStyle/>
          <a:p>
            <a:pPr algn="l" indent="0" marL="0">
              <a:buNone/>
            </a:pPr>
            <a:r>
              <a:rPr lang="en-US" sz="1400" dirty="0">
                <a:solidFill>
                  <a:srgbClr val="333333"/>
                </a:solidFill>
                <a:latin typeface="Calibri Light" pitchFamily="34" charset="0"/>
                <a:ea typeface="Calibri Light" pitchFamily="34" charset="-122"/>
                <a:cs typeface="Calibri Light" pitchFamily="34" charset="-120"/>
              </a:rPr>
              <a:t>The FinOps implementation successfully balances </a:t>
            </a:r>
            <a:pPr algn="l" indent="0" marL="0">
              <a:buNone/>
            </a:pPr>
            <a:r>
              <a:rPr lang="en-US" sz="1400" b="1" dirty="0">
                <a:solidFill>
                  <a:srgbClr val="333333"/>
                </a:solidFill>
                <a:latin typeface="Calibri Light" pitchFamily="34" charset="0"/>
                <a:ea typeface="Calibri Light" pitchFamily="34" charset="-122"/>
                <a:cs typeface="Calibri Light" pitchFamily="34" charset="-120"/>
              </a:rPr>
              <a:t>cost transparency, security, and operational efficiency</a:t>
            </a:r>
            <a:pPr algn="l" indent="0" marL="0">
              <a:buNone/>
            </a:pPr>
            <a:r>
              <a:rPr lang="en-US" sz="1400" dirty="0">
                <a:solidFill>
                  <a:srgbClr val="333333"/>
                </a:solidFill>
                <a:latin typeface="Calibri Light" pitchFamily="34" charset="0"/>
                <a:ea typeface="Calibri Light" pitchFamily="34" charset="-122"/>
                <a:cs typeface="Calibri Light" pitchFamily="34" charset="-120"/>
              </a:rPr>
              <a:t>, enabling proactive management of Snowflake expenditure. Role-based access ensures privacy without sacrificing insight, while comprehensive dashboards provide actionable metrics. Continued optimization efforts will further enhance performance and cost-effectiveness, securing long-term business value and control.</a:t>
            </a:r>
            <a:endParaRPr lang="en-US" sz="1400" dirty="0"/>
          </a:p>
        </p:txBody>
      </p:sp>
      <p:sp>
        <p:nvSpPr>
          <p:cNvPr id="6" name="Shape 4"/>
          <p:cNvSpPr/>
          <p:nvPr/>
        </p:nvSpPr>
        <p:spPr>
          <a:xfrm>
            <a:off x="457200" y="2359152"/>
            <a:ext cx="109728" cy="109728"/>
          </a:xfrm>
          <a:prstGeom prst="ellipse">
            <a:avLst/>
          </a:prstGeom>
          <a:solidFill>
            <a:srgbClr val="FF9500"/>
          </a:solidFill>
          <a:ln/>
        </p:spPr>
      </p:sp>
      <p:sp>
        <p:nvSpPr>
          <p:cNvPr id="7" name="Text 5"/>
          <p:cNvSpPr/>
          <p:nvPr/>
        </p:nvSpPr>
        <p:spPr>
          <a:xfrm>
            <a:off x="640080" y="2377440"/>
            <a:ext cx="8046720" cy="256032"/>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Balances cost transparency, security, and operational efficiency</a:t>
            </a:r>
            <a:endParaRPr lang="en-US" sz="1200" dirty="0"/>
          </a:p>
        </p:txBody>
      </p:sp>
      <p:sp>
        <p:nvSpPr>
          <p:cNvPr id="8" name="Shape 6"/>
          <p:cNvSpPr/>
          <p:nvPr/>
        </p:nvSpPr>
        <p:spPr>
          <a:xfrm>
            <a:off x="457200" y="2679192"/>
            <a:ext cx="109728" cy="109728"/>
          </a:xfrm>
          <a:prstGeom prst="ellipse">
            <a:avLst/>
          </a:prstGeom>
          <a:solidFill>
            <a:srgbClr val="FF9500"/>
          </a:solidFill>
          <a:ln/>
        </p:spPr>
      </p:sp>
      <p:sp>
        <p:nvSpPr>
          <p:cNvPr id="9" name="Text 7"/>
          <p:cNvSpPr/>
          <p:nvPr/>
        </p:nvSpPr>
        <p:spPr>
          <a:xfrm>
            <a:off x="640080" y="2697480"/>
            <a:ext cx="8046720" cy="256032"/>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Role-based access ensures privacy without sacrificing insight</a:t>
            </a:r>
            <a:endParaRPr lang="en-US" sz="1200" dirty="0"/>
          </a:p>
        </p:txBody>
      </p:sp>
      <p:sp>
        <p:nvSpPr>
          <p:cNvPr id="10" name="Shape 8"/>
          <p:cNvSpPr/>
          <p:nvPr/>
        </p:nvSpPr>
        <p:spPr>
          <a:xfrm>
            <a:off x="457200" y="2999232"/>
            <a:ext cx="109728" cy="109728"/>
          </a:xfrm>
          <a:prstGeom prst="ellipse">
            <a:avLst/>
          </a:prstGeom>
          <a:solidFill>
            <a:srgbClr val="FF9500"/>
          </a:solidFill>
          <a:ln/>
        </p:spPr>
      </p:sp>
      <p:sp>
        <p:nvSpPr>
          <p:cNvPr id="11" name="Text 9"/>
          <p:cNvSpPr/>
          <p:nvPr/>
        </p:nvSpPr>
        <p:spPr>
          <a:xfrm>
            <a:off x="640080" y="3017520"/>
            <a:ext cx="8046720" cy="256032"/>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Dashboards provide actionable metrics for proactive cost management</a:t>
            </a:r>
            <a:endParaRPr lang="en-US" sz="1200" dirty="0"/>
          </a:p>
        </p:txBody>
      </p:sp>
      <p:sp>
        <p:nvSpPr>
          <p:cNvPr id="12" name="Shape 10"/>
          <p:cNvSpPr/>
          <p:nvPr/>
        </p:nvSpPr>
        <p:spPr>
          <a:xfrm>
            <a:off x="457200" y="3319272"/>
            <a:ext cx="109728" cy="109728"/>
          </a:xfrm>
          <a:prstGeom prst="ellipse">
            <a:avLst/>
          </a:prstGeom>
          <a:solidFill>
            <a:srgbClr val="FF9500"/>
          </a:solidFill>
          <a:ln/>
        </p:spPr>
      </p:sp>
      <p:sp>
        <p:nvSpPr>
          <p:cNvPr id="13" name="Text 11"/>
          <p:cNvSpPr/>
          <p:nvPr/>
        </p:nvSpPr>
        <p:spPr>
          <a:xfrm>
            <a:off x="640080" y="3337560"/>
            <a:ext cx="8046720" cy="256032"/>
          </a:xfrm>
          <a:prstGeom prst="rect">
            <a:avLst/>
          </a:prstGeom>
          <a:noFill/>
          <a:ln/>
        </p:spPr>
        <p:txBody>
          <a:bodyPr wrap="square" rtlCol="0" anchor="ctr"/>
          <a:lstStyle/>
          <a:p>
            <a:pPr indent="0" marL="0">
              <a:buNone/>
            </a:pPr>
            <a:r>
              <a:rPr lang="en-US" sz="1200" dirty="0">
                <a:solidFill>
                  <a:srgbClr val="333333"/>
                </a:solidFill>
                <a:latin typeface="Calibri Light" pitchFamily="34" charset="0"/>
                <a:ea typeface="Calibri Light" pitchFamily="34" charset="-122"/>
                <a:cs typeface="Calibri Light" pitchFamily="34" charset="-120"/>
              </a:rPr>
              <a:t>Continued optimization will further improve performance and cost-effectiveness</a:t>
            </a:r>
            <a:endParaRPr lang="en-US" sz="1200" dirty="0"/>
          </a:p>
        </p:txBody>
      </p:sp>
      <p:sp>
        <p:nvSpPr>
          <p:cNvPr id="14" name="Text 12"/>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666666"/>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15" name="Text 13"/>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666666"/>
                </a:solidFill>
                <a:latin typeface="Calibri Light" pitchFamily="34" charset="0"/>
                <a:ea typeface="Calibri Light" pitchFamily="34" charset="-122"/>
                <a:cs typeface="Calibri Light" pitchFamily="34" charset="-120"/>
              </a:rPr>
              <a:t>19</a:t>
            </a:r>
            <a:endParaRPr lang="en-US" sz="10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9144000" cy="5143500"/>
          </a:xfrm>
          <a:prstGeom prst="rect">
            <a:avLst/>
          </a:prstGeom>
          <a:solidFill>
            <a:srgbClr val="003C77"/>
          </a:solidFill>
          <a:ln/>
        </p:spPr>
      </p:sp>
      <p:sp>
        <p:nvSpPr>
          <p:cNvPr id="3" name="Text 1"/>
          <p:cNvSpPr/>
          <p:nvPr/>
        </p:nvSpPr>
        <p:spPr>
          <a:xfrm>
            <a:off x="457200" y="2011680"/>
            <a:ext cx="8229600" cy="73152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Shape 2"/>
          <p:cNvSpPr/>
          <p:nvPr/>
        </p:nvSpPr>
        <p:spPr>
          <a:xfrm>
            <a:off x="3200400" y="3017520"/>
            <a:ext cx="2743200" cy="73152"/>
          </a:xfrm>
          <a:prstGeom prst="rect">
            <a:avLst/>
          </a:prstGeom>
          <a:solidFill>
            <a:srgbClr val="FF9500"/>
          </a:solidFill>
          <a:ln/>
        </p:spPr>
      </p:sp>
      <p:sp>
        <p:nvSpPr>
          <p:cNvPr id="5" name="Text 3"/>
          <p:cNvSpPr/>
          <p:nvPr/>
        </p:nvSpPr>
        <p:spPr>
          <a:xfrm>
            <a:off x="457200" y="4663440"/>
            <a:ext cx="7315200" cy="274320"/>
          </a:xfrm>
          <a:prstGeom prst="rect">
            <a:avLst/>
          </a:prstGeom>
          <a:noFill/>
          <a:ln/>
        </p:spPr>
        <p:txBody>
          <a:bodyPr wrap="square" rtlCol="0" anchor="ctr"/>
          <a:lstStyle/>
          <a:p>
            <a:pPr indent="0" marL="0">
              <a:buNone/>
            </a:pPr>
            <a:r>
              <a:rPr lang="en-US" sz="1000" dirty="0">
                <a:solidFill>
                  <a:srgbClr val="F5F5F5"/>
                </a:solidFill>
                <a:latin typeface="Calibri Light" pitchFamily="34" charset="0"/>
                <a:ea typeface="Calibri Light" pitchFamily="34" charset="-122"/>
                <a:cs typeface="Calibri Light" pitchFamily="34" charset="-120"/>
              </a:rPr>
              <a:t>Confidential – Internal BNZ Discussion Only</a:t>
            </a:r>
            <a:endParaRPr lang="en-US" sz="1000" dirty="0"/>
          </a:p>
        </p:txBody>
      </p:sp>
      <p:sp>
        <p:nvSpPr>
          <p:cNvPr id="6" name="Text 4"/>
          <p:cNvSpPr/>
          <p:nvPr/>
        </p:nvSpPr>
        <p:spPr>
          <a:xfrm>
            <a:off x="8503920" y="4663440"/>
            <a:ext cx="365760" cy="274320"/>
          </a:xfrm>
          <a:prstGeom prst="rect">
            <a:avLst/>
          </a:prstGeom>
          <a:noFill/>
          <a:ln/>
        </p:spPr>
        <p:txBody>
          <a:bodyPr wrap="square" rtlCol="0" anchor="ctr"/>
          <a:lstStyle/>
          <a:p>
            <a:pPr algn="r" indent="0" marL="0">
              <a:buNone/>
            </a:pPr>
            <a:r>
              <a:rPr lang="en-US" sz="1000" dirty="0">
                <a:solidFill>
                  <a:srgbClr val="F5F5F5"/>
                </a:solidFill>
                <a:latin typeface="Calibri Light" pitchFamily="34" charset="0"/>
                <a:ea typeface="Calibri Light" pitchFamily="34" charset="-122"/>
                <a:cs typeface="Calibri Light"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