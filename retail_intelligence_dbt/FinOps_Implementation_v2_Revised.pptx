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6.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7.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9.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10.xml" ContentType="application/vnd.openxmlformats-officedocument.theme+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metadata/core-properties" Target="docProps/core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4" r:id="rId1"/>
    <p:sldMasterId id="2147483717" r:id="rId2"/>
    <p:sldMasterId id="2147483747" r:id="rId3"/>
    <p:sldMasterId id="2147483754" r:id="rId4"/>
    <p:sldMasterId id="2147483777" r:id="rId5"/>
    <p:sldMasterId id="2147483784" r:id="rId6"/>
    <p:sldMasterId id="2147483807" r:id="rId7"/>
    <p:sldMasterId id="2147483814" r:id="rId8"/>
    <p:sldMasterId id="2147483821" r:id="rId9"/>
    <p:sldMasterId id="2147483844" r:id="rId10"/>
    <p:sldMasterId id="2147483869" r:id="rId11"/>
  </p:sldMasterIdLst>
  <p:notesMasterIdLst>
    <p:notesMasterId r:id="rId32"/>
  </p:notesMasterIdLst>
  <p:sldIdLst>
    <p:sldId id="550" r:id="rId12"/>
    <p:sldId id="551" r:id="rId13"/>
    <p:sldId id="569" r:id="rId14"/>
    <p:sldId id="552" r:id="rId15"/>
    <p:sldId id="553" r:id="rId16"/>
    <p:sldId id="554" r:id="rId17"/>
    <p:sldId id="555" r:id="rId18"/>
    <p:sldId id="557" r:id="rId19"/>
    <p:sldId id="556" r:id="rId20"/>
    <p:sldId id="558" r:id="rId21"/>
    <p:sldId id="559" r:id="rId22"/>
    <p:sldId id="560" r:id="rId23"/>
    <p:sldId id="561" r:id="rId24"/>
    <p:sldId id="562" r:id="rId25"/>
    <p:sldId id="563" r:id="rId26"/>
    <p:sldId id="564" r:id="rId27"/>
    <p:sldId id="565" r:id="rId28"/>
    <p:sldId id="566" r:id="rId29"/>
    <p:sldId id="567" r:id="rId30"/>
    <p:sldId id="568" r:id="rId3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8" autoAdjust="0"/>
    <p:restoredTop sz="93006" autoAdjust="0"/>
  </p:normalViewPr>
  <p:slideViewPr>
    <p:cSldViewPr snapToGrid="0">
      <p:cViewPr>
        <p:scale>
          <a:sx n="100" d="100"/>
          <a:sy n="100" d="100"/>
        </p:scale>
        <p:origin x="1722" y="68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slide" Target="slides/slide10.xml"/><Relationship Id="rId34"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theme" Target="theme/theme1.xml"/><Relationship Id="rId8" Type="http://schemas.openxmlformats.org/officeDocument/2006/relationships/slideMaster" Target="slideMasters/slideMaster8.xml"/></Relationships>
</file>

<file path=ppt/notesMasters/_rels/notesMaster1.xml.rels><?xml version="1.0" encoding="UTF-8"?><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8798C4-E63F-48C8-A36B-687BA969A0F3}"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7D69E4-5300-435A-B595-59191F065250}" type="slidenum">
              <a:rPr lang="en-US" smtClean="0"/>
              <a:t>‹#›</a:t>
            </a:fld>
            <a:endParaRPr lang="en-US"/>
          </a:p>
        </p:txBody>
      </p:sp>
    </p:spTree>
    <p:extLst>
      <p:ext uri="{BB962C8B-B14F-4D97-AF65-F5344CB8AC3E}">
        <p14:creationId xmlns:p14="http://schemas.microsoft.com/office/powerpoint/2010/main" val="876160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35.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36.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37.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38.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42.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43.xml.rels><?xml version="1.0" encoding="UTF-8"?><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1.xml"/></Relationships>
</file>

<file path=ppt/slideLayouts/_rels/slideLayout144.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45.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46.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47.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48.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49.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50.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51.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52.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53.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54.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55.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56.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57.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58.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59.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60.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61.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62.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63.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64.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65.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66.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67.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68.xml.rels><?xml version="1.0" encoding="UTF-8"?><Relationships xmlns="http://schemas.openxmlformats.org/package/2006/relationships"><Relationship Id="rId1" Type="http://schemas.openxmlformats.org/officeDocument/2006/relationships/slideMaster" Target="../slideMasters/slideMaster11.xml"/></Relationships>
</file>

<file path=ppt/slideLayouts/_rels/slideLayout169.xml.rels><?xml version="1.0" encoding="UTF-8"?><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E5A4E-C7A5-4677-4B00-271F6BFC8B4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E19E661-CAB1-DF39-1849-676A25D4C9A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F6BDE-EC99-DE83-1B4C-FA9F71F5544D}"/>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F5CEB88-639B-8582-F4BC-E8FB6E5871E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E185A-EDD9-EAE6-F011-710A2BF80B2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620A7F3-845F-FA9E-3F43-118E0618F3C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F8DDD-D36E-3086-49FD-3944B23DB0D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6C7F90D-BD33-70D7-FA52-82162F77F7D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D2948-0F76-F982-FCBD-B7E1A65D7A7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A1C13BB-A455-B816-8812-24E47431C59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92619-2D5E-0112-8B00-F2936A68A9D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ACCCAE8-69CA-EF3C-AD84-192424FA880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AFACC-51D1-C61C-2F16-D79B04D3BC56}"/>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1B985D6-3FB7-3B79-BA17-172341E6AA7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5C74C-77EF-A506-9197-3798B299806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BA51748-3D58-ABF8-3AD2-F5961B9D430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FA28D-D3D8-C256-E9BC-E47B5B5D1B1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909A748-6E70-0652-B8F6-6DECFE33F9A1}"/>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8F8FC-E00F-FA95-F9D4-4D6F26188A6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C885F3A-147B-77CA-4BD7-4F53CC2C09F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99225-709B-488F-213D-D0B61FB524D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3195DE3-58BD-4D2D-FC5D-B9356D98734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FF666-F6F4-52D5-E490-EF7717D644F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E07B8F4-E7FA-CEFE-6C64-D08E13748B6C}"/>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1EF42-1096-42ED-6A28-DE772E9C8AE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F116593-23FF-5C0D-1CE4-E6CCB6CCBAE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70394-60E3-192A-E06E-E9A04F45260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E0118F1-3C52-6496-5D2E-6122E8EE4E9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B9D76-5243-A5D0-0354-4B919519DC6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94D99B5-8D40-9AAC-4395-6609DEFDD51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E98D7-6CCE-9FA7-3023-F19416FDAD4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29053EF-B6C8-4E81-7D01-02215A60E787}"/>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8C880-C79E-2587-CB3E-9BA27EAD38F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3CE8163-D69F-13C7-C6F6-4A79544565F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0BDB8-A18C-879C-B639-EF2D1BF96D5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A49BA78-C2DE-AF42-082A-3A8C30DADB5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2D355-F1C9-D3ED-7088-70AC38170C9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69DC4A8-010B-4EC0-8EF8-19ACC8D1E91A}"/>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88DBA-E24A-30CD-B768-CFB62B08BC2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1CDA2EF-B30B-8829-00AA-CFF103EB5C8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8AFFE-7932-64A9-43E4-129234F76C7D}"/>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32E2465-0475-9DDE-95F3-DF3607BC8A1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8BF28-29B2-401C-61BA-7062D907560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8758CE6-90CC-F6D2-451D-618DE42452B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8_1">
    <p:spTree>
      <p:nvGrpSpPr>
        <p:cNvPr id="1" name=""/>
        <p:cNvGrpSpPr/>
        <p:nvPr/>
      </p:nvGrpSpPr>
      <p:grpSpPr>
        <a:xfrm>
          <a:off x="0" y="0"/>
          <a:ext cx="0" cy="0"/>
          <a:chOff x="0" y="0"/>
          <a:chExt cx="0" cy="0"/>
        </a:xfrm>
      </p:grpSpPr>
      <p:sp>
        <p:nvSpPr>
          <p:cNvPr id="96" name="Google Shape;231;p24"/>
          <p:cNvSpPr/>
          <p:nvPr/>
        </p:nvSpPr>
        <p:spPr>
          <a:xfrm>
            <a:off x="6309000" y="2486880"/>
            <a:ext cx="4242960" cy="424296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7" name="Google Shape;232;p24"/>
          <p:cNvGrpSpPr/>
          <p:nvPr/>
        </p:nvGrpSpPr>
        <p:grpSpPr>
          <a:xfrm>
            <a:off x="-69480" y="539280"/>
            <a:ext cx="9455400" cy="4069080"/>
            <a:chOff x="-69480" y="539280"/>
            <a:chExt cx="9455400" cy="4069080"/>
          </a:xfrm>
        </p:grpSpPr>
        <p:grpSp>
          <p:nvGrpSpPr>
            <p:cNvPr id="98" name="Google Shape;233;p24"/>
            <p:cNvGrpSpPr/>
            <p:nvPr/>
          </p:nvGrpSpPr>
          <p:grpSpPr>
            <a:xfrm>
              <a:off x="713160" y="539640"/>
              <a:ext cx="8672760" cy="4068720"/>
              <a:chOff x="713160" y="539640"/>
              <a:chExt cx="8672760" cy="4068720"/>
            </a:xfrm>
          </p:grpSpPr>
          <p:sp>
            <p:nvSpPr>
              <p:cNvPr id="99" name="Google Shape;234;p24"/>
              <p:cNvSpPr/>
              <p:nvPr/>
            </p:nvSpPr>
            <p:spPr>
              <a:xfrm>
                <a:off x="713160" y="539640"/>
                <a:ext cx="7717320" cy="4068720"/>
              </a:xfrm>
              <a:prstGeom prst="rect">
                <a:avLst/>
              </a:prstGeom>
              <a:noFill/>
              <a:ln w="19050">
                <a:solidFill>
                  <a:srgbClr val="333333"/>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00" name="Google Shape;235;p24"/>
              <p:cNvCxnSpPr/>
              <p:nvPr/>
            </p:nvCxnSpPr>
            <p:spPr>
              <a:xfrm>
                <a:off x="8407440" y="4608360"/>
                <a:ext cx="978840" cy="360"/>
              </a:xfrm>
              <a:prstGeom prst="straightConnector1">
                <a:avLst/>
              </a:prstGeom>
              <a:ln w="19050">
                <a:solidFill>
                  <a:srgbClr val="333333"/>
                </a:solidFill>
                <a:round/>
              </a:ln>
            </p:spPr>
          </p:cxnSp>
        </p:grpSp>
        <p:cxnSp>
          <p:nvCxnSpPr>
            <p:cNvPr id="101" name="Google Shape;236;p24"/>
            <p:cNvCxnSpPr/>
            <p:nvPr/>
          </p:nvCxnSpPr>
          <p:spPr>
            <a:xfrm flipH="1">
              <a:off x="-69480" y="539280"/>
              <a:ext cx="789120" cy="360"/>
            </a:xfrm>
            <a:prstGeom prst="straightConnector1">
              <a:avLst/>
            </a:prstGeom>
            <a:ln w="19050">
              <a:solidFill>
                <a:srgbClr val="333333"/>
              </a:solidFill>
              <a:round/>
            </a:ln>
          </p:spPr>
        </p:cxnSp>
      </p:grpSp>
      <p:sp>
        <p:nvSpPr>
          <p:cNvPr id="102" name="PlaceHolder 1"/>
          <p:cNvSpPr>
            <a:spLocks noGrp="1"/>
          </p:cNvSpPr>
          <p:nvPr>
            <p:ph type="title"/>
          </p:nvPr>
        </p:nvSpPr>
        <p:spPr>
          <a:xfrm>
            <a:off x="707400" y="539640"/>
            <a:ext cx="4050720" cy="768600"/>
          </a:xfrm>
          <a:prstGeom prst="rect">
            <a:avLst/>
          </a:prstGeom>
          <a:solidFill>
            <a:schemeClr val="dk1"/>
          </a:solidFill>
          <a:ln w="0">
            <a:noFill/>
          </a:ln>
        </p:spPr>
        <p:txBody>
          <a:bodyPr lIns="91440" tIns="91440" rIns="91440" bIns="91440" anchor="ctr">
            <a:noAutofit/>
          </a:bodyPr>
          <a:lstStyle/>
          <a:p>
            <a:pPr indent="0">
              <a:lnSpc>
                <a:spcPct val="115000"/>
              </a:lnSpc>
              <a:buNone/>
            </a:pPr>
            <a:r>
              <a:rPr lang="fr-FR" sz="3700" b="0" u="none" strike="noStrike">
                <a:solidFill>
                  <a:schemeClr val="lt1"/>
                </a:solidFill>
                <a:effectLst/>
                <a:uFillTx/>
                <a:latin typeface="Figtree Black"/>
                <a:ea typeface="Figtree Black"/>
              </a:rPr>
              <a:t>xx%</a:t>
            </a:r>
            <a:endParaRPr lang="fr-FR" sz="3700" b="0" u="none" strike="noStrike">
              <a:solidFill>
                <a:schemeClr val="dk1"/>
              </a:solidFill>
              <a:effectLst/>
              <a:uFillTx/>
              <a:latin typeface="Arial"/>
            </a:endParaRPr>
          </a:p>
        </p:txBody>
      </p:sp>
      <p:sp>
        <p:nvSpPr>
          <p:cNvPr id="103" name="PlaceHolder 2"/>
          <p:cNvSpPr>
            <a:spLocks noGrp="1"/>
          </p:cNvSpPr>
          <p:nvPr>
            <p:ph type="title"/>
          </p:nvPr>
        </p:nvSpPr>
        <p:spPr>
          <a:xfrm>
            <a:off x="707400" y="1901520"/>
            <a:ext cx="4050720" cy="768600"/>
          </a:xfrm>
          <a:prstGeom prst="rect">
            <a:avLst/>
          </a:prstGeom>
          <a:solidFill>
            <a:schemeClr val="dk1"/>
          </a:solidFill>
          <a:ln w="0">
            <a:noFill/>
          </a:ln>
        </p:spPr>
        <p:txBody>
          <a:bodyPr lIns="91440" tIns="91440" rIns="91440" bIns="91440" anchor="ctr">
            <a:noAutofit/>
          </a:bodyPr>
          <a:lstStyle/>
          <a:p>
            <a:pPr indent="0">
              <a:lnSpc>
                <a:spcPct val="115000"/>
              </a:lnSpc>
              <a:buNone/>
            </a:pPr>
            <a:r>
              <a:rPr lang="fr-FR" sz="3700" b="0" u="none" strike="noStrike">
                <a:solidFill>
                  <a:schemeClr val="lt1"/>
                </a:solidFill>
                <a:effectLst/>
                <a:uFillTx/>
                <a:latin typeface="Figtree Black"/>
                <a:ea typeface="Figtree Black"/>
              </a:rPr>
              <a:t>xx%</a:t>
            </a:r>
            <a:endParaRPr lang="fr-FR" sz="3700" b="0" u="none" strike="noStrike">
              <a:solidFill>
                <a:schemeClr val="dk1"/>
              </a:solidFill>
              <a:effectLst/>
              <a:uFillTx/>
              <a:latin typeface="Arial"/>
            </a:endParaRPr>
          </a:p>
        </p:txBody>
      </p:sp>
      <p:sp>
        <p:nvSpPr>
          <p:cNvPr id="104" name="PlaceHolder 3"/>
          <p:cNvSpPr>
            <a:spLocks noGrp="1"/>
          </p:cNvSpPr>
          <p:nvPr>
            <p:ph type="title"/>
          </p:nvPr>
        </p:nvSpPr>
        <p:spPr>
          <a:xfrm>
            <a:off x="707400" y="3263040"/>
            <a:ext cx="4050720" cy="768600"/>
          </a:xfrm>
          <a:prstGeom prst="rect">
            <a:avLst/>
          </a:prstGeom>
          <a:solidFill>
            <a:schemeClr val="dk1"/>
          </a:solidFill>
          <a:ln w="0">
            <a:noFill/>
          </a:ln>
        </p:spPr>
        <p:txBody>
          <a:bodyPr lIns="91440" tIns="91440" rIns="91440" bIns="91440" anchor="ctr">
            <a:noAutofit/>
          </a:bodyPr>
          <a:lstStyle/>
          <a:p>
            <a:pPr indent="0">
              <a:lnSpc>
                <a:spcPct val="115000"/>
              </a:lnSpc>
              <a:buNone/>
            </a:pPr>
            <a:r>
              <a:rPr lang="fr-FR" sz="3700" b="0" u="none" strike="noStrike">
                <a:solidFill>
                  <a:schemeClr val="lt1"/>
                </a:solidFill>
                <a:effectLst/>
                <a:uFillTx/>
                <a:latin typeface="Figtree Black"/>
                <a:ea typeface="Figtree Black"/>
              </a:rPr>
              <a:t>xx%</a:t>
            </a:r>
            <a:endParaRPr lang="fr-FR" sz="3700" b="0" u="none" strike="noStrike">
              <a:solidFill>
                <a:schemeClr val="dk1"/>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
        <p:nvSpPr>
          <p:cNvPr id="124" name="Google Shape;267;p28"/>
          <p:cNvSpPr/>
          <p:nvPr/>
        </p:nvSpPr>
        <p:spPr>
          <a:xfrm>
            <a:off x="8240760" y="4204440"/>
            <a:ext cx="1861200" cy="186120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5" name="Google Shape;268;p28"/>
          <p:cNvGrpSpPr/>
          <p:nvPr/>
        </p:nvGrpSpPr>
        <p:grpSpPr>
          <a:xfrm>
            <a:off x="232200" y="-49320"/>
            <a:ext cx="8678880" cy="5250600"/>
            <a:chOff x="232200" y="-49320"/>
            <a:chExt cx="8678880" cy="5250600"/>
          </a:xfrm>
        </p:grpSpPr>
        <p:sp>
          <p:nvSpPr>
            <p:cNvPr id="126" name="Google Shape;269;p28"/>
            <p:cNvSpPr/>
            <p:nvPr/>
          </p:nvSpPr>
          <p:spPr>
            <a:xfrm>
              <a:off x="232200" y="232920"/>
              <a:ext cx="8678520" cy="4684320"/>
            </a:xfrm>
            <a:prstGeom prst="rect">
              <a:avLst/>
            </a:prstGeom>
            <a:noFill/>
            <a:ln w="19050">
              <a:solidFill>
                <a:srgbClr val="333333"/>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7" name="Google Shape;270;p28"/>
            <p:cNvGrpSpPr/>
            <p:nvPr/>
          </p:nvGrpSpPr>
          <p:grpSpPr>
            <a:xfrm>
              <a:off x="232200" y="-49320"/>
              <a:ext cx="8678880" cy="5250600"/>
              <a:chOff x="232200" y="-49320"/>
              <a:chExt cx="8678880" cy="5250600"/>
            </a:xfrm>
          </p:grpSpPr>
          <p:cxnSp>
            <p:nvCxnSpPr>
              <p:cNvPr id="128" name="Google Shape;271;p28"/>
              <p:cNvCxnSpPr/>
              <p:nvPr/>
            </p:nvCxnSpPr>
            <p:spPr>
              <a:xfrm flipV="1">
                <a:off x="232200" y="-49320"/>
                <a:ext cx="360" cy="284040"/>
              </a:xfrm>
              <a:prstGeom prst="straightConnector1">
                <a:avLst/>
              </a:prstGeom>
              <a:ln w="19050">
                <a:solidFill>
                  <a:srgbClr val="333333"/>
                </a:solidFill>
                <a:round/>
              </a:ln>
            </p:spPr>
          </p:cxnSp>
          <p:cxnSp>
            <p:nvCxnSpPr>
              <p:cNvPr id="129" name="Google Shape;272;p28"/>
              <p:cNvCxnSpPr/>
              <p:nvPr/>
            </p:nvCxnSpPr>
            <p:spPr>
              <a:xfrm flipV="1">
                <a:off x="8911080" y="4917240"/>
                <a:ext cx="360" cy="284400"/>
              </a:xfrm>
              <a:prstGeom prst="straightConnector1">
                <a:avLst/>
              </a:prstGeom>
              <a:ln w="19050">
                <a:solidFill>
                  <a:srgbClr val="333333"/>
                </a:solidFill>
                <a:round/>
              </a:ln>
            </p:spPr>
          </p:cxn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
        <p:nvSpPr>
          <p:cNvPr id="130" name="Google Shape;274;p29"/>
          <p:cNvSpPr/>
          <p:nvPr/>
        </p:nvSpPr>
        <p:spPr>
          <a:xfrm>
            <a:off x="8142120" y="-886680"/>
            <a:ext cx="1861200" cy="186120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1" name="Google Shape;275;p29"/>
          <p:cNvGrpSpPr/>
          <p:nvPr/>
        </p:nvGrpSpPr>
        <p:grpSpPr>
          <a:xfrm>
            <a:off x="232200" y="232560"/>
            <a:ext cx="9045000" cy="4975560"/>
            <a:chOff x="232200" y="232560"/>
            <a:chExt cx="9045000" cy="4975560"/>
          </a:xfrm>
        </p:grpSpPr>
        <p:sp>
          <p:nvSpPr>
            <p:cNvPr id="132" name="Google Shape;276;p29"/>
            <p:cNvSpPr/>
            <p:nvPr/>
          </p:nvSpPr>
          <p:spPr>
            <a:xfrm>
              <a:off x="232200" y="232920"/>
              <a:ext cx="8678520" cy="4684320"/>
            </a:xfrm>
            <a:prstGeom prst="rect">
              <a:avLst/>
            </a:prstGeom>
            <a:noFill/>
            <a:ln w="19050">
              <a:solidFill>
                <a:srgbClr val="333333"/>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33" name="Google Shape;277;p29"/>
            <p:cNvCxnSpPr/>
            <p:nvPr/>
          </p:nvCxnSpPr>
          <p:spPr>
            <a:xfrm>
              <a:off x="8911080" y="232560"/>
              <a:ext cx="366480" cy="360"/>
            </a:xfrm>
            <a:prstGeom prst="straightConnector1">
              <a:avLst/>
            </a:prstGeom>
            <a:ln w="19050">
              <a:solidFill>
                <a:srgbClr val="333333"/>
              </a:solidFill>
              <a:round/>
            </a:ln>
          </p:spPr>
        </p:cxnSp>
        <p:cxnSp>
          <p:nvCxnSpPr>
            <p:cNvPr id="134" name="Google Shape;278;p29"/>
            <p:cNvCxnSpPr/>
            <p:nvPr/>
          </p:nvCxnSpPr>
          <p:spPr>
            <a:xfrm>
              <a:off x="232200" y="4917240"/>
              <a:ext cx="1440" cy="291240"/>
            </a:xfrm>
            <a:prstGeom prst="straightConnector1">
              <a:avLst/>
            </a:prstGeom>
            <a:ln w="19050">
              <a:solidFill>
                <a:srgbClr val="333333"/>
              </a:solidFill>
              <a:round/>
            </a:ln>
          </p:spPr>
        </p:cxn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C8C16-D7C2-380C-0953-6B0655C9749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E1AEC2A-6A59-B555-30BC-FDEA2E2706B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
        <p:nvSpPr>
          <p:cNvPr id="175"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76" name="PlaceHolder 2"/>
          <p:cNvSpPr>
            <a:spLocks noGrp="1"/>
          </p:cNvSpPr>
          <p:nvPr>
            <p:ph type="title"/>
          </p:nvPr>
        </p:nvSpPr>
        <p:spPr>
          <a:xfrm>
            <a:off x="720000" y="4045320"/>
            <a:ext cx="7710480" cy="563040"/>
          </a:xfrm>
          <a:prstGeom prst="rect">
            <a:avLst/>
          </a:prstGeom>
          <a:solidFill>
            <a:schemeClr val="lt1"/>
          </a:solidFill>
          <a:ln w="9360">
            <a:solidFill>
              <a:schemeClr val="dk1"/>
            </a:solidFill>
            <a:round/>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D0BC5-78BC-460A-4348-EDB11A688AC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77894A6-CB9B-1A73-1D2B-4D5573C0CDE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78E16-5E73-41C4-78C6-8E23FDF3657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5005136-E736-69EE-D14B-81AE106A876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7BA7B-5711-CF65-3911-2B3F5C3316E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99DFF00-ED55-CC16-5C1A-0ABB14EDBEE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7709D-475B-2DA4-E510-F4D1D761940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878DCCB-0E99-AAC9-A353-F0A53E1E41D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DA8E2-1B56-6817-3318-FCC1A9FBDB6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1AA2EAA-5517-EC7A-B447-FB2E1A6AAA7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99C41-35E8-F4F5-CD66-44BCDD2B848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B9EE049-6955-D961-F313-ECE89E0FA60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52BCD-6925-3386-B07B-39691D8A509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7B0BEFD-091B-93D7-3354-285D0CCD1A5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EFC94-ABF9-A413-0BFE-ABF6DB4D0AB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6AD1E0E-CDB8-F733-2289-03D80BE7379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E3B4-CCAE-BB61-73E7-5317964673B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16F9A26-87E5-3172-7BBA-6092133DDA7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448DF-8690-2342-9153-9C156445542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4B2FBDE-FF09-B25C-8A4B-C29D07FAE21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5FBD9-C777-6419-9058-A27436460D0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04542E5-4485-306B-A428-81BD702DC7C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3365D-4773-E70B-81D0-9FCAB9A8BCC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C84CC00-1EA0-8102-FFE6-EF2FAF3CF80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5C60E-61F7-340F-C765-9EE511CC684F}"/>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3B12A80-540A-446C-C964-62EF759A0D8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2798D-2AC5-0493-344F-7D19C36F147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A00AE91-FA31-68C3-308D-02CEC61D5D5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D70EB-F253-9B55-B37A-2BF4A13F19A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7C56369-61C3-7CB7-10DD-00615B9D1B4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2697C-040D-F626-50CD-09F0348FC9B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EB70143-AF61-10ED-0B6E-4740F130D63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7DF04-9882-87EF-764B-887178C7BB8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5F1E0AF-30F7-D461-C392-81A7BB940CA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FC8AD-618C-04E0-CD46-5DEB0C3DBAF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BA51800-FA53-264A-A226-AE44CF917807}"/>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3ABE0-ABC1-89D9-0CAE-37330A03D56D}"/>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139CE81-3D88-D9F9-6A1B-1C30A6A9EC6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E1648-4C0E-EF5C-A04E-E995BEA8E42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1F61F1D-73CF-3EFA-5AD6-AC5319C88C5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EBD58-2544-23B9-F853-3C993194AEA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E5E6CBE-940A-A602-6325-C97F3310828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188BC-1DF3-11AD-7EE9-787E995A2F7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27AAAD3-71FE-2D51-3F2A-4B749709EE5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BA91-9AD9-7373-F18F-8EAE20ED4E3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0725C7D-DE32-1268-50EE-33C138D46A8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0F21D-AE45-5C93-15F5-43DA051BF79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1ACBB83-7AA0-CB46-1B9F-2CA5EB5645B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8506A-607C-F32F-BED1-9837F5975CC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117FA26-9C50-9A8D-3DE7-13BBA252E3E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4F8F3-23E9-D267-ACFD-6FF39816909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20FD39E-9295-3295-4B9B-004B64D8728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1E161-9DFB-E824-EA22-B9F99C8CC01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64B4DF9-E6A6-CE7B-E97C-B0892804CAF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85ECC-FFE3-1E00-C3FD-25CF23961FE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080D43E-B18E-3BCD-31E2-96667506791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E84F5-9B30-D868-E05E-DDBA23E5292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19A6FBB-0665-FCC7-47BE-30ECF9B323D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0B9CB-3EE6-B318-77F1-DE9E836A714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A608F32-763B-1DC0-182C-4424B5F9E6BC}"/>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E9804-8AC3-DE1A-8018-3DBD5FE6D9D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3C6113C-9B62-C97B-038F-D2D372BFF8E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386B0-F7B9-99D8-CAB0-7D3787B4E51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D5022F8-BDD5-2A3E-1EFC-A6336597BA3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E62C1-D033-5C77-93BB-3FD2F162FB7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63F1DC3-0C71-041E-B06F-4947B001C42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4E942-575B-EBA1-528A-0C264CE388D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E8DFCCE-F528-C41C-E9D2-B01BFD5FEBE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79BE-41F7-0094-FC61-6BFA3D0D269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5F06050-4B58-508F-6098-47B77FA1236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A8EDE-364B-6587-0EE0-5C9F3BEADC8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707D39C-A7D4-248D-94C9-3589A570C00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6B4EB-674C-5963-A426-F37644F0727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07D7D31-E296-CA6F-8DD8-8DA5E632B8D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87528-607C-3402-F09E-F2FBDCF6525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FB7D7BA-E569-2C29-0AD0-C066C726FAB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BC0BA-78F2-A88F-A683-E81CE103F45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C59D8CA-C95C-3DC2-68FC-C9301C9C8D7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E65E0-8BE8-1F10-62E8-D2CC0DCA378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56542FE-22E7-38DF-5D2C-DF5A4F38A7F1}"/>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246C2-B8FC-9D7C-533A-41446D17ACF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7EF3C64-F7FC-36D6-C1B2-11792ED6346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99288-F389-1B70-B026-196D98287CF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643B6B6-D4D1-C7C7-7D03-B41AFD04C8F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3A486-9D21-43A7-6245-9B0DB891822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8989F3E-A6CE-6DA7-AFA8-21B2C886797A}"/>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427D2-35B1-EC9C-F52E-6B490F76316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D10EB09-8135-CF72-17E1-FDB75D382941}"/>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276D6-288C-E5FB-0B0D-C0AC5B6DD46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FBA8DF0-649A-4059-0B66-4B1B3B9A0CE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7581A-169B-4BB9-C478-DC27F3D794F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82AA2CF-13C7-F599-60A1-B4F432FA070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2A222-93B0-1779-EE95-91B8B8C2AFB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13FC173-AA78-7D64-AC20-6374B268DE0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D958E-365B-8D67-1E54-7091E905879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0AA70A6-9BF7-7228-4576-78CD4E788C7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078AB-AD60-CFD7-766A-43484BAE3E2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E910812-FE6B-0548-1655-FB3E300C9BC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83094-6256-3F67-3124-40842E134BC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CB5BDE7-1594-0D11-C02C-4BD09E9B1B7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4CAF5-65D9-5E49-893A-6BB56BEA74E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C4D013D-33C9-913A-69A1-3FE3EB40310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8E177-95A4-FB93-B633-99C5BCD0F73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FC53661-624C-6178-D78D-ECE46D8CA8C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63D7B-6EFD-A007-6F5D-48122F8BFF7C}"/>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1B549C9-ACF4-86F2-CE3B-14DF64595BB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011DB-05F7-4260-7400-DBB5D09C374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3D7D64B-3D61-7E52-688D-FC548608E52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24506-D8D6-3C18-B067-0DB770BF59F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BA0F6E8-BEAD-B516-5E86-4CB54C6F257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A1155-9A13-6C3D-2001-8366F9BBAB5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C88BE55-7750-8908-5841-9E89BFC6751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0B14D-C4F1-5964-C0E5-DBC9AA822AD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ED81B21-F0B1-FA46-E4EE-92D444198C3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349E-0680-ACE0-A1AD-1C3FA7952A4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712FDF9-6924-50E3-87FE-D9282518F88A}"/>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D1C88-0A91-A248-DAC8-BC7304BFEABF}"/>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FB08B6A-23A5-C93B-99FA-E3747711C747}"/>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502CE-9963-C70A-9448-40BC39D8669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36C7AD3-3119-9A74-7CB7-89A62A891077}"/>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46995-7ECD-D983-2F0B-C5688B32DB7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7E029C7-5249-EDAA-4F8D-4C58EB336A2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8AEAA-49E4-21B8-4E31-0C3C0A97DA1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6244B82-65B2-03D5-426D-49F97D597DC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64FF1-81BE-CE73-B7AA-DB181FC91DC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E49892A-E580-8CD2-8F6E-C22985B0B5F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759D9-87D3-96F7-888F-0D74B973F083}"/>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C525DD1-10B4-D9D2-A608-91174BCB52A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17CFC-E2ED-3BB3-707E-E10B15BF8315}"/>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805F732-DC10-B47B-6B4E-F2DB47B30E8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33D84-B41F-72D8-80F7-DF083CDE875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1B30E93-D028-D94F-1CDE-31E6269CCEB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6BB7D-08AD-D937-6F0F-8FCB3695B8F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7BF42E6-46E4-62BA-614F-748D5AC704C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F5AC3-4CCF-94C3-9A1C-AAF472445C9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5447BE1-CD55-CA79-F952-C4193F5B1A0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276E3-B6BD-ABAE-C2F5-4523BAFADAC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09D5F5D-5FDC-40DB-5E13-CC959F23E5D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857E3-7D28-B9D0-7814-A9715FEB7E1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F5B46E2-6D59-0EEB-7266-A7DF99ECB12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3731-0826-84B4-B5EB-0B921F28C1F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44C26E1-1618-21E2-B7BC-95DCEE447D6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B62A1-FFEA-C0DF-46BA-CE921BF4A87D}"/>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5466514-257C-160E-1C6A-A70F2ADD6DD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96EAB-C540-B42F-222F-FA60535027C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88ABE6E-1D8E-EB30-F55B-8A073854603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AC686-D1A5-AD7F-4431-2D3D3F3E8016}"/>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B123E40-5B08-915C-2228-5BCF8BBCE7C0}"/>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D6563-BFF6-A44B-2A9B-76593551FF9C}"/>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AA3C35F-D2A3-EFE7-DF73-9DD858ABAFC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A6C54-C2ED-13B9-0DA5-070A6CD0EAEF}"/>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1CA1D8-B39A-B8D3-66D0-F89A3C046E1A}"/>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7B702-E04B-1191-E884-F6C2760BCA0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FBCE28A-0B8E-D0F0-F64D-80B73795B8A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02466-90C8-64EC-FE69-3C9DAF6EA7C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E2F3600-C050-BA45-5B4E-A3E2E98A6A4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64E34-7B03-5E11-55EF-2814CB16E47C}"/>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908094F-50F2-4666-69E8-592668B9958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9C3D4-E042-0351-DD95-6D07666DB11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050A294-1ACF-A9A1-68BC-746E68DEF7B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1583F-76B1-2193-97DE-36150A63533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50A52CF-5E77-AE13-F017-F83EAF2E671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F0DBD-029B-372E-18FF-5725C07E1B7D}"/>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FC77443-9891-6EA4-73E8-95496CE03F8C}"/>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565D8-5B97-588C-CF8D-0560BF16725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BA5DFCB-EC1A-EED2-09E2-B30FD1FD029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C07C9-A987-3AA3-27A7-DC71109E959F}"/>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73035A4-94AB-44D2-F091-A73D66AA9D2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F8818-6EFF-B771-2806-C66BFF20850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17200EF-9E81-9F14-80B0-01F3DFFAEA1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8E31A-1F00-5595-4D2B-1FEB9F876D3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3049BEC-AF2C-23DD-CE1A-5B52E070A636}"/>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18BB7-5ED1-D0D0-2126-8A6EBA770BE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95D6779-5716-875E-199C-E09BFD8E117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F195A-68BB-3673-6B22-B5E821F14228}"/>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884F455-3A70-55C1-C1A6-59068BB7D49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A1175-8CBB-BBE2-23C1-76C77144663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87B7643-3578-4678-BFB9-EA1F6CEA563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095F5-CFEE-9B5E-7324-A53E4269A2F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A87476D-0D9F-EFA9-F9B0-614B3522F7E9}"/>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8A323-5BF9-2F93-C13C-DEF1DCC35B2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A0BF03E-311D-1083-4FA3-8F12A8F593BE}"/>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6565D-4618-1646-9287-D2BA97721C3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CD55DD8-E5BB-19BE-DAF3-FF415C3E482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EFEC5-51B8-7E93-44A6-6A270633D51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1B29F13-9DAD-0341-C646-F5A447B18FDC}"/>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7BCC-611E-4E07-D6EA-981840A3997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128234E-9B6C-2F89-DA67-7726F3DB61A4}"/>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90D31-41E7-58DB-8C6A-678CF37F9AB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4773EF64-17B8-53D3-F887-E8500375734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292E9-CB25-B87C-8139-4D6B69EFC396}"/>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63C0146-154A-6E62-9397-5C2FB4048BD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98C5F-7516-8BAB-7893-AA65F1D274E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FED0AD8E-A921-AD1E-8D2E-EDA6FB6527B7}"/>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C773-3FD1-71B3-CD90-F9462B8981E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D26F5EF-29C7-87F2-9414-7E2CE913D6C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29EF-5AFD-236B-8B82-66A1292220AD}"/>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3195C0D8-EA9D-981D-B441-5CFA223E9FE3}"/>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36710-ABE8-680A-8D0B-CBE457903AEF}"/>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3CFDB2A-7A94-35E6-D715-2E47E4F50741}"/>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BB4F5-D6A5-3A00-A9AF-3B7C427CC82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B5EA7A6-11E4-2D07-AF53-4F7512CD8FDB}"/>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A0A2C-DC55-694D-366C-97B1943402A0}"/>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15D27B2E-4E94-AD27-C51F-7D22E60D07E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E3849-9B25-1D73-D838-63A87550D5E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0F077A1-128D-B3E8-C002-F31460A71DB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9A0EF-1E19-D9C7-0A8A-9CF823EB24E2}"/>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DC6C88A-5812-4D5D-BAC3-1080A667F6CC}"/>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FF637-210F-B81E-F5EE-2614F9B8206C}"/>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62D98C4-E2D0-F476-6823-58EFC17B0B77}"/>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6723C-51CC-39B9-EC5F-2CD01C096E6E}"/>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B2B027C8-1833-394C-95C7-F8232DF6D72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78F73-02B9-20D8-3C64-84DC37BFDA66}"/>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3D92484-9CC6-056D-09E5-930C429FC1BF}"/>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5D9A7-8F5F-F120-0E79-A638EA9AD07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63DBAB2-B79A-4367-28F3-E57AEC0A170D}"/>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76E83-1617-3C85-2117-E02DF274772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7A26377-4C2C-417C-DFC8-002A410BCAD8}"/>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23AB5-5C62-7980-8A99-9C5B1D981CCB}"/>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2F08CB4-50E8-D35C-D86C-43867D1CB3DA}"/>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7B9AE-238B-A543-9BE0-53B5A605BF91}"/>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79A25415-EFA8-3399-E5B3-D79A63625352}"/>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6959B-D560-76C6-9ECD-5C3971DDFA09}"/>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C1A17139-A0BE-A573-52A8-145CE566D935}"/>
              </a:ext>
            </a:extLst>
          </p:cNvPr>
          <p:cNvSpPr>
            <a:spLocks noGrp="1"/>
          </p:cNvSpPr>
          <p:nvPr>
            <p:ph type="body"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FEFCEA-2D6F-C374-A971-93E7382F69EF}"/>
              </a:ext>
            </a:extLst>
          </p:cNvPr>
          <p:cNvSpPr>
            <a:spLocks noChangeArrowheads="1"/>
          </p:cNvSpPr>
          <p:nvPr userDrawn="1"/>
        </p:nvSpPr>
        <p:spPr bwMode="auto">
          <a:xfrm>
            <a:off x="1" y="1059656"/>
            <a:ext cx="6891704" cy="3638550"/>
          </a:xfrm>
          <a:prstGeom prst="rect">
            <a:avLst/>
          </a:prstGeom>
          <a:gradFill rotWithShape="0">
            <a:gsLst>
              <a:gs pos="10000">
                <a:srgbClr val="073775"/>
              </a:gs>
              <a:gs pos="90000">
                <a:srgbClr val="0A1C42"/>
              </a:gs>
            </a:gsLst>
            <a:lin ang="5400000"/>
          </a:gradFill>
          <a:ln w="12700" algn="ctr">
            <a:noFill/>
            <a:round/>
            <a:headEnd/>
            <a:tailEnd/>
          </a:ln>
        </p:spPr>
        <p:txBody>
          <a:bodyPr wrap="none" lIns="54000" tIns="54000" rIns="54000" bIns="54000" anchor="ctr"/>
          <a:lstStyle/>
          <a:p>
            <a:pPr>
              <a:defRPr/>
            </a:pPr>
            <a:endParaRPr lang="en-US" sz="1350">
              <a:latin typeface="Arial" charset="0"/>
            </a:endParaRPr>
          </a:p>
        </p:txBody>
      </p:sp>
      <p:sp>
        <p:nvSpPr>
          <p:cNvPr id="5" name="Line 15">
            <a:extLst>
              <a:ext uri="{FF2B5EF4-FFF2-40B4-BE49-F238E27FC236}">
                <a16:creationId xmlns:a16="http://schemas.microsoft.com/office/drawing/2014/main" id="{D8326050-9ACD-A290-BE40-A19D02DAA3B9}"/>
              </a:ext>
            </a:extLst>
          </p:cNvPr>
          <p:cNvSpPr>
            <a:spLocks noChangeShapeType="1"/>
          </p:cNvSpPr>
          <p:nvPr userDrawn="1"/>
        </p:nvSpPr>
        <p:spPr bwMode="auto">
          <a:xfrm>
            <a:off x="703385" y="1059656"/>
            <a:ext cx="0" cy="2057400"/>
          </a:xfrm>
          <a:prstGeom prst="line">
            <a:avLst/>
          </a:prstGeom>
          <a:noFill/>
          <a:ln w="6350">
            <a:solidFill>
              <a:schemeClr val="bg1"/>
            </a:solidFill>
            <a:round/>
            <a:headEnd/>
            <a:tailEnd/>
          </a:ln>
        </p:spPr>
        <p:txBody>
          <a:bodyPr/>
          <a:lstStyle/>
          <a:p>
            <a:pPr>
              <a:defRPr/>
            </a:pPr>
            <a:endParaRPr lang="en-NZ" sz="1350">
              <a:latin typeface="Arial" charset="0"/>
            </a:endParaRPr>
          </a:p>
        </p:txBody>
      </p:sp>
      <p:sp>
        <p:nvSpPr>
          <p:cNvPr id="2" name="Title 1"/>
          <p:cNvSpPr>
            <a:spLocks noGrp="1"/>
          </p:cNvSpPr>
          <p:nvPr>
            <p:ph type="ctrTitle"/>
          </p:nvPr>
        </p:nvSpPr>
        <p:spPr>
          <a:xfrm>
            <a:off x="774277" y="1409400"/>
            <a:ext cx="5459815" cy="2459700"/>
          </a:xfrm>
        </p:spPr>
        <p:txBody>
          <a:bodyPr anchor="t">
            <a:normAutofit/>
          </a:bodyPr>
          <a:lstStyle>
            <a:lvl1pPr>
              <a:defRPr sz="4050">
                <a:solidFill>
                  <a:schemeClr val="bg1"/>
                </a:solidFill>
              </a:defRPr>
            </a:lvl1pPr>
          </a:lstStyle>
          <a:p>
            <a:r>
              <a:rPr lang="en-US" dirty="0"/>
              <a:t>Click to edit Master title style</a:t>
            </a:r>
            <a:endParaRPr lang="en-NZ" dirty="0"/>
          </a:p>
        </p:txBody>
      </p:sp>
      <p:sp>
        <p:nvSpPr>
          <p:cNvPr id="3" name="Subtitle 2"/>
          <p:cNvSpPr>
            <a:spLocks noGrp="1"/>
          </p:cNvSpPr>
          <p:nvPr>
            <p:ph type="subTitle" idx="1"/>
          </p:nvPr>
        </p:nvSpPr>
        <p:spPr>
          <a:xfrm>
            <a:off x="774277" y="4114800"/>
            <a:ext cx="5459815" cy="564300"/>
          </a:xfrm>
        </p:spPr>
        <p:txBody>
          <a:bodyPr>
            <a:normAutofit/>
          </a:bodyPr>
          <a:lstStyle>
            <a:lvl1pPr marL="0" indent="0" algn="l" defTabSz="685800" rtl="0" eaLnBrk="1" latinLnBrk="0" hangingPunct="1">
              <a:spcBef>
                <a:spcPct val="0"/>
              </a:spcBef>
              <a:buNone/>
              <a:defRPr lang="en-NZ" sz="1200" b="0" kern="1200" dirty="0" smtClean="0">
                <a:solidFill>
                  <a:schemeClr val="bg1"/>
                </a:solidFill>
                <a:latin typeface="Arial" pitchFamily="34" charset="0"/>
                <a:ea typeface="+mj-ea"/>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NZ" noProof="0" dirty="0"/>
              <a:t>Click to edit Master subtitle style</a:t>
            </a:r>
          </a:p>
        </p:txBody>
      </p:sp>
      <p:sp>
        <p:nvSpPr>
          <p:cNvPr id="6" name="Footer Placeholder 4">
            <a:extLst>
              <a:ext uri="{FF2B5EF4-FFF2-40B4-BE49-F238E27FC236}">
                <a16:creationId xmlns:a16="http://schemas.microsoft.com/office/drawing/2014/main" id="{BAB83D8F-5472-F752-5845-E517B1D7BC7F}"/>
              </a:ext>
            </a:extLst>
          </p:cNvPr>
          <p:cNvSpPr>
            <a:spLocks noGrp="1"/>
          </p:cNvSpPr>
          <p:nvPr>
            <p:ph type="ftr" sz="quarter" idx="10"/>
          </p:nvPr>
        </p:nvSpPr>
        <p:spPr/>
        <p:txBody>
          <a:bodyPr/>
          <a:lstStyle>
            <a:lvl1pPr>
              <a:defRPr b="1">
                <a:solidFill>
                  <a:schemeClr val="tx1">
                    <a:lumMod val="50000"/>
                    <a:lumOff val="50000"/>
                  </a:schemeClr>
                </a:solidFill>
              </a:defRPr>
            </a:lvl1pPr>
          </a:lstStyle>
          <a:p>
            <a:pPr>
              <a:defRPr/>
            </a:pPr>
            <a:r>
              <a:t>Confidential – Internal BNZ Discussion Only</a:t>
            </a:r>
          </a:p>
        </p:txBody>
      </p:sp>
    </p:spTree>
    <p:extLst>
      <p:ext uri="{BB962C8B-B14F-4D97-AF65-F5344CB8AC3E}">
        <p14:creationId xmlns:p14="http://schemas.microsoft.com/office/powerpoint/2010/main" val="270566246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Presentation_Planner">
    <p:bg>
      <p:bgPr>
        <a:gradFill rotWithShape="0">
          <a:gsLst>
            <a:gs pos="0">
              <a:srgbClr val="073775"/>
            </a:gs>
            <a:gs pos="10001">
              <a:srgbClr val="073775"/>
            </a:gs>
            <a:gs pos="100000">
              <a:srgbClr val="0A1C42"/>
            </a:gs>
          </a:gsLst>
          <a:lin ang="54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CC96B4-7B3E-0AF4-D062-0609B1AAA20D}"/>
              </a:ext>
            </a:extLst>
          </p:cNvPr>
          <p:cNvSpPr txBox="1"/>
          <p:nvPr userDrawn="1"/>
        </p:nvSpPr>
        <p:spPr>
          <a:xfrm>
            <a:off x="4645269" y="844154"/>
            <a:ext cx="4246685" cy="269081"/>
          </a:xfrm>
          <a:prstGeom prst="rect">
            <a:avLst/>
          </a:prstGeom>
          <a:noFill/>
          <a:ln>
            <a:noFill/>
          </a:ln>
        </p:spPr>
        <p:txBody>
          <a:bodyPr/>
          <a:lstStyle/>
          <a:p>
            <a:pPr>
              <a:defRPr/>
            </a:pPr>
            <a:r>
              <a:rPr lang="en-NZ" sz="1200" dirty="0">
                <a:solidFill>
                  <a:schemeClr val="bg2"/>
                </a:solidFill>
                <a:latin typeface="Arial" charset="0"/>
              </a:rPr>
              <a:t>For each slide</a:t>
            </a:r>
          </a:p>
        </p:txBody>
      </p:sp>
      <p:sp>
        <p:nvSpPr>
          <p:cNvPr id="3" name="TextBox 2">
            <a:extLst>
              <a:ext uri="{FF2B5EF4-FFF2-40B4-BE49-F238E27FC236}">
                <a16:creationId xmlns:a16="http://schemas.microsoft.com/office/drawing/2014/main" id="{6CDCF374-34B4-4DCF-880F-2C750E063D54}"/>
              </a:ext>
            </a:extLst>
          </p:cNvPr>
          <p:cNvSpPr txBox="1"/>
          <p:nvPr userDrawn="1"/>
        </p:nvSpPr>
        <p:spPr>
          <a:xfrm>
            <a:off x="252046" y="842963"/>
            <a:ext cx="4246685" cy="269081"/>
          </a:xfrm>
          <a:prstGeom prst="rect">
            <a:avLst/>
          </a:prstGeom>
          <a:noFill/>
          <a:ln>
            <a:noFill/>
          </a:ln>
        </p:spPr>
        <p:txBody>
          <a:bodyPr/>
          <a:lstStyle/>
          <a:p>
            <a:pPr>
              <a:defRPr/>
            </a:pPr>
            <a:r>
              <a:rPr lang="en-NZ" sz="1200" dirty="0">
                <a:solidFill>
                  <a:schemeClr val="bg2"/>
                </a:solidFill>
                <a:latin typeface="Arial" charset="0"/>
              </a:rPr>
              <a:t>For the presentation as a whole:</a:t>
            </a:r>
          </a:p>
        </p:txBody>
      </p:sp>
      <p:grpSp>
        <p:nvGrpSpPr>
          <p:cNvPr id="4" name="Group 56">
            <a:extLst>
              <a:ext uri="{FF2B5EF4-FFF2-40B4-BE49-F238E27FC236}">
                <a16:creationId xmlns:a16="http://schemas.microsoft.com/office/drawing/2014/main" id="{452B4793-D9ED-F8EF-A471-408A7DD33B9C}"/>
              </a:ext>
            </a:extLst>
          </p:cNvPr>
          <p:cNvGrpSpPr>
            <a:grpSpLocks/>
          </p:cNvGrpSpPr>
          <p:nvPr userDrawn="1"/>
        </p:nvGrpSpPr>
        <p:grpSpPr bwMode="auto">
          <a:xfrm>
            <a:off x="7589228" y="135732"/>
            <a:ext cx="1362808" cy="540544"/>
            <a:chOff x="4923" y="111"/>
            <a:chExt cx="930" cy="454"/>
          </a:xfrm>
        </p:grpSpPr>
        <p:sp>
          <p:nvSpPr>
            <p:cNvPr id="5" name="Freeform 57">
              <a:extLst>
                <a:ext uri="{FF2B5EF4-FFF2-40B4-BE49-F238E27FC236}">
                  <a16:creationId xmlns:a16="http://schemas.microsoft.com/office/drawing/2014/main" id="{6DF58FA4-6675-C4CE-A825-20EC64F1A143}"/>
                </a:ext>
              </a:extLst>
            </p:cNvPr>
            <p:cNvSpPr>
              <a:spLocks noEditPoints="1"/>
            </p:cNvSpPr>
            <p:nvPr userDrawn="1"/>
          </p:nvSpPr>
          <p:spPr bwMode="auto">
            <a:xfrm>
              <a:off x="4923" y="262"/>
              <a:ext cx="224" cy="303"/>
            </a:xfrm>
            <a:custGeom>
              <a:avLst/>
              <a:gdLst/>
              <a:ahLst/>
              <a:cxnLst>
                <a:cxn ang="0">
                  <a:pos x="42" y="46"/>
                </a:cxn>
                <a:cxn ang="0">
                  <a:pos x="63" y="38"/>
                </a:cxn>
                <a:cxn ang="0">
                  <a:pos x="92" y="67"/>
                </a:cxn>
                <a:cxn ang="0">
                  <a:pos x="38" y="124"/>
                </a:cxn>
                <a:cxn ang="0">
                  <a:pos x="0" y="117"/>
                </a:cxn>
                <a:cxn ang="0">
                  <a:pos x="19" y="12"/>
                </a:cxn>
                <a:cxn ang="0">
                  <a:pos x="34" y="0"/>
                </a:cxn>
                <a:cxn ang="0">
                  <a:pos x="50" y="0"/>
                </a:cxn>
                <a:cxn ang="0">
                  <a:pos x="42" y="46"/>
                </a:cxn>
                <a:cxn ang="0">
                  <a:pos x="32" y="100"/>
                </a:cxn>
                <a:cxn ang="0">
                  <a:pos x="39" y="101"/>
                </a:cxn>
                <a:cxn ang="0">
                  <a:pos x="62" y="71"/>
                </a:cxn>
                <a:cxn ang="0">
                  <a:pos x="52" y="60"/>
                </a:cxn>
                <a:cxn ang="0">
                  <a:pos x="38" y="67"/>
                </a:cxn>
                <a:cxn ang="0">
                  <a:pos x="32" y="100"/>
                </a:cxn>
              </a:cxnLst>
              <a:rect l="0" t="0" r="r" b="b"/>
              <a:pathLst>
                <a:path w="92" h="124">
                  <a:moveTo>
                    <a:pt x="42" y="46"/>
                  </a:moveTo>
                  <a:cubicBezTo>
                    <a:pt x="46" y="41"/>
                    <a:pt x="55" y="37"/>
                    <a:pt x="63" y="38"/>
                  </a:cubicBezTo>
                  <a:cubicBezTo>
                    <a:pt x="81" y="38"/>
                    <a:pt x="92" y="48"/>
                    <a:pt x="92" y="67"/>
                  </a:cubicBezTo>
                  <a:cubicBezTo>
                    <a:pt x="92" y="103"/>
                    <a:pt x="70" y="124"/>
                    <a:pt x="38" y="124"/>
                  </a:cubicBezTo>
                  <a:cubicBezTo>
                    <a:pt x="26" y="124"/>
                    <a:pt x="11" y="121"/>
                    <a:pt x="0" y="117"/>
                  </a:cubicBezTo>
                  <a:cubicBezTo>
                    <a:pt x="19" y="12"/>
                    <a:pt x="19" y="12"/>
                    <a:pt x="19" y="12"/>
                  </a:cubicBezTo>
                  <a:cubicBezTo>
                    <a:pt x="20" y="3"/>
                    <a:pt x="24" y="0"/>
                    <a:pt x="34" y="0"/>
                  </a:cubicBezTo>
                  <a:cubicBezTo>
                    <a:pt x="41" y="0"/>
                    <a:pt x="46" y="0"/>
                    <a:pt x="50" y="0"/>
                  </a:cubicBezTo>
                  <a:lnTo>
                    <a:pt x="42" y="46"/>
                  </a:lnTo>
                  <a:close/>
                  <a:moveTo>
                    <a:pt x="32" y="100"/>
                  </a:moveTo>
                  <a:cubicBezTo>
                    <a:pt x="35" y="101"/>
                    <a:pt x="36" y="101"/>
                    <a:pt x="39" y="101"/>
                  </a:cubicBezTo>
                  <a:cubicBezTo>
                    <a:pt x="53" y="101"/>
                    <a:pt x="62" y="89"/>
                    <a:pt x="62" y="71"/>
                  </a:cubicBezTo>
                  <a:cubicBezTo>
                    <a:pt x="62" y="63"/>
                    <a:pt x="58" y="60"/>
                    <a:pt x="52" y="60"/>
                  </a:cubicBezTo>
                  <a:cubicBezTo>
                    <a:pt x="46" y="60"/>
                    <a:pt x="39" y="65"/>
                    <a:pt x="38" y="67"/>
                  </a:cubicBezTo>
                  <a:lnTo>
                    <a:pt x="32" y="100"/>
                  </a:ln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6" name="Freeform 58">
              <a:extLst>
                <a:ext uri="{FF2B5EF4-FFF2-40B4-BE49-F238E27FC236}">
                  <a16:creationId xmlns:a16="http://schemas.microsoft.com/office/drawing/2014/main" id="{5743B6F4-BE85-175D-CBA5-40369E41F142}"/>
                </a:ext>
              </a:extLst>
            </p:cNvPr>
            <p:cNvSpPr>
              <a:spLocks/>
            </p:cNvSpPr>
            <p:nvPr userDrawn="1"/>
          </p:nvSpPr>
          <p:spPr bwMode="auto">
            <a:xfrm>
              <a:off x="5142" y="353"/>
              <a:ext cx="436" cy="212"/>
            </a:xfrm>
            <a:custGeom>
              <a:avLst/>
              <a:gdLst/>
              <a:ahLst/>
              <a:cxnLst>
                <a:cxn ang="0">
                  <a:pos x="94" y="83"/>
                </a:cxn>
                <a:cxn ang="0">
                  <a:pos x="103" y="87"/>
                </a:cxn>
                <a:cxn ang="0">
                  <a:pos x="125" y="86"/>
                </a:cxn>
                <a:cxn ang="0">
                  <a:pos x="157" y="87"/>
                </a:cxn>
                <a:cxn ang="0">
                  <a:pos x="168" y="78"/>
                </a:cxn>
                <a:cxn ang="0">
                  <a:pos x="171" y="63"/>
                </a:cxn>
                <a:cxn ang="0">
                  <a:pos x="153" y="63"/>
                </a:cxn>
                <a:cxn ang="0">
                  <a:pos x="131" y="63"/>
                </a:cxn>
                <a:cxn ang="0">
                  <a:pos x="147" y="45"/>
                </a:cxn>
                <a:cxn ang="0">
                  <a:pos x="164" y="29"/>
                </a:cxn>
                <a:cxn ang="0">
                  <a:pos x="177" y="1"/>
                </a:cxn>
                <a:cxn ang="0">
                  <a:pos x="153" y="1"/>
                </a:cxn>
                <a:cxn ang="0">
                  <a:pos x="116" y="1"/>
                </a:cxn>
                <a:cxn ang="0">
                  <a:pos x="104" y="9"/>
                </a:cxn>
                <a:cxn ang="0">
                  <a:pos x="101" y="25"/>
                </a:cxn>
                <a:cxn ang="0">
                  <a:pos x="113" y="24"/>
                </a:cxn>
                <a:cxn ang="0">
                  <a:pos x="133" y="25"/>
                </a:cxn>
                <a:cxn ang="0">
                  <a:pos x="113" y="45"/>
                </a:cxn>
                <a:cxn ang="0">
                  <a:pos x="98" y="64"/>
                </a:cxn>
                <a:cxn ang="0">
                  <a:pos x="83" y="60"/>
                </a:cxn>
                <a:cxn ang="0">
                  <a:pos x="87" y="38"/>
                </a:cxn>
                <a:cxn ang="0">
                  <a:pos x="89" y="24"/>
                </a:cxn>
                <a:cxn ang="0">
                  <a:pos x="62" y="0"/>
                </a:cxn>
                <a:cxn ang="0">
                  <a:pos x="41" y="9"/>
                </a:cxn>
                <a:cxn ang="0">
                  <a:pos x="31" y="2"/>
                </a:cxn>
                <a:cxn ang="0">
                  <a:pos x="15" y="2"/>
                </a:cxn>
                <a:cxn ang="0">
                  <a:pos x="2" y="75"/>
                </a:cxn>
                <a:cxn ang="0">
                  <a:pos x="12" y="85"/>
                </a:cxn>
                <a:cxn ang="0">
                  <a:pos x="28" y="86"/>
                </a:cxn>
                <a:cxn ang="0">
                  <a:pos x="38" y="31"/>
                </a:cxn>
                <a:cxn ang="0">
                  <a:pos x="52" y="22"/>
                </a:cxn>
                <a:cxn ang="0">
                  <a:pos x="60" y="31"/>
                </a:cxn>
                <a:cxn ang="0">
                  <a:pos x="55" y="60"/>
                </a:cxn>
                <a:cxn ang="0">
                  <a:pos x="60" y="80"/>
                </a:cxn>
                <a:cxn ang="0">
                  <a:pos x="76" y="87"/>
                </a:cxn>
                <a:cxn ang="0">
                  <a:pos x="94" y="83"/>
                </a:cxn>
              </a:cxnLst>
              <a:rect l="0" t="0" r="r" b="b"/>
              <a:pathLst>
                <a:path w="179" h="87">
                  <a:moveTo>
                    <a:pt x="94" y="83"/>
                  </a:moveTo>
                  <a:cubicBezTo>
                    <a:pt x="95" y="85"/>
                    <a:pt x="98" y="87"/>
                    <a:pt x="103" y="87"/>
                  </a:cubicBezTo>
                  <a:cubicBezTo>
                    <a:pt x="110" y="87"/>
                    <a:pt x="117" y="86"/>
                    <a:pt x="125" y="86"/>
                  </a:cubicBezTo>
                  <a:cubicBezTo>
                    <a:pt x="137" y="86"/>
                    <a:pt x="141" y="86"/>
                    <a:pt x="157" y="87"/>
                  </a:cubicBezTo>
                  <a:cubicBezTo>
                    <a:pt x="164" y="87"/>
                    <a:pt x="167" y="85"/>
                    <a:pt x="168" y="78"/>
                  </a:cubicBezTo>
                  <a:cubicBezTo>
                    <a:pt x="169" y="74"/>
                    <a:pt x="170" y="70"/>
                    <a:pt x="171" y="63"/>
                  </a:cubicBezTo>
                  <a:cubicBezTo>
                    <a:pt x="164" y="64"/>
                    <a:pt x="158" y="63"/>
                    <a:pt x="153" y="63"/>
                  </a:cubicBezTo>
                  <a:cubicBezTo>
                    <a:pt x="146" y="63"/>
                    <a:pt x="138" y="62"/>
                    <a:pt x="131" y="63"/>
                  </a:cubicBezTo>
                  <a:cubicBezTo>
                    <a:pt x="134" y="58"/>
                    <a:pt x="139" y="52"/>
                    <a:pt x="147" y="45"/>
                  </a:cubicBezTo>
                  <a:cubicBezTo>
                    <a:pt x="150" y="42"/>
                    <a:pt x="157" y="36"/>
                    <a:pt x="164" y="29"/>
                  </a:cubicBezTo>
                  <a:cubicBezTo>
                    <a:pt x="171" y="21"/>
                    <a:pt x="179" y="12"/>
                    <a:pt x="177" y="1"/>
                  </a:cubicBezTo>
                  <a:cubicBezTo>
                    <a:pt x="169" y="1"/>
                    <a:pt x="163" y="1"/>
                    <a:pt x="153" y="1"/>
                  </a:cubicBezTo>
                  <a:cubicBezTo>
                    <a:pt x="140" y="1"/>
                    <a:pt x="125" y="1"/>
                    <a:pt x="116" y="1"/>
                  </a:cubicBezTo>
                  <a:cubicBezTo>
                    <a:pt x="109" y="1"/>
                    <a:pt x="105" y="3"/>
                    <a:pt x="104" y="9"/>
                  </a:cubicBezTo>
                  <a:cubicBezTo>
                    <a:pt x="103" y="14"/>
                    <a:pt x="101" y="25"/>
                    <a:pt x="101" y="25"/>
                  </a:cubicBezTo>
                  <a:cubicBezTo>
                    <a:pt x="102" y="24"/>
                    <a:pt x="108" y="24"/>
                    <a:pt x="113" y="24"/>
                  </a:cubicBezTo>
                  <a:cubicBezTo>
                    <a:pt x="117" y="24"/>
                    <a:pt x="130" y="24"/>
                    <a:pt x="133" y="25"/>
                  </a:cubicBezTo>
                  <a:cubicBezTo>
                    <a:pt x="132" y="28"/>
                    <a:pt x="121" y="37"/>
                    <a:pt x="113" y="45"/>
                  </a:cubicBezTo>
                  <a:cubicBezTo>
                    <a:pt x="109" y="50"/>
                    <a:pt x="101" y="58"/>
                    <a:pt x="98" y="64"/>
                  </a:cubicBezTo>
                  <a:cubicBezTo>
                    <a:pt x="88" y="70"/>
                    <a:pt x="82" y="68"/>
                    <a:pt x="83" y="60"/>
                  </a:cubicBezTo>
                  <a:cubicBezTo>
                    <a:pt x="87" y="38"/>
                    <a:pt x="87" y="38"/>
                    <a:pt x="87" y="38"/>
                  </a:cubicBezTo>
                  <a:cubicBezTo>
                    <a:pt x="88" y="33"/>
                    <a:pt x="89" y="28"/>
                    <a:pt x="89" y="24"/>
                  </a:cubicBezTo>
                  <a:cubicBezTo>
                    <a:pt x="88" y="9"/>
                    <a:pt x="78" y="0"/>
                    <a:pt x="62" y="0"/>
                  </a:cubicBezTo>
                  <a:cubicBezTo>
                    <a:pt x="53" y="0"/>
                    <a:pt x="46" y="5"/>
                    <a:pt x="41" y="9"/>
                  </a:cubicBezTo>
                  <a:cubicBezTo>
                    <a:pt x="41" y="9"/>
                    <a:pt x="40" y="2"/>
                    <a:pt x="31" y="2"/>
                  </a:cubicBezTo>
                  <a:cubicBezTo>
                    <a:pt x="31" y="2"/>
                    <a:pt x="15" y="2"/>
                    <a:pt x="15" y="2"/>
                  </a:cubicBezTo>
                  <a:cubicBezTo>
                    <a:pt x="2" y="75"/>
                    <a:pt x="2" y="75"/>
                    <a:pt x="2" y="75"/>
                  </a:cubicBezTo>
                  <a:cubicBezTo>
                    <a:pt x="0" y="84"/>
                    <a:pt x="4" y="85"/>
                    <a:pt x="12" y="85"/>
                  </a:cubicBezTo>
                  <a:cubicBezTo>
                    <a:pt x="12" y="85"/>
                    <a:pt x="28" y="86"/>
                    <a:pt x="28" y="86"/>
                  </a:cubicBezTo>
                  <a:cubicBezTo>
                    <a:pt x="38" y="31"/>
                    <a:pt x="38" y="31"/>
                    <a:pt x="38" y="31"/>
                  </a:cubicBezTo>
                  <a:cubicBezTo>
                    <a:pt x="39" y="28"/>
                    <a:pt x="45" y="22"/>
                    <a:pt x="52" y="22"/>
                  </a:cubicBezTo>
                  <a:cubicBezTo>
                    <a:pt x="57" y="22"/>
                    <a:pt x="61" y="25"/>
                    <a:pt x="60" y="31"/>
                  </a:cubicBezTo>
                  <a:cubicBezTo>
                    <a:pt x="60" y="33"/>
                    <a:pt x="55" y="60"/>
                    <a:pt x="55" y="60"/>
                  </a:cubicBezTo>
                  <a:cubicBezTo>
                    <a:pt x="54" y="70"/>
                    <a:pt x="57" y="77"/>
                    <a:pt x="60" y="80"/>
                  </a:cubicBezTo>
                  <a:cubicBezTo>
                    <a:pt x="64" y="85"/>
                    <a:pt x="70" y="87"/>
                    <a:pt x="76" y="87"/>
                  </a:cubicBezTo>
                  <a:cubicBezTo>
                    <a:pt x="83" y="87"/>
                    <a:pt x="91" y="85"/>
                    <a:pt x="94" y="83"/>
                  </a:cubicBez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7" name="Freeform 59">
              <a:extLst>
                <a:ext uri="{FF2B5EF4-FFF2-40B4-BE49-F238E27FC236}">
                  <a16:creationId xmlns:a16="http://schemas.microsoft.com/office/drawing/2014/main" id="{FFD26442-838B-AB96-A9B3-9E0AF9D07791}"/>
                </a:ext>
              </a:extLst>
            </p:cNvPr>
            <p:cNvSpPr>
              <a:spLocks/>
            </p:cNvSpPr>
            <p:nvPr userDrawn="1"/>
          </p:nvSpPr>
          <p:spPr bwMode="auto">
            <a:xfrm>
              <a:off x="5671" y="111"/>
              <a:ext cx="102" cy="98"/>
            </a:xfrm>
            <a:custGeom>
              <a:avLst/>
              <a:gdLst/>
              <a:ahLst/>
              <a:cxnLst>
                <a:cxn ang="0">
                  <a:pos x="24" y="0"/>
                </a:cxn>
                <a:cxn ang="0">
                  <a:pos x="26" y="13"/>
                </a:cxn>
                <a:cxn ang="0">
                  <a:pos x="28" y="15"/>
                </a:cxn>
                <a:cxn ang="0">
                  <a:pos x="42" y="15"/>
                </a:cxn>
                <a:cxn ang="0">
                  <a:pos x="30" y="23"/>
                </a:cxn>
                <a:cxn ang="0">
                  <a:pos x="28" y="27"/>
                </a:cxn>
                <a:cxn ang="0">
                  <a:pos x="30" y="40"/>
                </a:cxn>
                <a:cxn ang="0">
                  <a:pos x="30" y="40"/>
                </a:cxn>
                <a:cxn ang="0">
                  <a:pos x="20" y="32"/>
                </a:cxn>
                <a:cxn ang="0">
                  <a:pos x="17" y="32"/>
                </a:cxn>
                <a:cxn ang="0">
                  <a:pos x="4" y="40"/>
                </a:cxn>
                <a:cxn ang="0">
                  <a:pos x="10" y="27"/>
                </a:cxn>
                <a:cxn ang="0">
                  <a:pos x="10" y="23"/>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4"/>
                    <a:pt x="27" y="15"/>
                    <a:pt x="28" y="15"/>
                  </a:cubicBezTo>
                  <a:cubicBezTo>
                    <a:pt x="28" y="15"/>
                    <a:pt x="42" y="15"/>
                    <a:pt x="42" y="15"/>
                  </a:cubicBezTo>
                  <a:cubicBezTo>
                    <a:pt x="30" y="23"/>
                    <a:pt x="30" y="23"/>
                    <a:pt x="30" y="23"/>
                  </a:cubicBezTo>
                  <a:cubicBezTo>
                    <a:pt x="29" y="24"/>
                    <a:pt x="28" y="25"/>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6" y="32"/>
                    <a:pt x="4" y="40"/>
                    <a:pt x="4" y="40"/>
                  </a:cubicBezTo>
                  <a:cubicBezTo>
                    <a:pt x="10" y="27"/>
                    <a:pt x="10" y="27"/>
                    <a:pt x="10" y="27"/>
                  </a:cubicBezTo>
                  <a:cubicBezTo>
                    <a:pt x="11" y="25"/>
                    <a:pt x="11" y="24"/>
                    <a:pt x="10" y="23"/>
                  </a:cubicBezTo>
                  <a:cubicBezTo>
                    <a:pt x="10" y="23"/>
                    <a:pt x="0" y="15"/>
                    <a:pt x="0" y="15"/>
                  </a:cubicBezTo>
                  <a:cubicBezTo>
                    <a:pt x="0" y="15"/>
                    <a:pt x="0" y="15"/>
                    <a:pt x="0" y="15"/>
                  </a:cubicBezTo>
                  <a:cubicBezTo>
                    <a:pt x="14" y="15"/>
                    <a:pt x="14" y="15"/>
                    <a:pt x="14" y="15"/>
                  </a:cubicBezTo>
                  <a:cubicBezTo>
                    <a:pt x="15" y="15"/>
                    <a:pt x="17" y="14"/>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8" name="Freeform 60">
              <a:extLst>
                <a:ext uri="{FF2B5EF4-FFF2-40B4-BE49-F238E27FC236}">
                  <a16:creationId xmlns:a16="http://schemas.microsoft.com/office/drawing/2014/main" id="{E934774D-2F3E-FF4E-71A1-B05237304619}"/>
                </a:ext>
              </a:extLst>
            </p:cNvPr>
            <p:cNvSpPr>
              <a:spLocks/>
            </p:cNvSpPr>
            <p:nvPr userDrawn="1"/>
          </p:nvSpPr>
          <p:spPr bwMode="auto">
            <a:xfrm>
              <a:off x="5566" y="177"/>
              <a:ext cx="102" cy="98"/>
            </a:xfrm>
            <a:custGeom>
              <a:avLst/>
              <a:gdLst/>
              <a:ahLst/>
              <a:cxnLst>
                <a:cxn ang="0">
                  <a:pos x="23" y="0"/>
                </a:cxn>
                <a:cxn ang="0">
                  <a:pos x="26" y="13"/>
                </a:cxn>
                <a:cxn ang="0">
                  <a:pos x="28" y="15"/>
                </a:cxn>
                <a:cxn ang="0">
                  <a:pos x="42" y="15"/>
                </a:cxn>
                <a:cxn ang="0">
                  <a:pos x="29" y="24"/>
                </a:cxn>
                <a:cxn ang="0">
                  <a:pos x="28" y="27"/>
                </a:cxn>
                <a:cxn ang="0">
                  <a:pos x="30" y="40"/>
                </a:cxn>
                <a:cxn ang="0">
                  <a:pos x="30" y="40"/>
                </a:cxn>
                <a:cxn ang="0">
                  <a:pos x="20" y="32"/>
                </a:cxn>
                <a:cxn ang="0">
                  <a:pos x="16" y="32"/>
                </a:cxn>
                <a:cxn ang="0">
                  <a:pos x="4"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6" y="13"/>
                    <a:pt x="26" y="13"/>
                    <a:pt x="26"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4" y="40"/>
                    <a:pt x="4"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9" name="Freeform 61">
              <a:extLst>
                <a:ext uri="{FF2B5EF4-FFF2-40B4-BE49-F238E27FC236}">
                  <a16:creationId xmlns:a16="http://schemas.microsoft.com/office/drawing/2014/main" id="{2F75AE71-D978-EAC7-283C-95EED100D356}"/>
                </a:ext>
              </a:extLst>
            </p:cNvPr>
            <p:cNvSpPr>
              <a:spLocks/>
            </p:cNvSpPr>
            <p:nvPr userDrawn="1"/>
          </p:nvSpPr>
          <p:spPr bwMode="auto">
            <a:xfrm>
              <a:off x="5751" y="164"/>
              <a:ext cx="102" cy="98"/>
            </a:xfrm>
            <a:custGeom>
              <a:avLst/>
              <a:gdLst/>
              <a:ahLst/>
              <a:cxnLst>
                <a:cxn ang="0">
                  <a:pos x="23" y="0"/>
                </a:cxn>
                <a:cxn ang="0">
                  <a:pos x="25" y="13"/>
                </a:cxn>
                <a:cxn ang="0">
                  <a:pos x="28" y="15"/>
                </a:cxn>
                <a:cxn ang="0">
                  <a:pos x="42" y="15"/>
                </a:cxn>
                <a:cxn ang="0">
                  <a:pos x="29" y="24"/>
                </a:cxn>
                <a:cxn ang="0">
                  <a:pos x="28" y="27"/>
                </a:cxn>
                <a:cxn ang="0">
                  <a:pos x="30" y="40"/>
                </a:cxn>
                <a:cxn ang="0">
                  <a:pos x="30" y="40"/>
                </a:cxn>
                <a:cxn ang="0">
                  <a:pos x="20" y="32"/>
                </a:cxn>
                <a:cxn ang="0">
                  <a:pos x="16" y="32"/>
                </a:cxn>
                <a:cxn ang="0">
                  <a:pos x="3"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5" y="13"/>
                    <a:pt x="25" y="13"/>
                    <a:pt x="25"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3" y="40"/>
                    <a:pt x="3"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10" name="Freeform 62">
              <a:extLst>
                <a:ext uri="{FF2B5EF4-FFF2-40B4-BE49-F238E27FC236}">
                  <a16:creationId xmlns:a16="http://schemas.microsoft.com/office/drawing/2014/main" id="{E9F9D562-640F-BDD5-8F2F-E94A96813380}"/>
                </a:ext>
              </a:extLst>
            </p:cNvPr>
            <p:cNvSpPr>
              <a:spLocks/>
            </p:cNvSpPr>
            <p:nvPr userDrawn="1"/>
          </p:nvSpPr>
          <p:spPr bwMode="auto">
            <a:xfrm>
              <a:off x="5632" y="316"/>
              <a:ext cx="102" cy="98"/>
            </a:xfrm>
            <a:custGeom>
              <a:avLst/>
              <a:gdLst/>
              <a:ahLst/>
              <a:cxnLst>
                <a:cxn ang="0">
                  <a:pos x="24" y="0"/>
                </a:cxn>
                <a:cxn ang="0">
                  <a:pos x="26" y="13"/>
                </a:cxn>
                <a:cxn ang="0">
                  <a:pos x="29" y="15"/>
                </a:cxn>
                <a:cxn ang="0">
                  <a:pos x="42" y="15"/>
                </a:cxn>
                <a:cxn ang="0">
                  <a:pos x="30" y="24"/>
                </a:cxn>
                <a:cxn ang="0">
                  <a:pos x="28" y="27"/>
                </a:cxn>
                <a:cxn ang="0">
                  <a:pos x="30" y="40"/>
                </a:cxn>
                <a:cxn ang="0">
                  <a:pos x="30" y="40"/>
                </a:cxn>
                <a:cxn ang="0">
                  <a:pos x="20" y="32"/>
                </a:cxn>
                <a:cxn ang="0">
                  <a:pos x="17" y="32"/>
                </a:cxn>
                <a:cxn ang="0">
                  <a:pos x="4" y="40"/>
                </a:cxn>
                <a:cxn ang="0">
                  <a:pos x="10" y="27"/>
                </a:cxn>
                <a:cxn ang="0">
                  <a:pos x="10" y="24"/>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5"/>
                    <a:pt x="27" y="15"/>
                    <a:pt x="29" y="15"/>
                  </a:cubicBezTo>
                  <a:cubicBezTo>
                    <a:pt x="29" y="15"/>
                    <a:pt x="42" y="15"/>
                    <a:pt x="42" y="15"/>
                  </a:cubicBezTo>
                  <a:cubicBezTo>
                    <a:pt x="30" y="24"/>
                    <a:pt x="30" y="24"/>
                    <a:pt x="30" y="24"/>
                  </a:cubicBezTo>
                  <a:cubicBezTo>
                    <a:pt x="29" y="24"/>
                    <a:pt x="28" y="26"/>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7" y="32"/>
                    <a:pt x="4" y="40"/>
                    <a:pt x="4" y="40"/>
                  </a:cubicBezTo>
                  <a:cubicBezTo>
                    <a:pt x="10" y="27"/>
                    <a:pt x="10" y="27"/>
                    <a:pt x="10" y="27"/>
                  </a:cubicBezTo>
                  <a:cubicBezTo>
                    <a:pt x="11" y="26"/>
                    <a:pt x="11" y="24"/>
                    <a:pt x="10" y="24"/>
                  </a:cubicBezTo>
                  <a:cubicBezTo>
                    <a:pt x="10" y="24"/>
                    <a:pt x="0" y="15"/>
                    <a:pt x="0" y="15"/>
                  </a:cubicBezTo>
                  <a:cubicBezTo>
                    <a:pt x="0" y="15"/>
                    <a:pt x="0" y="15"/>
                    <a:pt x="0" y="15"/>
                  </a:cubicBezTo>
                  <a:cubicBezTo>
                    <a:pt x="14" y="15"/>
                    <a:pt x="14" y="15"/>
                    <a:pt x="14" y="15"/>
                  </a:cubicBezTo>
                  <a:cubicBezTo>
                    <a:pt x="15" y="15"/>
                    <a:pt x="17" y="15"/>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grpSp>
      <p:sp>
        <p:nvSpPr>
          <p:cNvPr id="11" name="TextBox 10">
            <a:extLst>
              <a:ext uri="{FF2B5EF4-FFF2-40B4-BE49-F238E27FC236}">
                <a16:creationId xmlns:a16="http://schemas.microsoft.com/office/drawing/2014/main" id="{DE386290-E090-0E1C-0DCF-B05E1E943DEC}"/>
              </a:ext>
            </a:extLst>
          </p:cNvPr>
          <p:cNvSpPr txBox="1"/>
          <p:nvPr userDrawn="1"/>
        </p:nvSpPr>
        <p:spPr>
          <a:xfrm>
            <a:off x="252046" y="1166813"/>
            <a:ext cx="4246685" cy="1619250"/>
          </a:xfrm>
          <a:prstGeom prst="rect">
            <a:avLst/>
          </a:prstGeom>
          <a:noFill/>
          <a:ln>
            <a:noFill/>
          </a:ln>
        </p:spPr>
        <p:txBody>
          <a:bodyPr/>
          <a:lstStyle/>
          <a:p>
            <a:pPr>
              <a:defRPr/>
            </a:pPr>
            <a:endParaRPr lang="en-NZ" sz="900" dirty="0" err="1">
              <a:latin typeface="Arial" charset="0"/>
            </a:endParaRPr>
          </a:p>
        </p:txBody>
      </p:sp>
      <p:sp>
        <p:nvSpPr>
          <p:cNvPr id="12" name="TextBox 11">
            <a:extLst>
              <a:ext uri="{FF2B5EF4-FFF2-40B4-BE49-F238E27FC236}">
                <a16:creationId xmlns:a16="http://schemas.microsoft.com/office/drawing/2014/main" id="{734F416A-AD7D-E707-DF80-F2F2A4340E8D}"/>
              </a:ext>
            </a:extLst>
          </p:cNvPr>
          <p:cNvSpPr txBox="1"/>
          <p:nvPr userDrawn="1"/>
        </p:nvSpPr>
        <p:spPr>
          <a:xfrm>
            <a:off x="4645269" y="1168004"/>
            <a:ext cx="4246685" cy="1619250"/>
          </a:xfrm>
          <a:prstGeom prst="rect">
            <a:avLst/>
          </a:prstGeom>
          <a:noFill/>
          <a:ln>
            <a:noFill/>
          </a:ln>
        </p:spPr>
        <p:txBody>
          <a:bodyPr/>
          <a:lstStyle/>
          <a:p>
            <a:pPr marL="134541" lvl="1" indent="-134541">
              <a:buFont typeface="Arial" pitchFamily="34" charset="0"/>
              <a:buChar char="•"/>
              <a:defRPr/>
            </a:pPr>
            <a:r>
              <a:rPr lang="en-NZ" sz="1200" dirty="0">
                <a:solidFill>
                  <a:schemeClr val="bg1"/>
                </a:solidFill>
                <a:cs typeface="Arial" pitchFamily="34" charset="0"/>
              </a:rPr>
              <a:t>What is the key message?</a:t>
            </a:r>
          </a:p>
          <a:p>
            <a:pPr marL="134541" lvl="1" indent="-134541">
              <a:buFont typeface="Arial" pitchFamily="34" charset="0"/>
              <a:buChar char="•"/>
              <a:defRPr/>
            </a:pPr>
            <a:r>
              <a:rPr lang="en-NZ" sz="1200" dirty="0">
                <a:solidFill>
                  <a:schemeClr val="bg1"/>
                </a:solidFill>
                <a:cs typeface="Arial" pitchFamily="34" charset="0"/>
              </a:rPr>
              <a:t>How does it fit with the overall story?</a:t>
            </a:r>
          </a:p>
          <a:p>
            <a:pPr marL="134541" lvl="1" indent="-134541">
              <a:buFont typeface="Arial" pitchFamily="34" charset="0"/>
              <a:buChar char="•"/>
              <a:defRPr/>
            </a:pPr>
            <a:r>
              <a:rPr lang="en-NZ" sz="1200" dirty="0">
                <a:solidFill>
                  <a:schemeClr val="bg1"/>
                </a:solidFill>
                <a:cs typeface="Arial" pitchFamily="34" charset="0"/>
              </a:rPr>
              <a:t>Does the content pass the ‘so what’ test?</a:t>
            </a:r>
          </a:p>
        </p:txBody>
      </p:sp>
      <p:sp>
        <p:nvSpPr>
          <p:cNvPr id="13" name="TextBox 12">
            <a:extLst>
              <a:ext uri="{FF2B5EF4-FFF2-40B4-BE49-F238E27FC236}">
                <a16:creationId xmlns:a16="http://schemas.microsoft.com/office/drawing/2014/main" id="{2D636E65-E754-8411-4BFB-C2860DAF74EF}"/>
              </a:ext>
            </a:extLst>
          </p:cNvPr>
          <p:cNvSpPr txBox="1"/>
          <p:nvPr userDrawn="1"/>
        </p:nvSpPr>
        <p:spPr>
          <a:xfrm>
            <a:off x="252046" y="1168004"/>
            <a:ext cx="4246685" cy="1619250"/>
          </a:xfrm>
          <a:prstGeom prst="rect">
            <a:avLst/>
          </a:prstGeom>
          <a:noFill/>
          <a:ln>
            <a:noFill/>
          </a:ln>
        </p:spPr>
        <p:txBody>
          <a:bodyPr/>
          <a:lstStyle/>
          <a:p>
            <a:pPr marL="134541" lvl="1" indent="-134541">
              <a:buFont typeface="Arial" pitchFamily="34" charset="0"/>
              <a:buChar char="•"/>
              <a:defRPr/>
            </a:pPr>
            <a:r>
              <a:rPr lang="en-NZ" sz="1200" dirty="0">
                <a:solidFill>
                  <a:schemeClr val="bg1"/>
                </a:solidFill>
                <a:cs typeface="Arial" pitchFamily="34" charset="0"/>
              </a:rPr>
              <a:t>Who is the audience?</a:t>
            </a:r>
          </a:p>
          <a:p>
            <a:pPr marL="134541" lvl="1" indent="-134541">
              <a:buFont typeface="Arial" pitchFamily="34" charset="0"/>
              <a:buChar char="•"/>
              <a:defRPr/>
            </a:pPr>
            <a:r>
              <a:rPr lang="en-NZ" sz="1200" dirty="0">
                <a:solidFill>
                  <a:schemeClr val="bg1"/>
                </a:solidFill>
                <a:cs typeface="Arial" pitchFamily="34" charset="0"/>
              </a:rPr>
              <a:t>Why should they see this (what’s in it for them)?</a:t>
            </a:r>
          </a:p>
          <a:p>
            <a:pPr marL="134541" lvl="1" indent="-134541">
              <a:buFont typeface="Arial" pitchFamily="34" charset="0"/>
              <a:buChar char="•"/>
              <a:defRPr/>
            </a:pPr>
            <a:r>
              <a:rPr lang="en-NZ" sz="1200" dirty="0">
                <a:solidFill>
                  <a:schemeClr val="bg1"/>
                </a:solidFill>
                <a:cs typeface="Arial" pitchFamily="34" charset="0"/>
              </a:rPr>
              <a:t>What are the key points you want to communicate?</a:t>
            </a:r>
          </a:p>
          <a:p>
            <a:pPr marL="134541" lvl="1" indent="-134541">
              <a:buFont typeface="Arial" pitchFamily="34" charset="0"/>
              <a:buChar char="•"/>
              <a:defRPr/>
            </a:pPr>
            <a:r>
              <a:rPr lang="en-NZ" sz="1200" dirty="0">
                <a:solidFill>
                  <a:schemeClr val="bg1"/>
                </a:solidFill>
                <a:cs typeface="Arial" pitchFamily="34" charset="0"/>
              </a:rPr>
              <a:t>What do you want to happen as a result?</a:t>
            </a:r>
          </a:p>
          <a:p>
            <a:pPr marL="134541" lvl="1" indent="-134541">
              <a:buFont typeface="Arial" pitchFamily="34" charset="0"/>
              <a:buChar char="•"/>
              <a:defRPr/>
            </a:pPr>
            <a:r>
              <a:rPr lang="en-NZ" sz="1200" dirty="0">
                <a:solidFill>
                  <a:schemeClr val="bg1"/>
                </a:solidFill>
                <a:cs typeface="Arial" pitchFamily="34" charset="0"/>
              </a:rPr>
              <a:t>Is this document being presented or distributed as a reading pack?</a:t>
            </a:r>
          </a:p>
        </p:txBody>
      </p:sp>
      <p:sp>
        <p:nvSpPr>
          <p:cNvPr id="14" name="TextBox 13">
            <a:extLst>
              <a:ext uri="{FF2B5EF4-FFF2-40B4-BE49-F238E27FC236}">
                <a16:creationId xmlns:a16="http://schemas.microsoft.com/office/drawing/2014/main" id="{7796A8D1-FA2B-539D-836D-097544382038}"/>
              </a:ext>
            </a:extLst>
          </p:cNvPr>
          <p:cNvSpPr txBox="1"/>
          <p:nvPr userDrawn="1"/>
        </p:nvSpPr>
        <p:spPr>
          <a:xfrm>
            <a:off x="252047" y="132160"/>
            <a:ext cx="6915150" cy="656034"/>
          </a:xfrm>
          <a:prstGeom prst="rect">
            <a:avLst/>
          </a:prstGeom>
          <a:noFill/>
          <a:ln>
            <a:noFill/>
          </a:ln>
        </p:spPr>
        <p:txBody>
          <a:bodyPr/>
          <a:lstStyle/>
          <a:p>
            <a:pPr>
              <a:defRPr/>
            </a:pPr>
            <a:r>
              <a:rPr lang="en-NZ" sz="1500" b="1" dirty="0">
                <a:solidFill>
                  <a:schemeClr val="accent2"/>
                </a:solidFill>
                <a:latin typeface="Arial" charset="0"/>
              </a:rPr>
              <a:t>Presentation Planner</a:t>
            </a:r>
          </a:p>
        </p:txBody>
      </p:sp>
      <p:sp>
        <p:nvSpPr>
          <p:cNvPr id="33" name="Text Placeholder 32"/>
          <p:cNvSpPr>
            <a:spLocks noGrp="1"/>
          </p:cNvSpPr>
          <p:nvPr>
            <p:ph type="body" sz="quarter" idx="10"/>
          </p:nvPr>
        </p:nvSpPr>
        <p:spPr>
          <a:xfrm>
            <a:off x="252554" y="2843100"/>
            <a:ext cx="8640000" cy="2104914"/>
          </a:xfrm>
        </p:spPr>
        <p:txBody>
          <a:bodyPr>
            <a:normAutofit/>
          </a:bodyPr>
          <a:lstStyle>
            <a:lvl1pPr>
              <a:defRPr sz="1050">
                <a:solidFill>
                  <a:schemeClr val="bg1"/>
                </a:solidFill>
              </a:defRPr>
            </a:lvl1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726025839"/>
      </p:ext>
    </p:extLst>
  </p:cSld>
  <p:clrMapOvr>
    <a:masterClrMapping/>
  </p:clrMapOvr>
  <p:hf sldNum="0"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 preserve="1">
  <p:cSld name="Title Slide Option 2">
    <p:spTree>
      <p:nvGrpSpPr>
        <p:cNvPr id="1" name=""/>
        <p:cNvGrpSpPr/>
        <p:nvPr/>
      </p:nvGrpSpPr>
      <p:grpSpPr>
        <a:xfrm>
          <a:off x="0" y="0"/>
          <a:ext cx="0" cy="0"/>
          <a:chOff x="0" y="0"/>
          <a:chExt cx="0" cy="0"/>
        </a:xfrm>
      </p:grpSpPr>
      <p:pic>
        <p:nvPicPr>
          <p:cNvPr id="4" name="Picture 34" descr="26771 _Elements 1-0Si_2">
            <a:extLst>
              <a:ext uri="{FF2B5EF4-FFF2-40B4-BE49-F238E27FC236}">
                <a16:creationId xmlns:a16="http://schemas.microsoft.com/office/drawing/2014/main" id="{1F79EFCE-B856-85FE-0D8B-180A0F76037B}"/>
              </a:ext>
            </a:extLst>
          </p:cNvPr>
          <p:cNvPicPr>
            <a:picLocks noChangeAspect="1" noChangeArrowheads="1"/>
          </p:cNvPicPr>
          <p:nvPr userDrawn="1"/>
        </p:nvPicPr>
        <p:blipFill>
          <a:blip r:embed="rId2"/>
          <a:srcRect/>
          <a:stretch>
            <a:fillRect/>
          </a:stretch>
        </p:blipFill>
        <p:spPr bwMode="auto">
          <a:xfrm>
            <a:off x="0" y="951310"/>
            <a:ext cx="9144000" cy="3240881"/>
          </a:xfrm>
          <a:prstGeom prst="rect">
            <a:avLst/>
          </a:prstGeom>
          <a:gradFill>
            <a:gsLst>
              <a:gs pos="10000">
                <a:schemeClr val="tx2"/>
              </a:gs>
              <a:gs pos="90000">
                <a:srgbClr val="0A1C42"/>
              </a:gs>
            </a:gsLst>
            <a:lin ang="5400000" scaled="0"/>
          </a:gradFill>
          <a:ln w="9525">
            <a:noFill/>
            <a:miter lim="800000"/>
            <a:headEnd/>
            <a:tailEnd/>
          </a:ln>
        </p:spPr>
      </p:pic>
      <p:sp>
        <p:nvSpPr>
          <p:cNvPr id="2" name="Title 1"/>
          <p:cNvSpPr>
            <a:spLocks noGrp="1"/>
          </p:cNvSpPr>
          <p:nvPr>
            <p:ph type="ctrTitle"/>
          </p:nvPr>
        </p:nvSpPr>
        <p:spPr>
          <a:xfrm>
            <a:off x="971602" y="1491632"/>
            <a:ext cx="7200800" cy="1102519"/>
          </a:xfrm>
        </p:spPr>
        <p:txBody>
          <a:bodyPr>
            <a:normAutofit/>
          </a:bodyPr>
          <a:lstStyle>
            <a:lvl1pPr>
              <a:defRPr sz="3000">
                <a:solidFill>
                  <a:schemeClr val="bg1"/>
                </a:solidFill>
              </a:defRPr>
            </a:lvl1pPr>
          </a:lstStyle>
          <a:p>
            <a:r>
              <a:rPr lang="en-US" dirty="0"/>
              <a:t>Click to edit Master title style</a:t>
            </a:r>
            <a:endParaRPr lang="en-NZ" dirty="0"/>
          </a:p>
        </p:txBody>
      </p:sp>
      <p:sp>
        <p:nvSpPr>
          <p:cNvPr id="3" name="Subtitle 2"/>
          <p:cNvSpPr>
            <a:spLocks noGrp="1"/>
          </p:cNvSpPr>
          <p:nvPr>
            <p:ph type="subTitle" idx="1"/>
          </p:nvPr>
        </p:nvSpPr>
        <p:spPr>
          <a:xfrm>
            <a:off x="971602" y="3057804"/>
            <a:ext cx="7200800" cy="864096"/>
          </a:xfrm>
        </p:spPr>
        <p:txBody>
          <a:bodyPr>
            <a:normAutofit/>
          </a:bodyPr>
          <a:lstStyle>
            <a:lvl1pPr marL="0" indent="0" algn="l" defTabSz="685800" rtl="0" eaLnBrk="1" latinLnBrk="0" hangingPunct="1">
              <a:spcBef>
                <a:spcPct val="0"/>
              </a:spcBef>
              <a:buNone/>
              <a:defRPr lang="en-NZ" sz="1350" b="1" kern="1200" dirty="0" smtClean="0">
                <a:solidFill>
                  <a:schemeClr val="bg1"/>
                </a:solidFill>
                <a:latin typeface="Arial" pitchFamily="34" charset="0"/>
                <a:ea typeface="+mj-ea"/>
                <a:cs typeface="Arial"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NZ" noProof="0" dirty="0"/>
              <a:t>Click to edit Master subtitle style</a:t>
            </a:r>
          </a:p>
        </p:txBody>
      </p:sp>
      <p:sp>
        <p:nvSpPr>
          <p:cNvPr id="5" name="Footer Placeholder 4">
            <a:extLst>
              <a:ext uri="{FF2B5EF4-FFF2-40B4-BE49-F238E27FC236}">
                <a16:creationId xmlns:a16="http://schemas.microsoft.com/office/drawing/2014/main" id="{80CDF702-98EE-A8A9-5BA0-AEDD9018B77A}"/>
              </a:ext>
            </a:extLst>
          </p:cNvPr>
          <p:cNvSpPr>
            <a:spLocks noGrp="1"/>
          </p:cNvSpPr>
          <p:nvPr>
            <p:ph type="ftr" sz="quarter" idx="10"/>
          </p:nvPr>
        </p:nvSpPr>
        <p:spPr/>
        <p:txBody>
          <a:bodyPr/>
          <a:lstStyle>
            <a:lvl1pPr>
              <a:defRPr b="1">
                <a:solidFill>
                  <a:schemeClr val="tx1">
                    <a:lumMod val="50000"/>
                    <a:lumOff val="50000"/>
                  </a:schemeClr>
                </a:solidFill>
              </a:defRPr>
            </a:lvl1pPr>
          </a:lstStyle>
          <a:p>
            <a:pPr>
              <a:defRPr/>
            </a:pPr>
            <a:r>
              <a:t>Confidential – Internal BNZ Discussion Only</a:t>
            </a:r>
          </a:p>
        </p:txBody>
      </p:sp>
    </p:spTree>
    <p:extLst>
      <p:ext uri="{BB962C8B-B14F-4D97-AF65-F5344CB8AC3E}">
        <p14:creationId xmlns:p14="http://schemas.microsoft.com/office/powerpoint/2010/main" val="27191573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060974"/>
            <a:ext cx="7772400" cy="1021556"/>
          </a:xfrm>
        </p:spPr>
        <p:txBody>
          <a:bodyPr anchor="t">
            <a:noAutofit/>
          </a:bodyPr>
          <a:lstStyle>
            <a:lvl1pPr algn="l" defTabSz="685800" rtl="0" eaLnBrk="1" latinLnBrk="0" hangingPunct="1">
              <a:spcBef>
                <a:spcPct val="0"/>
              </a:spcBef>
              <a:buNone/>
              <a:defRPr lang="en-NZ" sz="2700" b="1" kern="1200" dirty="0" smtClean="0">
                <a:solidFill>
                  <a:schemeClr val="tx2"/>
                </a:solidFill>
                <a:latin typeface="Arial" pitchFamily="34" charset="0"/>
                <a:ea typeface="+mj-ea"/>
                <a:cs typeface="Arial" pitchFamily="34" charset="0"/>
              </a:defRPr>
            </a:lvl1pPr>
          </a:lstStyle>
          <a:p>
            <a:r>
              <a:rPr lang="en-NZ" noProof="0" dirty="0"/>
              <a:t>Click to edit Master title style</a:t>
            </a:r>
          </a:p>
        </p:txBody>
      </p:sp>
      <p:sp>
        <p:nvSpPr>
          <p:cNvPr id="3" name="Footer Placeholder 4">
            <a:extLst>
              <a:ext uri="{FF2B5EF4-FFF2-40B4-BE49-F238E27FC236}">
                <a16:creationId xmlns:a16="http://schemas.microsoft.com/office/drawing/2014/main" id="{251E5B37-50CA-7C94-B332-4DDEAD9A0972}"/>
              </a:ext>
            </a:extLst>
          </p:cNvPr>
          <p:cNvSpPr>
            <a:spLocks noGrp="1"/>
          </p:cNvSpPr>
          <p:nvPr>
            <p:ph type="ftr" sz="quarter" idx="10"/>
          </p:nvPr>
        </p:nvSpPr>
        <p:spPr/>
        <p:txBody>
          <a:bodyPr/>
          <a:lstStyle>
            <a:lvl1pPr>
              <a:defRPr>
                <a:solidFill>
                  <a:schemeClr val="tx1">
                    <a:lumMod val="50000"/>
                    <a:lumOff val="50000"/>
                  </a:schemeClr>
                </a:solidFill>
              </a:defRPr>
            </a:lvl1pPr>
          </a:lstStyle>
          <a:p>
            <a:pPr>
              <a:defRPr/>
            </a:pPr>
            <a:r>
              <a:t>Confidential – Internal BNZ Discussion Only</a:t>
            </a:r>
          </a:p>
        </p:txBody>
      </p:sp>
    </p:spTree>
    <p:extLst>
      <p:ext uri="{BB962C8B-B14F-4D97-AF65-F5344CB8AC3E}">
        <p14:creationId xmlns:p14="http://schemas.microsoft.com/office/powerpoint/2010/main" val="196168193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s_Page_Option">
    <p:bg>
      <p:bgPr>
        <a:gradFill rotWithShape="0">
          <a:gsLst>
            <a:gs pos="0">
              <a:srgbClr val="073775"/>
            </a:gs>
            <a:gs pos="10001">
              <a:srgbClr val="073775"/>
            </a:gs>
            <a:gs pos="100000">
              <a:srgbClr val="0A1C42"/>
            </a:gs>
          </a:gsLst>
          <a:lin ang="5400000"/>
        </a:gradFill>
        <a:effectLst/>
      </p:bgPr>
    </p:bg>
    <p:spTree>
      <p:nvGrpSpPr>
        <p:cNvPr id="1" name=""/>
        <p:cNvGrpSpPr/>
        <p:nvPr/>
      </p:nvGrpSpPr>
      <p:grpSpPr>
        <a:xfrm>
          <a:off x="0" y="0"/>
          <a:ext cx="0" cy="0"/>
          <a:chOff x="0" y="0"/>
          <a:chExt cx="0" cy="0"/>
        </a:xfrm>
      </p:grpSpPr>
      <p:grpSp>
        <p:nvGrpSpPr>
          <p:cNvPr id="2" name="Group 56">
            <a:extLst>
              <a:ext uri="{FF2B5EF4-FFF2-40B4-BE49-F238E27FC236}">
                <a16:creationId xmlns:a16="http://schemas.microsoft.com/office/drawing/2014/main" id="{F7B71BED-1854-7EE9-16E8-D9CED3E4B365}"/>
              </a:ext>
            </a:extLst>
          </p:cNvPr>
          <p:cNvGrpSpPr>
            <a:grpSpLocks/>
          </p:cNvGrpSpPr>
          <p:nvPr userDrawn="1"/>
        </p:nvGrpSpPr>
        <p:grpSpPr bwMode="auto">
          <a:xfrm>
            <a:off x="7589228" y="135732"/>
            <a:ext cx="1362808" cy="540544"/>
            <a:chOff x="4923" y="111"/>
            <a:chExt cx="930" cy="454"/>
          </a:xfrm>
        </p:grpSpPr>
        <p:sp>
          <p:nvSpPr>
            <p:cNvPr id="4" name="Freeform 57">
              <a:extLst>
                <a:ext uri="{FF2B5EF4-FFF2-40B4-BE49-F238E27FC236}">
                  <a16:creationId xmlns:a16="http://schemas.microsoft.com/office/drawing/2014/main" id="{1A0E4E93-71B4-A7DE-7E1A-760240037C81}"/>
                </a:ext>
              </a:extLst>
            </p:cNvPr>
            <p:cNvSpPr>
              <a:spLocks noEditPoints="1"/>
            </p:cNvSpPr>
            <p:nvPr userDrawn="1"/>
          </p:nvSpPr>
          <p:spPr bwMode="auto">
            <a:xfrm>
              <a:off x="4923" y="262"/>
              <a:ext cx="224" cy="303"/>
            </a:xfrm>
            <a:custGeom>
              <a:avLst/>
              <a:gdLst/>
              <a:ahLst/>
              <a:cxnLst>
                <a:cxn ang="0">
                  <a:pos x="42" y="46"/>
                </a:cxn>
                <a:cxn ang="0">
                  <a:pos x="63" y="38"/>
                </a:cxn>
                <a:cxn ang="0">
                  <a:pos x="92" y="67"/>
                </a:cxn>
                <a:cxn ang="0">
                  <a:pos x="38" y="124"/>
                </a:cxn>
                <a:cxn ang="0">
                  <a:pos x="0" y="117"/>
                </a:cxn>
                <a:cxn ang="0">
                  <a:pos x="19" y="12"/>
                </a:cxn>
                <a:cxn ang="0">
                  <a:pos x="34" y="0"/>
                </a:cxn>
                <a:cxn ang="0">
                  <a:pos x="50" y="0"/>
                </a:cxn>
                <a:cxn ang="0">
                  <a:pos x="42" y="46"/>
                </a:cxn>
                <a:cxn ang="0">
                  <a:pos x="32" y="100"/>
                </a:cxn>
                <a:cxn ang="0">
                  <a:pos x="39" y="101"/>
                </a:cxn>
                <a:cxn ang="0">
                  <a:pos x="62" y="71"/>
                </a:cxn>
                <a:cxn ang="0">
                  <a:pos x="52" y="60"/>
                </a:cxn>
                <a:cxn ang="0">
                  <a:pos x="38" y="67"/>
                </a:cxn>
                <a:cxn ang="0">
                  <a:pos x="32" y="100"/>
                </a:cxn>
              </a:cxnLst>
              <a:rect l="0" t="0" r="r" b="b"/>
              <a:pathLst>
                <a:path w="92" h="124">
                  <a:moveTo>
                    <a:pt x="42" y="46"/>
                  </a:moveTo>
                  <a:cubicBezTo>
                    <a:pt x="46" y="41"/>
                    <a:pt x="55" y="37"/>
                    <a:pt x="63" y="38"/>
                  </a:cubicBezTo>
                  <a:cubicBezTo>
                    <a:pt x="81" y="38"/>
                    <a:pt x="92" y="48"/>
                    <a:pt x="92" y="67"/>
                  </a:cubicBezTo>
                  <a:cubicBezTo>
                    <a:pt x="92" y="103"/>
                    <a:pt x="70" y="124"/>
                    <a:pt x="38" y="124"/>
                  </a:cubicBezTo>
                  <a:cubicBezTo>
                    <a:pt x="26" y="124"/>
                    <a:pt x="11" y="121"/>
                    <a:pt x="0" y="117"/>
                  </a:cubicBezTo>
                  <a:cubicBezTo>
                    <a:pt x="19" y="12"/>
                    <a:pt x="19" y="12"/>
                    <a:pt x="19" y="12"/>
                  </a:cubicBezTo>
                  <a:cubicBezTo>
                    <a:pt x="20" y="3"/>
                    <a:pt x="24" y="0"/>
                    <a:pt x="34" y="0"/>
                  </a:cubicBezTo>
                  <a:cubicBezTo>
                    <a:pt x="41" y="0"/>
                    <a:pt x="46" y="0"/>
                    <a:pt x="50" y="0"/>
                  </a:cubicBezTo>
                  <a:lnTo>
                    <a:pt x="42" y="46"/>
                  </a:lnTo>
                  <a:close/>
                  <a:moveTo>
                    <a:pt x="32" y="100"/>
                  </a:moveTo>
                  <a:cubicBezTo>
                    <a:pt x="35" y="101"/>
                    <a:pt x="36" y="101"/>
                    <a:pt x="39" y="101"/>
                  </a:cubicBezTo>
                  <a:cubicBezTo>
                    <a:pt x="53" y="101"/>
                    <a:pt x="62" y="89"/>
                    <a:pt x="62" y="71"/>
                  </a:cubicBezTo>
                  <a:cubicBezTo>
                    <a:pt x="62" y="63"/>
                    <a:pt x="58" y="60"/>
                    <a:pt x="52" y="60"/>
                  </a:cubicBezTo>
                  <a:cubicBezTo>
                    <a:pt x="46" y="60"/>
                    <a:pt x="39" y="65"/>
                    <a:pt x="38" y="67"/>
                  </a:cubicBezTo>
                  <a:lnTo>
                    <a:pt x="32" y="100"/>
                  </a:ln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5" name="Freeform 58">
              <a:extLst>
                <a:ext uri="{FF2B5EF4-FFF2-40B4-BE49-F238E27FC236}">
                  <a16:creationId xmlns:a16="http://schemas.microsoft.com/office/drawing/2014/main" id="{283735C0-E113-22E5-73A0-2B2EE5A51D69}"/>
                </a:ext>
              </a:extLst>
            </p:cNvPr>
            <p:cNvSpPr>
              <a:spLocks/>
            </p:cNvSpPr>
            <p:nvPr userDrawn="1"/>
          </p:nvSpPr>
          <p:spPr bwMode="auto">
            <a:xfrm>
              <a:off x="5142" y="353"/>
              <a:ext cx="436" cy="212"/>
            </a:xfrm>
            <a:custGeom>
              <a:avLst/>
              <a:gdLst/>
              <a:ahLst/>
              <a:cxnLst>
                <a:cxn ang="0">
                  <a:pos x="94" y="83"/>
                </a:cxn>
                <a:cxn ang="0">
                  <a:pos x="103" y="87"/>
                </a:cxn>
                <a:cxn ang="0">
                  <a:pos x="125" y="86"/>
                </a:cxn>
                <a:cxn ang="0">
                  <a:pos x="157" y="87"/>
                </a:cxn>
                <a:cxn ang="0">
                  <a:pos x="168" y="78"/>
                </a:cxn>
                <a:cxn ang="0">
                  <a:pos x="171" y="63"/>
                </a:cxn>
                <a:cxn ang="0">
                  <a:pos x="153" y="63"/>
                </a:cxn>
                <a:cxn ang="0">
                  <a:pos x="131" y="63"/>
                </a:cxn>
                <a:cxn ang="0">
                  <a:pos x="147" y="45"/>
                </a:cxn>
                <a:cxn ang="0">
                  <a:pos x="164" y="29"/>
                </a:cxn>
                <a:cxn ang="0">
                  <a:pos x="177" y="1"/>
                </a:cxn>
                <a:cxn ang="0">
                  <a:pos x="153" y="1"/>
                </a:cxn>
                <a:cxn ang="0">
                  <a:pos x="116" y="1"/>
                </a:cxn>
                <a:cxn ang="0">
                  <a:pos x="104" y="9"/>
                </a:cxn>
                <a:cxn ang="0">
                  <a:pos x="101" y="25"/>
                </a:cxn>
                <a:cxn ang="0">
                  <a:pos x="113" y="24"/>
                </a:cxn>
                <a:cxn ang="0">
                  <a:pos x="133" y="25"/>
                </a:cxn>
                <a:cxn ang="0">
                  <a:pos x="113" y="45"/>
                </a:cxn>
                <a:cxn ang="0">
                  <a:pos x="98" y="64"/>
                </a:cxn>
                <a:cxn ang="0">
                  <a:pos x="83" y="60"/>
                </a:cxn>
                <a:cxn ang="0">
                  <a:pos x="87" y="38"/>
                </a:cxn>
                <a:cxn ang="0">
                  <a:pos x="89" y="24"/>
                </a:cxn>
                <a:cxn ang="0">
                  <a:pos x="62" y="0"/>
                </a:cxn>
                <a:cxn ang="0">
                  <a:pos x="41" y="9"/>
                </a:cxn>
                <a:cxn ang="0">
                  <a:pos x="31" y="2"/>
                </a:cxn>
                <a:cxn ang="0">
                  <a:pos x="15" y="2"/>
                </a:cxn>
                <a:cxn ang="0">
                  <a:pos x="2" y="75"/>
                </a:cxn>
                <a:cxn ang="0">
                  <a:pos x="12" y="85"/>
                </a:cxn>
                <a:cxn ang="0">
                  <a:pos x="28" y="86"/>
                </a:cxn>
                <a:cxn ang="0">
                  <a:pos x="38" y="31"/>
                </a:cxn>
                <a:cxn ang="0">
                  <a:pos x="52" y="22"/>
                </a:cxn>
                <a:cxn ang="0">
                  <a:pos x="60" y="31"/>
                </a:cxn>
                <a:cxn ang="0">
                  <a:pos x="55" y="60"/>
                </a:cxn>
                <a:cxn ang="0">
                  <a:pos x="60" y="80"/>
                </a:cxn>
                <a:cxn ang="0">
                  <a:pos x="76" y="87"/>
                </a:cxn>
                <a:cxn ang="0">
                  <a:pos x="94" y="83"/>
                </a:cxn>
              </a:cxnLst>
              <a:rect l="0" t="0" r="r" b="b"/>
              <a:pathLst>
                <a:path w="179" h="87">
                  <a:moveTo>
                    <a:pt x="94" y="83"/>
                  </a:moveTo>
                  <a:cubicBezTo>
                    <a:pt x="95" y="85"/>
                    <a:pt x="98" y="87"/>
                    <a:pt x="103" y="87"/>
                  </a:cubicBezTo>
                  <a:cubicBezTo>
                    <a:pt x="110" y="87"/>
                    <a:pt x="117" y="86"/>
                    <a:pt x="125" y="86"/>
                  </a:cubicBezTo>
                  <a:cubicBezTo>
                    <a:pt x="137" y="86"/>
                    <a:pt x="141" y="86"/>
                    <a:pt x="157" y="87"/>
                  </a:cubicBezTo>
                  <a:cubicBezTo>
                    <a:pt x="164" y="87"/>
                    <a:pt x="167" y="85"/>
                    <a:pt x="168" y="78"/>
                  </a:cubicBezTo>
                  <a:cubicBezTo>
                    <a:pt x="169" y="74"/>
                    <a:pt x="170" y="70"/>
                    <a:pt x="171" y="63"/>
                  </a:cubicBezTo>
                  <a:cubicBezTo>
                    <a:pt x="164" y="64"/>
                    <a:pt x="158" y="63"/>
                    <a:pt x="153" y="63"/>
                  </a:cubicBezTo>
                  <a:cubicBezTo>
                    <a:pt x="146" y="63"/>
                    <a:pt x="138" y="62"/>
                    <a:pt x="131" y="63"/>
                  </a:cubicBezTo>
                  <a:cubicBezTo>
                    <a:pt x="134" y="58"/>
                    <a:pt x="139" y="52"/>
                    <a:pt x="147" y="45"/>
                  </a:cubicBezTo>
                  <a:cubicBezTo>
                    <a:pt x="150" y="42"/>
                    <a:pt x="157" y="36"/>
                    <a:pt x="164" y="29"/>
                  </a:cubicBezTo>
                  <a:cubicBezTo>
                    <a:pt x="171" y="21"/>
                    <a:pt x="179" y="12"/>
                    <a:pt x="177" y="1"/>
                  </a:cubicBezTo>
                  <a:cubicBezTo>
                    <a:pt x="169" y="1"/>
                    <a:pt x="163" y="1"/>
                    <a:pt x="153" y="1"/>
                  </a:cubicBezTo>
                  <a:cubicBezTo>
                    <a:pt x="140" y="1"/>
                    <a:pt x="125" y="1"/>
                    <a:pt x="116" y="1"/>
                  </a:cubicBezTo>
                  <a:cubicBezTo>
                    <a:pt x="109" y="1"/>
                    <a:pt x="105" y="3"/>
                    <a:pt x="104" y="9"/>
                  </a:cubicBezTo>
                  <a:cubicBezTo>
                    <a:pt x="103" y="14"/>
                    <a:pt x="101" y="25"/>
                    <a:pt x="101" y="25"/>
                  </a:cubicBezTo>
                  <a:cubicBezTo>
                    <a:pt x="102" y="24"/>
                    <a:pt x="108" y="24"/>
                    <a:pt x="113" y="24"/>
                  </a:cubicBezTo>
                  <a:cubicBezTo>
                    <a:pt x="117" y="24"/>
                    <a:pt x="130" y="24"/>
                    <a:pt x="133" y="25"/>
                  </a:cubicBezTo>
                  <a:cubicBezTo>
                    <a:pt x="132" y="28"/>
                    <a:pt x="121" y="37"/>
                    <a:pt x="113" y="45"/>
                  </a:cubicBezTo>
                  <a:cubicBezTo>
                    <a:pt x="109" y="50"/>
                    <a:pt x="101" y="58"/>
                    <a:pt x="98" y="64"/>
                  </a:cubicBezTo>
                  <a:cubicBezTo>
                    <a:pt x="88" y="70"/>
                    <a:pt x="82" y="68"/>
                    <a:pt x="83" y="60"/>
                  </a:cubicBezTo>
                  <a:cubicBezTo>
                    <a:pt x="87" y="38"/>
                    <a:pt x="87" y="38"/>
                    <a:pt x="87" y="38"/>
                  </a:cubicBezTo>
                  <a:cubicBezTo>
                    <a:pt x="88" y="33"/>
                    <a:pt x="89" y="28"/>
                    <a:pt x="89" y="24"/>
                  </a:cubicBezTo>
                  <a:cubicBezTo>
                    <a:pt x="88" y="9"/>
                    <a:pt x="78" y="0"/>
                    <a:pt x="62" y="0"/>
                  </a:cubicBezTo>
                  <a:cubicBezTo>
                    <a:pt x="53" y="0"/>
                    <a:pt x="46" y="5"/>
                    <a:pt x="41" y="9"/>
                  </a:cubicBezTo>
                  <a:cubicBezTo>
                    <a:pt x="41" y="9"/>
                    <a:pt x="40" y="2"/>
                    <a:pt x="31" y="2"/>
                  </a:cubicBezTo>
                  <a:cubicBezTo>
                    <a:pt x="31" y="2"/>
                    <a:pt x="15" y="2"/>
                    <a:pt x="15" y="2"/>
                  </a:cubicBezTo>
                  <a:cubicBezTo>
                    <a:pt x="2" y="75"/>
                    <a:pt x="2" y="75"/>
                    <a:pt x="2" y="75"/>
                  </a:cubicBezTo>
                  <a:cubicBezTo>
                    <a:pt x="0" y="84"/>
                    <a:pt x="4" y="85"/>
                    <a:pt x="12" y="85"/>
                  </a:cubicBezTo>
                  <a:cubicBezTo>
                    <a:pt x="12" y="85"/>
                    <a:pt x="28" y="86"/>
                    <a:pt x="28" y="86"/>
                  </a:cubicBezTo>
                  <a:cubicBezTo>
                    <a:pt x="38" y="31"/>
                    <a:pt x="38" y="31"/>
                    <a:pt x="38" y="31"/>
                  </a:cubicBezTo>
                  <a:cubicBezTo>
                    <a:pt x="39" y="28"/>
                    <a:pt x="45" y="22"/>
                    <a:pt x="52" y="22"/>
                  </a:cubicBezTo>
                  <a:cubicBezTo>
                    <a:pt x="57" y="22"/>
                    <a:pt x="61" y="25"/>
                    <a:pt x="60" y="31"/>
                  </a:cubicBezTo>
                  <a:cubicBezTo>
                    <a:pt x="60" y="33"/>
                    <a:pt x="55" y="60"/>
                    <a:pt x="55" y="60"/>
                  </a:cubicBezTo>
                  <a:cubicBezTo>
                    <a:pt x="54" y="70"/>
                    <a:pt x="57" y="77"/>
                    <a:pt x="60" y="80"/>
                  </a:cubicBezTo>
                  <a:cubicBezTo>
                    <a:pt x="64" y="85"/>
                    <a:pt x="70" y="87"/>
                    <a:pt x="76" y="87"/>
                  </a:cubicBezTo>
                  <a:cubicBezTo>
                    <a:pt x="83" y="87"/>
                    <a:pt x="91" y="85"/>
                    <a:pt x="94" y="83"/>
                  </a:cubicBez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6" name="Freeform 59">
              <a:extLst>
                <a:ext uri="{FF2B5EF4-FFF2-40B4-BE49-F238E27FC236}">
                  <a16:creationId xmlns:a16="http://schemas.microsoft.com/office/drawing/2014/main" id="{DA512223-6805-6F04-6C1E-9A53314B1C19}"/>
                </a:ext>
              </a:extLst>
            </p:cNvPr>
            <p:cNvSpPr>
              <a:spLocks/>
            </p:cNvSpPr>
            <p:nvPr userDrawn="1"/>
          </p:nvSpPr>
          <p:spPr bwMode="auto">
            <a:xfrm>
              <a:off x="5671" y="111"/>
              <a:ext cx="102" cy="98"/>
            </a:xfrm>
            <a:custGeom>
              <a:avLst/>
              <a:gdLst/>
              <a:ahLst/>
              <a:cxnLst>
                <a:cxn ang="0">
                  <a:pos x="24" y="0"/>
                </a:cxn>
                <a:cxn ang="0">
                  <a:pos x="26" y="13"/>
                </a:cxn>
                <a:cxn ang="0">
                  <a:pos x="28" y="15"/>
                </a:cxn>
                <a:cxn ang="0">
                  <a:pos x="42" y="15"/>
                </a:cxn>
                <a:cxn ang="0">
                  <a:pos x="30" y="23"/>
                </a:cxn>
                <a:cxn ang="0">
                  <a:pos x="28" y="27"/>
                </a:cxn>
                <a:cxn ang="0">
                  <a:pos x="30" y="40"/>
                </a:cxn>
                <a:cxn ang="0">
                  <a:pos x="30" y="40"/>
                </a:cxn>
                <a:cxn ang="0">
                  <a:pos x="20" y="32"/>
                </a:cxn>
                <a:cxn ang="0">
                  <a:pos x="17" y="32"/>
                </a:cxn>
                <a:cxn ang="0">
                  <a:pos x="4" y="40"/>
                </a:cxn>
                <a:cxn ang="0">
                  <a:pos x="10" y="27"/>
                </a:cxn>
                <a:cxn ang="0">
                  <a:pos x="10" y="23"/>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4"/>
                    <a:pt x="27" y="15"/>
                    <a:pt x="28" y="15"/>
                  </a:cubicBezTo>
                  <a:cubicBezTo>
                    <a:pt x="28" y="15"/>
                    <a:pt x="42" y="15"/>
                    <a:pt x="42" y="15"/>
                  </a:cubicBezTo>
                  <a:cubicBezTo>
                    <a:pt x="30" y="23"/>
                    <a:pt x="30" y="23"/>
                    <a:pt x="30" y="23"/>
                  </a:cubicBezTo>
                  <a:cubicBezTo>
                    <a:pt x="29" y="24"/>
                    <a:pt x="28" y="25"/>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6" y="32"/>
                    <a:pt x="4" y="40"/>
                    <a:pt x="4" y="40"/>
                  </a:cubicBezTo>
                  <a:cubicBezTo>
                    <a:pt x="10" y="27"/>
                    <a:pt x="10" y="27"/>
                    <a:pt x="10" y="27"/>
                  </a:cubicBezTo>
                  <a:cubicBezTo>
                    <a:pt x="11" y="25"/>
                    <a:pt x="11" y="24"/>
                    <a:pt x="10" y="23"/>
                  </a:cubicBezTo>
                  <a:cubicBezTo>
                    <a:pt x="10" y="23"/>
                    <a:pt x="0" y="15"/>
                    <a:pt x="0" y="15"/>
                  </a:cubicBezTo>
                  <a:cubicBezTo>
                    <a:pt x="0" y="15"/>
                    <a:pt x="0" y="15"/>
                    <a:pt x="0" y="15"/>
                  </a:cubicBezTo>
                  <a:cubicBezTo>
                    <a:pt x="14" y="15"/>
                    <a:pt x="14" y="15"/>
                    <a:pt x="14" y="15"/>
                  </a:cubicBezTo>
                  <a:cubicBezTo>
                    <a:pt x="15" y="15"/>
                    <a:pt x="17" y="14"/>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7" name="Freeform 60">
              <a:extLst>
                <a:ext uri="{FF2B5EF4-FFF2-40B4-BE49-F238E27FC236}">
                  <a16:creationId xmlns:a16="http://schemas.microsoft.com/office/drawing/2014/main" id="{D3FFF025-3F08-0207-2B59-3E5E97A27FC2}"/>
                </a:ext>
              </a:extLst>
            </p:cNvPr>
            <p:cNvSpPr>
              <a:spLocks/>
            </p:cNvSpPr>
            <p:nvPr userDrawn="1"/>
          </p:nvSpPr>
          <p:spPr bwMode="auto">
            <a:xfrm>
              <a:off x="5566" y="177"/>
              <a:ext cx="102" cy="98"/>
            </a:xfrm>
            <a:custGeom>
              <a:avLst/>
              <a:gdLst/>
              <a:ahLst/>
              <a:cxnLst>
                <a:cxn ang="0">
                  <a:pos x="23" y="0"/>
                </a:cxn>
                <a:cxn ang="0">
                  <a:pos x="26" y="13"/>
                </a:cxn>
                <a:cxn ang="0">
                  <a:pos x="28" y="15"/>
                </a:cxn>
                <a:cxn ang="0">
                  <a:pos x="42" y="15"/>
                </a:cxn>
                <a:cxn ang="0">
                  <a:pos x="29" y="24"/>
                </a:cxn>
                <a:cxn ang="0">
                  <a:pos x="28" y="27"/>
                </a:cxn>
                <a:cxn ang="0">
                  <a:pos x="30" y="40"/>
                </a:cxn>
                <a:cxn ang="0">
                  <a:pos x="30" y="40"/>
                </a:cxn>
                <a:cxn ang="0">
                  <a:pos x="20" y="32"/>
                </a:cxn>
                <a:cxn ang="0">
                  <a:pos x="16" y="32"/>
                </a:cxn>
                <a:cxn ang="0">
                  <a:pos x="4"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6" y="13"/>
                    <a:pt x="26" y="13"/>
                    <a:pt x="26"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4" y="40"/>
                    <a:pt x="4"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8" name="Freeform 61">
              <a:extLst>
                <a:ext uri="{FF2B5EF4-FFF2-40B4-BE49-F238E27FC236}">
                  <a16:creationId xmlns:a16="http://schemas.microsoft.com/office/drawing/2014/main" id="{693A2567-CBFF-7F2A-30ED-54AF23507BE2}"/>
                </a:ext>
              </a:extLst>
            </p:cNvPr>
            <p:cNvSpPr>
              <a:spLocks/>
            </p:cNvSpPr>
            <p:nvPr userDrawn="1"/>
          </p:nvSpPr>
          <p:spPr bwMode="auto">
            <a:xfrm>
              <a:off x="5751" y="164"/>
              <a:ext cx="102" cy="98"/>
            </a:xfrm>
            <a:custGeom>
              <a:avLst/>
              <a:gdLst/>
              <a:ahLst/>
              <a:cxnLst>
                <a:cxn ang="0">
                  <a:pos x="23" y="0"/>
                </a:cxn>
                <a:cxn ang="0">
                  <a:pos x="25" y="13"/>
                </a:cxn>
                <a:cxn ang="0">
                  <a:pos x="28" y="15"/>
                </a:cxn>
                <a:cxn ang="0">
                  <a:pos x="42" y="15"/>
                </a:cxn>
                <a:cxn ang="0">
                  <a:pos x="29" y="24"/>
                </a:cxn>
                <a:cxn ang="0">
                  <a:pos x="28" y="27"/>
                </a:cxn>
                <a:cxn ang="0">
                  <a:pos x="30" y="40"/>
                </a:cxn>
                <a:cxn ang="0">
                  <a:pos x="30" y="40"/>
                </a:cxn>
                <a:cxn ang="0">
                  <a:pos x="20" y="32"/>
                </a:cxn>
                <a:cxn ang="0">
                  <a:pos x="16" y="32"/>
                </a:cxn>
                <a:cxn ang="0">
                  <a:pos x="3"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5" y="13"/>
                    <a:pt x="25" y="13"/>
                    <a:pt x="25"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3" y="40"/>
                    <a:pt x="3"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9" name="Freeform 62">
              <a:extLst>
                <a:ext uri="{FF2B5EF4-FFF2-40B4-BE49-F238E27FC236}">
                  <a16:creationId xmlns:a16="http://schemas.microsoft.com/office/drawing/2014/main" id="{2E5CD665-71E7-9BA9-5535-B9AED6AA4DE1}"/>
                </a:ext>
              </a:extLst>
            </p:cNvPr>
            <p:cNvSpPr>
              <a:spLocks/>
            </p:cNvSpPr>
            <p:nvPr userDrawn="1"/>
          </p:nvSpPr>
          <p:spPr bwMode="auto">
            <a:xfrm>
              <a:off x="5632" y="316"/>
              <a:ext cx="102" cy="98"/>
            </a:xfrm>
            <a:custGeom>
              <a:avLst/>
              <a:gdLst/>
              <a:ahLst/>
              <a:cxnLst>
                <a:cxn ang="0">
                  <a:pos x="24" y="0"/>
                </a:cxn>
                <a:cxn ang="0">
                  <a:pos x="26" y="13"/>
                </a:cxn>
                <a:cxn ang="0">
                  <a:pos x="29" y="15"/>
                </a:cxn>
                <a:cxn ang="0">
                  <a:pos x="42" y="15"/>
                </a:cxn>
                <a:cxn ang="0">
                  <a:pos x="30" y="24"/>
                </a:cxn>
                <a:cxn ang="0">
                  <a:pos x="28" y="27"/>
                </a:cxn>
                <a:cxn ang="0">
                  <a:pos x="30" y="40"/>
                </a:cxn>
                <a:cxn ang="0">
                  <a:pos x="30" y="40"/>
                </a:cxn>
                <a:cxn ang="0">
                  <a:pos x="20" y="32"/>
                </a:cxn>
                <a:cxn ang="0">
                  <a:pos x="17" y="32"/>
                </a:cxn>
                <a:cxn ang="0">
                  <a:pos x="4" y="40"/>
                </a:cxn>
                <a:cxn ang="0">
                  <a:pos x="10" y="27"/>
                </a:cxn>
                <a:cxn ang="0">
                  <a:pos x="10" y="24"/>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5"/>
                    <a:pt x="27" y="15"/>
                    <a:pt x="29" y="15"/>
                  </a:cubicBezTo>
                  <a:cubicBezTo>
                    <a:pt x="29" y="15"/>
                    <a:pt x="42" y="15"/>
                    <a:pt x="42" y="15"/>
                  </a:cubicBezTo>
                  <a:cubicBezTo>
                    <a:pt x="30" y="24"/>
                    <a:pt x="30" y="24"/>
                    <a:pt x="30" y="24"/>
                  </a:cubicBezTo>
                  <a:cubicBezTo>
                    <a:pt x="29" y="24"/>
                    <a:pt x="28" y="26"/>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7" y="32"/>
                    <a:pt x="4" y="40"/>
                    <a:pt x="4" y="40"/>
                  </a:cubicBezTo>
                  <a:cubicBezTo>
                    <a:pt x="10" y="27"/>
                    <a:pt x="10" y="27"/>
                    <a:pt x="10" y="27"/>
                  </a:cubicBezTo>
                  <a:cubicBezTo>
                    <a:pt x="11" y="26"/>
                    <a:pt x="11" y="24"/>
                    <a:pt x="10" y="24"/>
                  </a:cubicBezTo>
                  <a:cubicBezTo>
                    <a:pt x="10" y="24"/>
                    <a:pt x="0" y="15"/>
                    <a:pt x="0" y="15"/>
                  </a:cubicBezTo>
                  <a:cubicBezTo>
                    <a:pt x="0" y="15"/>
                    <a:pt x="0" y="15"/>
                    <a:pt x="0" y="15"/>
                  </a:cubicBezTo>
                  <a:cubicBezTo>
                    <a:pt x="14" y="15"/>
                    <a:pt x="14" y="15"/>
                    <a:pt x="14" y="15"/>
                  </a:cubicBezTo>
                  <a:cubicBezTo>
                    <a:pt x="15" y="15"/>
                    <a:pt x="17" y="15"/>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grpSp>
      <p:sp>
        <p:nvSpPr>
          <p:cNvPr id="10" name="Line 35">
            <a:extLst>
              <a:ext uri="{FF2B5EF4-FFF2-40B4-BE49-F238E27FC236}">
                <a16:creationId xmlns:a16="http://schemas.microsoft.com/office/drawing/2014/main" id="{4C76554D-1E34-D828-04F9-F42F7A22396F}"/>
              </a:ext>
            </a:extLst>
          </p:cNvPr>
          <p:cNvSpPr>
            <a:spLocks noChangeShapeType="1"/>
          </p:cNvSpPr>
          <p:nvPr userDrawn="1"/>
        </p:nvSpPr>
        <p:spPr bwMode="auto">
          <a:xfrm>
            <a:off x="703385" y="0"/>
            <a:ext cx="0" cy="1306116"/>
          </a:xfrm>
          <a:prstGeom prst="line">
            <a:avLst/>
          </a:prstGeom>
          <a:noFill/>
          <a:ln w="6350">
            <a:solidFill>
              <a:schemeClr val="bg1"/>
            </a:solidFill>
            <a:round/>
            <a:headEnd/>
            <a:tailEnd/>
          </a:ln>
        </p:spPr>
        <p:txBody>
          <a:bodyPr/>
          <a:lstStyle/>
          <a:p>
            <a:pPr>
              <a:defRPr/>
            </a:pPr>
            <a:endParaRPr lang="en-US" sz="1350">
              <a:latin typeface="Arial" charset="0"/>
            </a:endParaRPr>
          </a:p>
        </p:txBody>
      </p:sp>
      <p:sp>
        <p:nvSpPr>
          <p:cNvPr id="3" name="Text Placeholder 2"/>
          <p:cNvSpPr>
            <a:spLocks noGrp="1"/>
          </p:cNvSpPr>
          <p:nvPr>
            <p:ph type="body" idx="1"/>
          </p:nvPr>
        </p:nvSpPr>
        <p:spPr>
          <a:xfrm>
            <a:off x="683568" y="1329612"/>
            <a:ext cx="1329231" cy="810000"/>
          </a:xfrm>
          <a:noFill/>
        </p:spPr>
        <p:txBody>
          <a:bodyPr anchor="ctr">
            <a:noAutofit/>
          </a:bodyPr>
          <a:lstStyle>
            <a:lvl1pPr marL="0" indent="0" algn="r" defTabSz="685800" rtl="0" eaLnBrk="1" latinLnBrk="0" hangingPunct="1">
              <a:spcBef>
                <a:spcPct val="0"/>
              </a:spcBef>
              <a:buFont typeface="Wingdings" pitchFamily="2" charset="2"/>
              <a:buNone/>
              <a:defRPr lang="en-US" sz="6600" b="1" kern="1200" dirty="0" smtClean="0">
                <a:solidFill>
                  <a:schemeClr val="bg2"/>
                </a:solidFill>
                <a:latin typeface="Arial" pitchFamily="34" charset="0"/>
                <a:ea typeface="+mj-ea"/>
                <a:cs typeface="Arial"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noProof="0"/>
              <a:t>Click to edit Master text styles</a:t>
            </a:r>
          </a:p>
        </p:txBody>
      </p:sp>
      <p:sp>
        <p:nvSpPr>
          <p:cNvPr id="14" name="Text Placeholder 2"/>
          <p:cNvSpPr>
            <a:spLocks noGrp="1"/>
          </p:cNvSpPr>
          <p:nvPr>
            <p:ph type="body" idx="11"/>
          </p:nvPr>
        </p:nvSpPr>
        <p:spPr>
          <a:xfrm>
            <a:off x="684554" y="3758400"/>
            <a:ext cx="1329231" cy="810000"/>
          </a:xfrm>
          <a:noFill/>
        </p:spPr>
        <p:txBody>
          <a:bodyPr anchor="ctr">
            <a:noAutofit/>
          </a:bodyPr>
          <a:lstStyle>
            <a:lvl1pPr marL="0" indent="0" algn="r" defTabSz="685800" rtl="0" eaLnBrk="1" latinLnBrk="0" hangingPunct="1">
              <a:spcBef>
                <a:spcPct val="0"/>
              </a:spcBef>
              <a:buFont typeface="Wingdings" pitchFamily="2" charset="2"/>
              <a:buNone/>
              <a:defRPr lang="en-US" sz="6600" b="1" kern="1200" dirty="0" smtClean="0">
                <a:solidFill>
                  <a:schemeClr val="bg2"/>
                </a:solidFill>
                <a:latin typeface="Arial" pitchFamily="34" charset="0"/>
                <a:ea typeface="+mj-ea"/>
                <a:cs typeface="Arial"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noProof="0"/>
              <a:t>Click to edit Master text styles</a:t>
            </a:r>
          </a:p>
        </p:txBody>
      </p:sp>
      <p:sp>
        <p:nvSpPr>
          <p:cNvPr id="15" name="Text Placeholder 2"/>
          <p:cNvSpPr>
            <a:spLocks noGrp="1"/>
          </p:cNvSpPr>
          <p:nvPr>
            <p:ph type="body" idx="12"/>
          </p:nvPr>
        </p:nvSpPr>
        <p:spPr>
          <a:xfrm>
            <a:off x="684554" y="2948400"/>
            <a:ext cx="1329231" cy="810000"/>
          </a:xfrm>
          <a:noFill/>
        </p:spPr>
        <p:txBody>
          <a:bodyPr anchor="ctr">
            <a:noAutofit/>
          </a:bodyPr>
          <a:lstStyle>
            <a:lvl1pPr marL="0" indent="0" algn="r" defTabSz="685800" rtl="0" eaLnBrk="1" latinLnBrk="0" hangingPunct="1">
              <a:spcBef>
                <a:spcPct val="0"/>
              </a:spcBef>
              <a:buFont typeface="Wingdings" pitchFamily="2" charset="2"/>
              <a:buNone/>
              <a:defRPr lang="en-US" sz="6600" b="1" kern="1200" dirty="0" smtClean="0">
                <a:solidFill>
                  <a:schemeClr val="bg2"/>
                </a:solidFill>
                <a:latin typeface="Arial" pitchFamily="34" charset="0"/>
                <a:ea typeface="+mj-ea"/>
                <a:cs typeface="Arial"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noProof="0"/>
              <a:t>Click to edit Master text styles</a:t>
            </a:r>
          </a:p>
        </p:txBody>
      </p:sp>
      <p:sp>
        <p:nvSpPr>
          <p:cNvPr id="16" name="Text Placeholder 2"/>
          <p:cNvSpPr>
            <a:spLocks noGrp="1"/>
          </p:cNvSpPr>
          <p:nvPr>
            <p:ph type="body" idx="13"/>
          </p:nvPr>
        </p:nvSpPr>
        <p:spPr>
          <a:xfrm>
            <a:off x="684554" y="2138400"/>
            <a:ext cx="1329231" cy="810000"/>
          </a:xfrm>
          <a:noFill/>
        </p:spPr>
        <p:txBody>
          <a:bodyPr anchor="ctr">
            <a:noAutofit/>
          </a:bodyPr>
          <a:lstStyle>
            <a:lvl1pPr marL="0" indent="0" algn="r" defTabSz="685800" rtl="0" eaLnBrk="1" latinLnBrk="0" hangingPunct="1">
              <a:spcBef>
                <a:spcPct val="0"/>
              </a:spcBef>
              <a:buFont typeface="Wingdings" pitchFamily="2" charset="2"/>
              <a:buNone/>
              <a:defRPr lang="en-US" sz="6600" b="1" kern="1200" dirty="0" smtClean="0">
                <a:solidFill>
                  <a:schemeClr val="bg2"/>
                </a:solidFill>
                <a:latin typeface="Arial" pitchFamily="34" charset="0"/>
                <a:ea typeface="+mj-ea"/>
                <a:cs typeface="Arial"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noProof="0"/>
              <a:t>Click to edit Master text styles</a:t>
            </a:r>
          </a:p>
        </p:txBody>
      </p:sp>
      <p:sp>
        <p:nvSpPr>
          <p:cNvPr id="28" name="Text Placeholder 27"/>
          <p:cNvSpPr>
            <a:spLocks noGrp="1"/>
          </p:cNvSpPr>
          <p:nvPr>
            <p:ph type="body" sz="quarter" idx="14"/>
          </p:nvPr>
        </p:nvSpPr>
        <p:spPr>
          <a:xfrm>
            <a:off x="2013785" y="1328400"/>
            <a:ext cx="6447692" cy="810000"/>
          </a:xfrm>
        </p:spPr>
        <p:txBody>
          <a:bodyPr anchor="ctr">
            <a:noAutofit/>
          </a:bodyPr>
          <a:lstStyle>
            <a:lvl1pPr>
              <a:defRPr sz="2100" b="1">
                <a:solidFill>
                  <a:schemeClr val="bg1"/>
                </a:solidFill>
              </a:defRPr>
            </a:lvl1pPr>
            <a:lvl2pPr>
              <a:defRPr sz="2100" b="1">
                <a:solidFill>
                  <a:schemeClr val="bg1"/>
                </a:solidFill>
              </a:defRPr>
            </a:lvl2pPr>
            <a:lvl3pPr>
              <a:defRPr sz="2100" b="1">
                <a:solidFill>
                  <a:schemeClr val="bg1"/>
                </a:solidFill>
              </a:defRPr>
            </a:lvl3pPr>
            <a:lvl4pPr>
              <a:defRPr sz="2100" b="1">
                <a:solidFill>
                  <a:schemeClr val="bg1"/>
                </a:solidFill>
              </a:defRPr>
            </a:lvl4pPr>
            <a:lvl5pPr>
              <a:defRPr sz="2100" b="1">
                <a:solidFill>
                  <a:schemeClr val="bg1"/>
                </a:solidFill>
              </a:defRPr>
            </a:lvl5pPr>
          </a:lstStyle>
          <a:p>
            <a:pPr lvl="0"/>
            <a:r>
              <a:rPr lang="en-US" dirty="0"/>
              <a:t>Click to edit Master text styles</a:t>
            </a:r>
          </a:p>
        </p:txBody>
      </p:sp>
      <p:sp>
        <p:nvSpPr>
          <p:cNvPr id="29" name="Text Placeholder 27"/>
          <p:cNvSpPr>
            <a:spLocks noGrp="1"/>
          </p:cNvSpPr>
          <p:nvPr>
            <p:ph type="body" sz="quarter" idx="15"/>
          </p:nvPr>
        </p:nvSpPr>
        <p:spPr>
          <a:xfrm>
            <a:off x="2013785" y="2138400"/>
            <a:ext cx="6447692" cy="810000"/>
          </a:xfrm>
        </p:spPr>
        <p:txBody>
          <a:bodyPr anchor="ctr">
            <a:noAutofit/>
          </a:bodyPr>
          <a:lstStyle>
            <a:lvl1pPr>
              <a:defRPr sz="2100" b="1">
                <a:solidFill>
                  <a:schemeClr val="bg1"/>
                </a:solidFill>
              </a:defRPr>
            </a:lvl1pPr>
            <a:lvl2pPr>
              <a:defRPr sz="2100" b="1">
                <a:solidFill>
                  <a:schemeClr val="bg1"/>
                </a:solidFill>
              </a:defRPr>
            </a:lvl2pPr>
            <a:lvl3pPr>
              <a:defRPr sz="2100" b="1">
                <a:solidFill>
                  <a:schemeClr val="bg1"/>
                </a:solidFill>
              </a:defRPr>
            </a:lvl3pPr>
            <a:lvl4pPr>
              <a:defRPr sz="2100" b="1">
                <a:solidFill>
                  <a:schemeClr val="bg1"/>
                </a:solidFill>
              </a:defRPr>
            </a:lvl4pPr>
            <a:lvl5pPr>
              <a:defRPr sz="2100" b="1">
                <a:solidFill>
                  <a:schemeClr val="bg1"/>
                </a:solidFill>
              </a:defRPr>
            </a:lvl5pPr>
          </a:lstStyle>
          <a:p>
            <a:pPr lvl="0"/>
            <a:r>
              <a:rPr lang="en-US" dirty="0"/>
              <a:t>Click to edit Master text styles</a:t>
            </a:r>
          </a:p>
        </p:txBody>
      </p:sp>
      <p:sp>
        <p:nvSpPr>
          <p:cNvPr id="30" name="Text Placeholder 27"/>
          <p:cNvSpPr>
            <a:spLocks noGrp="1"/>
          </p:cNvSpPr>
          <p:nvPr>
            <p:ph type="body" sz="quarter" idx="16"/>
          </p:nvPr>
        </p:nvSpPr>
        <p:spPr>
          <a:xfrm>
            <a:off x="2013785" y="2948400"/>
            <a:ext cx="6447692" cy="810000"/>
          </a:xfrm>
        </p:spPr>
        <p:txBody>
          <a:bodyPr anchor="ctr">
            <a:noAutofit/>
          </a:bodyPr>
          <a:lstStyle>
            <a:lvl1pPr>
              <a:defRPr sz="2100" b="1">
                <a:solidFill>
                  <a:schemeClr val="bg1"/>
                </a:solidFill>
              </a:defRPr>
            </a:lvl1pPr>
            <a:lvl2pPr>
              <a:defRPr sz="2100" b="1">
                <a:solidFill>
                  <a:schemeClr val="bg1"/>
                </a:solidFill>
              </a:defRPr>
            </a:lvl2pPr>
            <a:lvl3pPr>
              <a:defRPr sz="2100" b="1">
                <a:solidFill>
                  <a:schemeClr val="bg1"/>
                </a:solidFill>
              </a:defRPr>
            </a:lvl3pPr>
            <a:lvl4pPr>
              <a:defRPr sz="2100" b="1">
                <a:solidFill>
                  <a:schemeClr val="bg1"/>
                </a:solidFill>
              </a:defRPr>
            </a:lvl4pPr>
            <a:lvl5pPr>
              <a:defRPr sz="2100" b="1">
                <a:solidFill>
                  <a:schemeClr val="bg1"/>
                </a:solidFill>
              </a:defRPr>
            </a:lvl5pPr>
          </a:lstStyle>
          <a:p>
            <a:pPr lvl="0"/>
            <a:r>
              <a:rPr lang="en-US" dirty="0"/>
              <a:t>Click to edit Master text styles</a:t>
            </a:r>
          </a:p>
        </p:txBody>
      </p:sp>
      <p:sp>
        <p:nvSpPr>
          <p:cNvPr id="31" name="Text Placeholder 27"/>
          <p:cNvSpPr>
            <a:spLocks noGrp="1"/>
          </p:cNvSpPr>
          <p:nvPr>
            <p:ph type="body" sz="quarter" idx="17"/>
          </p:nvPr>
        </p:nvSpPr>
        <p:spPr>
          <a:xfrm>
            <a:off x="2013785" y="3758400"/>
            <a:ext cx="6447692" cy="810000"/>
          </a:xfrm>
        </p:spPr>
        <p:txBody>
          <a:bodyPr anchor="ctr">
            <a:noAutofit/>
          </a:bodyPr>
          <a:lstStyle>
            <a:lvl1pPr>
              <a:defRPr sz="2100" b="1">
                <a:solidFill>
                  <a:schemeClr val="bg1"/>
                </a:solidFill>
              </a:defRPr>
            </a:lvl1pPr>
            <a:lvl2pPr>
              <a:defRPr sz="2100" b="1">
                <a:solidFill>
                  <a:schemeClr val="bg1"/>
                </a:solidFill>
              </a:defRPr>
            </a:lvl2pPr>
            <a:lvl3pPr>
              <a:defRPr sz="2100" b="1">
                <a:solidFill>
                  <a:schemeClr val="bg1"/>
                </a:solidFill>
              </a:defRPr>
            </a:lvl3pPr>
            <a:lvl4pPr>
              <a:defRPr sz="2100" b="1">
                <a:solidFill>
                  <a:schemeClr val="bg1"/>
                </a:solidFill>
              </a:defRPr>
            </a:lvl4pPr>
            <a:lvl5pPr>
              <a:defRPr sz="2100" b="1">
                <a:solidFill>
                  <a:schemeClr val="bg1"/>
                </a:solidFill>
              </a:defRPr>
            </a:lvl5pPr>
          </a:lstStyle>
          <a:p>
            <a:pPr lvl="0"/>
            <a:r>
              <a:rPr lang="en-US" dirty="0"/>
              <a:t>Click to edit Master text styles</a:t>
            </a:r>
          </a:p>
        </p:txBody>
      </p:sp>
      <p:sp>
        <p:nvSpPr>
          <p:cNvPr id="32" name="Title 1"/>
          <p:cNvSpPr>
            <a:spLocks noGrp="1"/>
          </p:cNvSpPr>
          <p:nvPr>
            <p:ph type="title"/>
          </p:nvPr>
        </p:nvSpPr>
        <p:spPr>
          <a:xfrm>
            <a:off x="716803" y="132161"/>
            <a:ext cx="6447587" cy="657225"/>
          </a:xfrm>
        </p:spPr>
        <p:txBody>
          <a:bodyPr>
            <a:normAutofit/>
          </a:bodyPr>
          <a:lstStyle>
            <a:lvl1pPr>
              <a:defRPr sz="2700">
                <a:solidFill>
                  <a:schemeClr val="bg1"/>
                </a:solidFill>
              </a:defRPr>
            </a:lvl1pPr>
          </a:lstStyle>
          <a:p>
            <a:r>
              <a:rPr lang="en-US" noProof="0"/>
              <a:t>Click to edit Master title style</a:t>
            </a:r>
            <a:endParaRPr lang="en-NZ" noProof="0" dirty="0"/>
          </a:p>
        </p:txBody>
      </p:sp>
      <p:sp>
        <p:nvSpPr>
          <p:cNvPr id="11" name="Footer Placeholder 4">
            <a:extLst>
              <a:ext uri="{FF2B5EF4-FFF2-40B4-BE49-F238E27FC236}">
                <a16:creationId xmlns:a16="http://schemas.microsoft.com/office/drawing/2014/main" id="{B8ECF79D-C718-D9F9-527C-C385BD26AFDC}"/>
              </a:ext>
            </a:extLst>
          </p:cNvPr>
          <p:cNvSpPr>
            <a:spLocks noGrp="1"/>
          </p:cNvSpPr>
          <p:nvPr>
            <p:ph type="ftr" sz="quarter" idx="18"/>
          </p:nvPr>
        </p:nvSpPr>
        <p:spPr/>
        <p:txBody>
          <a:bodyPr/>
          <a:lstStyle>
            <a:lvl1pPr>
              <a:defRPr>
                <a:solidFill>
                  <a:schemeClr val="bg1"/>
                </a:solidFill>
              </a:defRPr>
            </a:lvl1pPr>
          </a:lstStyle>
          <a:p>
            <a:pPr>
              <a:defRPr/>
            </a:pPr>
            <a:r>
              <a:t>Confidential – Internal BNZ Discussion Only</a:t>
            </a:r>
          </a:p>
        </p:txBody>
      </p:sp>
    </p:spTree>
    <p:extLst>
      <p:ext uri="{BB962C8B-B14F-4D97-AF65-F5344CB8AC3E}">
        <p14:creationId xmlns:p14="http://schemas.microsoft.com/office/powerpoint/2010/main" val="489864323"/>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Chapter Header">
    <p:bg>
      <p:bgPr>
        <a:gradFill rotWithShape="0">
          <a:gsLst>
            <a:gs pos="0">
              <a:srgbClr val="073775"/>
            </a:gs>
            <a:gs pos="10001">
              <a:srgbClr val="073775"/>
            </a:gs>
            <a:gs pos="100000">
              <a:srgbClr val="0A1C42"/>
            </a:gs>
          </a:gsLst>
          <a:lin ang="5400000"/>
        </a:gradFill>
        <a:effectLst/>
      </p:bgPr>
    </p:bg>
    <p:spTree>
      <p:nvGrpSpPr>
        <p:cNvPr id="1" name=""/>
        <p:cNvGrpSpPr/>
        <p:nvPr/>
      </p:nvGrpSpPr>
      <p:grpSpPr>
        <a:xfrm>
          <a:off x="0" y="0"/>
          <a:ext cx="0" cy="0"/>
          <a:chOff x="0" y="0"/>
          <a:chExt cx="0" cy="0"/>
        </a:xfrm>
      </p:grpSpPr>
      <p:grpSp>
        <p:nvGrpSpPr>
          <p:cNvPr id="4" name="Group 56">
            <a:extLst>
              <a:ext uri="{FF2B5EF4-FFF2-40B4-BE49-F238E27FC236}">
                <a16:creationId xmlns:a16="http://schemas.microsoft.com/office/drawing/2014/main" id="{71D5BD04-D4B1-AFAB-569C-4E35B47B7BD7}"/>
              </a:ext>
            </a:extLst>
          </p:cNvPr>
          <p:cNvGrpSpPr>
            <a:grpSpLocks/>
          </p:cNvGrpSpPr>
          <p:nvPr userDrawn="1"/>
        </p:nvGrpSpPr>
        <p:grpSpPr bwMode="auto">
          <a:xfrm>
            <a:off x="7589228" y="135732"/>
            <a:ext cx="1362808" cy="540544"/>
            <a:chOff x="4923" y="111"/>
            <a:chExt cx="930" cy="454"/>
          </a:xfrm>
        </p:grpSpPr>
        <p:sp>
          <p:nvSpPr>
            <p:cNvPr id="5" name="Freeform 57">
              <a:extLst>
                <a:ext uri="{FF2B5EF4-FFF2-40B4-BE49-F238E27FC236}">
                  <a16:creationId xmlns:a16="http://schemas.microsoft.com/office/drawing/2014/main" id="{82BD21DB-FE38-2DF8-26EB-B3C294EF21F8}"/>
                </a:ext>
              </a:extLst>
            </p:cNvPr>
            <p:cNvSpPr>
              <a:spLocks noEditPoints="1"/>
            </p:cNvSpPr>
            <p:nvPr userDrawn="1"/>
          </p:nvSpPr>
          <p:spPr bwMode="auto">
            <a:xfrm>
              <a:off x="4923" y="262"/>
              <a:ext cx="224" cy="303"/>
            </a:xfrm>
            <a:custGeom>
              <a:avLst/>
              <a:gdLst/>
              <a:ahLst/>
              <a:cxnLst>
                <a:cxn ang="0">
                  <a:pos x="42" y="46"/>
                </a:cxn>
                <a:cxn ang="0">
                  <a:pos x="63" y="38"/>
                </a:cxn>
                <a:cxn ang="0">
                  <a:pos x="92" y="67"/>
                </a:cxn>
                <a:cxn ang="0">
                  <a:pos x="38" y="124"/>
                </a:cxn>
                <a:cxn ang="0">
                  <a:pos x="0" y="117"/>
                </a:cxn>
                <a:cxn ang="0">
                  <a:pos x="19" y="12"/>
                </a:cxn>
                <a:cxn ang="0">
                  <a:pos x="34" y="0"/>
                </a:cxn>
                <a:cxn ang="0">
                  <a:pos x="50" y="0"/>
                </a:cxn>
                <a:cxn ang="0">
                  <a:pos x="42" y="46"/>
                </a:cxn>
                <a:cxn ang="0">
                  <a:pos x="32" y="100"/>
                </a:cxn>
                <a:cxn ang="0">
                  <a:pos x="39" y="101"/>
                </a:cxn>
                <a:cxn ang="0">
                  <a:pos x="62" y="71"/>
                </a:cxn>
                <a:cxn ang="0">
                  <a:pos x="52" y="60"/>
                </a:cxn>
                <a:cxn ang="0">
                  <a:pos x="38" y="67"/>
                </a:cxn>
                <a:cxn ang="0">
                  <a:pos x="32" y="100"/>
                </a:cxn>
              </a:cxnLst>
              <a:rect l="0" t="0" r="r" b="b"/>
              <a:pathLst>
                <a:path w="92" h="124">
                  <a:moveTo>
                    <a:pt x="42" y="46"/>
                  </a:moveTo>
                  <a:cubicBezTo>
                    <a:pt x="46" y="41"/>
                    <a:pt x="55" y="37"/>
                    <a:pt x="63" y="38"/>
                  </a:cubicBezTo>
                  <a:cubicBezTo>
                    <a:pt x="81" y="38"/>
                    <a:pt x="92" y="48"/>
                    <a:pt x="92" y="67"/>
                  </a:cubicBezTo>
                  <a:cubicBezTo>
                    <a:pt x="92" y="103"/>
                    <a:pt x="70" y="124"/>
                    <a:pt x="38" y="124"/>
                  </a:cubicBezTo>
                  <a:cubicBezTo>
                    <a:pt x="26" y="124"/>
                    <a:pt x="11" y="121"/>
                    <a:pt x="0" y="117"/>
                  </a:cubicBezTo>
                  <a:cubicBezTo>
                    <a:pt x="19" y="12"/>
                    <a:pt x="19" y="12"/>
                    <a:pt x="19" y="12"/>
                  </a:cubicBezTo>
                  <a:cubicBezTo>
                    <a:pt x="20" y="3"/>
                    <a:pt x="24" y="0"/>
                    <a:pt x="34" y="0"/>
                  </a:cubicBezTo>
                  <a:cubicBezTo>
                    <a:pt x="41" y="0"/>
                    <a:pt x="46" y="0"/>
                    <a:pt x="50" y="0"/>
                  </a:cubicBezTo>
                  <a:lnTo>
                    <a:pt x="42" y="46"/>
                  </a:lnTo>
                  <a:close/>
                  <a:moveTo>
                    <a:pt x="32" y="100"/>
                  </a:moveTo>
                  <a:cubicBezTo>
                    <a:pt x="35" y="101"/>
                    <a:pt x="36" y="101"/>
                    <a:pt x="39" y="101"/>
                  </a:cubicBezTo>
                  <a:cubicBezTo>
                    <a:pt x="53" y="101"/>
                    <a:pt x="62" y="89"/>
                    <a:pt x="62" y="71"/>
                  </a:cubicBezTo>
                  <a:cubicBezTo>
                    <a:pt x="62" y="63"/>
                    <a:pt x="58" y="60"/>
                    <a:pt x="52" y="60"/>
                  </a:cubicBezTo>
                  <a:cubicBezTo>
                    <a:pt x="46" y="60"/>
                    <a:pt x="39" y="65"/>
                    <a:pt x="38" y="67"/>
                  </a:cubicBezTo>
                  <a:lnTo>
                    <a:pt x="32" y="100"/>
                  </a:ln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6" name="Freeform 58">
              <a:extLst>
                <a:ext uri="{FF2B5EF4-FFF2-40B4-BE49-F238E27FC236}">
                  <a16:creationId xmlns:a16="http://schemas.microsoft.com/office/drawing/2014/main" id="{4F2F50E7-502D-F398-865E-E265D8E713C4}"/>
                </a:ext>
              </a:extLst>
            </p:cNvPr>
            <p:cNvSpPr>
              <a:spLocks/>
            </p:cNvSpPr>
            <p:nvPr userDrawn="1"/>
          </p:nvSpPr>
          <p:spPr bwMode="auto">
            <a:xfrm>
              <a:off x="5142" y="353"/>
              <a:ext cx="436" cy="212"/>
            </a:xfrm>
            <a:custGeom>
              <a:avLst/>
              <a:gdLst/>
              <a:ahLst/>
              <a:cxnLst>
                <a:cxn ang="0">
                  <a:pos x="94" y="83"/>
                </a:cxn>
                <a:cxn ang="0">
                  <a:pos x="103" y="87"/>
                </a:cxn>
                <a:cxn ang="0">
                  <a:pos x="125" y="86"/>
                </a:cxn>
                <a:cxn ang="0">
                  <a:pos x="157" y="87"/>
                </a:cxn>
                <a:cxn ang="0">
                  <a:pos x="168" y="78"/>
                </a:cxn>
                <a:cxn ang="0">
                  <a:pos x="171" y="63"/>
                </a:cxn>
                <a:cxn ang="0">
                  <a:pos x="153" y="63"/>
                </a:cxn>
                <a:cxn ang="0">
                  <a:pos x="131" y="63"/>
                </a:cxn>
                <a:cxn ang="0">
                  <a:pos x="147" y="45"/>
                </a:cxn>
                <a:cxn ang="0">
                  <a:pos x="164" y="29"/>
                </a:cxn>
                <a:cxn ang="0">
                  <a:pos x="177" y="1"/>
                </a:cxn>
                <a:cxn ang="0">
                  <a:pos x="153" y="1"/>
                </a:cxn>
                <a:cxn ang="0">
                  <a:pos x="116" y="1"/>
                </a:cxn>
                <a:cxn ang="0">
                  <a:pos x="104" y="9"/>
                </a:cxn>
                <a:cxn ang="0">
                  <a:pos x="101" y="25"/>
                </a:cxn>
                <a:cxn ang="0">
                  <a:pos x="113" y="24"/>
                </a:cxn>
                <a:cxn ang="0">
                  <a:pos x="133" y="25"/>
                </a:cxn>
                <a:cxn ang="0">
                  <a:pos x="113" y="45"/>
                </a:cxn>
                <a:cxn ang="0">
                  <a:pos x="98" y="64"/>
                </a:cxn>
                <a:cxn ang="0">
                  <a:pos x="83" y="60"/>
                </a:cxn>
                <a:cxn ang="0">
                  <a:pos x="87" y="38"/>
                </a:cxn>
                <a:cxn ang="0">
                  <a:pos x="89" y="24"/>
                </a:cxn>
                <a:cxn ang="0">
                  <a:pos x="62" y="0"/>
                </a:cxn>
                <a:cxn ang="0">
                  <a:pos x="41" y="9"/>
                </a:cxn>
                <a:cxn ang="0">
                  <a:pos x="31" y="2"/>
                </a:cxn>
                <a:cxn ang="0">
                  <a:pos x="15" y="2"/>
                </a:cxn>
                <a:cxn ang="0">
                  <a:pos x="2" y="75"/>
                </a:cxn>
                <a:cxn ang="0">
                  <a:pos x="12" y="85"/>
                </a:cxn>
                <a:cxn ang="0">
                  <a:pos x="28" y="86"/>
                </a:cxn>
                <a:cxn ang="0">
                  <a:pos x="38" y="31"/>
                </a:cxn>
                <a:cxn ang="0">
                  <a:pos x="52" y="22"/>
                </a:cxn>
                <a:cxn ang="0">
                  <a:pos x="60" y="31"/>
                </a:cxn>
                <a:cxn ang="0">
                  <a:pos x="55" y="60"/>
                </a:cxn>
                <a:cxn ang="0">
                  <a:pos x="60" y="80"/>
                </a:cxn>
                <a:cxn ang="0">
                  <a:pos x="76" y="87"/>
                </a:cxn>
                <a:cxn ang="0">
                  <a:pos x="94" y="83"/>
                </a:cxn>
              </a:cxnLst>
              <a:rect l="0" t="0" r="r" b="b"/>
              <a:pathLst>
                <a:path w="179" h="87">
                  <a:moveTo>
                    <a:pt x="94" y="83"/>
                  </a:moveTo>
                  <a:cubicBezTo>
                    <a:pt x="95" y="85"/>
                    <a:pt x="98" y="87"/>
                    <a:pt x="103" y="87"/>
                  </a:cubicBezTo>
                  <a:cubicBezTo>
                    <a:pt x="110" y="87"/>
                    <a:pt x="117" y="86"/>
                    <a:pt x="125" y="86"/>
                  </a:cubicBezTo>
                  <a:cubicBezTo>
                    <a:pt x="137" y="86"/>
                    <a:pt x="141" y="86"/>
                    <a:pt x="157" y="87"/>
                  </a:cubicBezTo>
                  <a:cubicBezTo>
                    <a:pt x="164" y="87"/>
                    <a:pt x="167" y="85"/>
                    <a:pt x="168" y="78"/>
                  </a:cubicBezTo>
                  <a:cubicBezTo>
                    <a:pt x="169" y="74"/>
                    <a:pt x="170" y="70"/>
                    <a:pt x="171" y="63"/>
                  </a:cubicBezTo>
                  <a:cubicBezTo>
                    <a:pt x="164" y="64"/>
                    <a:pt x="158" y="63"/>
                    <a:pt x="153" y="63"/>
                  </a:cubicBezTo>
                  <a:cubicBezTo>
                    <a:pt x="146" y="63"/>
                    <a:pt x="138" y="62"/>
                    <a:pt x="131" y="63"/>
                  </a:cubicBezTo>
                  <a:cubicBezTo>
                    <a:pt x="134" y="58"/>
                    <a:pt x="139" y="52"/>
                    <a:pt x="147" y="45"/>
                  </a:cubicBezTo>
                  <a:cubicBezTo>
                    <a:pt x="150" y="42"/>
                    <a:pt x="157" y="36"/>
                    <a:pt x="164" y="29"/>
                  </a:cubicBezTo>
                  <a:cubicBezTo>
                    <a:pt x="171" y="21"/>
                    <a:pt x="179" y="12"/>
                    <a:pt x="177" y="1"/>
                  </a:cubicBezTo>
                  <a:cubicBezTo>
                    <a:pt x="169" y="1"/>
                    <a:pt x="163" y="1"/>
                    <a:pt x="153" y="1"/>
                  </a:cubicBezTo>
                  <a:cubicBezTo>
                    <a:pt x="140" y="1"/>
                    <a:pt x="125" y="1"/>
                    <a:pt x="116" y="1"/>
                  </a:cubicBezTo>
                  <a:cubicBezTo>
                    <a:pt x="109" y="1"/>
                    <a:pt x="105" y="3"/>
                    <a:pt x="104" y="9"/>
                  </a:cubicBezTo>
                  <a:cubicBezTo>
                    <a:pt x="103" y="14"/>
                    <a:pt x="101" y="25"/>
                    <a:pt x="101" y="25"/>
                  </a:cubicBezTo>
                  <a:cubicBezTo>
                    <a:pt x="102" y="24"/>
                    <a:pt x="108" y="24"/>
                    <a:pt x="113" y="24"/>
                  </a:cubicBezTo>
                  <a:cubicBezTo>
                    <a:pt x="117" y="24"/>
                    <a:pt x="130" y="24"/>
                    <a:pt x="133" y="25"/>
                  </a:cubicBezTo>
                  <a:cubicBezTo>
                    <a:pt x="132" y="28"/>
                    <a:pt x="121" y="37"/>
                    <a:pt x="113" y="45"/>
                  </a:cubicBezTo>
                  <a:cubicBezTo>
                    <a:pt x="109" y="50"/>
                    <a:pt x="101" y="58"/>
                    <a:pt x="98" y="64"/>
                  </a:cubicBezTo>
                  <a:cubicBezTo>
                    <a:pt x="88" y="70"/>
                    <a:pt x="82" y="68"/>
                    <a:pt x="83" y="60"/>
                  </a:cubicBezTo>
                  <a:cubicBezTo>
                    <a:pt x="87" y="38"/>
                    <a:pt x="87" y="38"/>
                    <a:pt x="87" y="38"/>
                  </a:cubicBezTo>
                  <a:cubicBezTo>
                    <a:pt x="88" y="33"/>
                    <a:pt x="89" y="28"/>
                    <a:pt x="89" y="24"/>
                  </a:cubicBezTo>
                  <a:cubicBezTo>
                    <a:pt x="88" y="9"/>
                    <a:pt x="78" y="0"/>
                    <a:pt x="62" y="0"/>
                  </a:cubicBezTo>
                  <a:cubicBezTo>
                    <a:pt x="53" y="0"/>
                    <a:pt x="46" y="5"/>
                    <a:pt x="41" y="9"/>
                  </a:cubicBezTo>
                  <a:cubicBezTo>
                    <a:pt x="41" y="9"/>
                    <a:pt x="40" y="2"/>
                    <a:pt x="31" y="2"/>
                  </a:cubicBezTo>
                  <a:cubicBezTo>
                    <a:pt x="31" y="2"/>
                    <a:pt x="15" y="2"/>
                    <a:pt x="15" y="2"/>
                  </a:cubicBezTo>
                  <a:cubicBezTo>
                    <a:pt x="2" y="75"/>
                    <a:pt x="2" y="75"/>
                    <a:pt x="2" y="75"/>
                  </a:cubicBezTo>
                  <a:cubicBezTo>
                    <a:pt x="0" y="84"/>
                    <a:pt x="4" y="85"/>
                    <a:pt x="12" y="85"/>
                  </a:cubicBezTo>
                  <a:cubicBezTo>
                    <a:pt x="12" y="85"/>
                    <a:pt x="28" y="86"/>
                    <a:pt x="28" y="86"/>
                  </a:cubicBezTo>
                  <a:cubicBezTo>
                    <a:pt x="38" y="31"/>
                    <a:pt x="38" y="31"/>
                    <a:pt x="38" y="31"/>
                  </a:cubicBezTo>
                  <a:cubicBezTo>
                    <a:pt x="39" y="28"/>
                    <a:pt x="45" y="22"/>
                    <a:pt x="52" y="22"/>
                  </a:cubicBezTo>
                  <a:cubicBezTo>
                    <a:pt x="57" y="22"/>
                    <a:pt x="61" y="25"/>
                    <a:pt x="60" y="31"/>
                  </a:cubicBezTo>
                  <a:cubicBezTo>
                    <a:pt x="60" y="33"/>
                    <a:pt x="55" y="60"/>
                    <a:pt x="55" y="60"/>
                  </a:cubicBezTo>
                  <a:cubicBezTo>
                    <a:pt x="54" y="70"/>
                    <a:pt x="57" y="77"/>
                    <a:pt x="60" y="80"/>
                  </a:cubicBezTo>
                  <a:cubicBezTo>
                    <a:pt x="64" y="85"/>
                    <a:pt x="70" y="87"/>
                    <a:pt x="76" y="87"/>
                  </a:cubicBezTo>
                  <a:cubicBezTo>
                    <a:pt x="83" y="87"/>
                    <a:pt x="91" y="85"/>
                    <a:pt x="94" y="83"/>
                  </a:cubicBez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7" name="Freeform 59">
              <a:extLst>
                <a:ext uri="{FF2B5EF4-FFF2-40B4-BE49-F238E27FC236}">
                  <a16:creationId xmlns:a16="http://schemas.microsoft.com/office/drawing/2014/main" id="{08406F5A-D3E8-2FE6-8C56-FCE8CB5BA9FC}"/>
                </a:ext>
              </a:extLst>
            </p:cNvPr>
            <p:cNvSpPr>
              <a:spLocks/>
            </p:cNvSpPr>
            <p:nvPr userDrawn="1"/>
          </p:nvSpPr>
          <p:spPr bwMode="auto">
            <a:xfrm>
              <a:off x="5671" y="111"/>
              <a:ext cx="102" cy="98"/>
            </a:xfrm>
            <a:custGeom>
              <a:avLst/>
              <a:gdLst/>
              <a:ahLst/>
              <a:cxnLst>
                <a:cxn ang="0">
                  <a:pos x="24" y="0"/>
                </a:cxn>
                <a:cxn ang="0">
                  <a:pos x="26" y="13"/>
                </a:cxn>
                <a:cxn ang="0">
                  <a:pos x="28" y="15"/>
                </a:cxn>
                <a:cxn ang="0">
                  <a:pos x="42" y="15"/>
                </a:cxn>
                <a:cxn ang="0">
                  <a:pos x="30" y="23"/>
                </a:cxn>
                <a:cxn ang="0">
                  <a:pos x="28" y="27"/>
                </a:cxn>
                <a:cxn ang="0">
                  <a:pos x="30" y="40"/>
                </a:cxn>
                <a:cxn ang="0">
                  <a:pos x="30" y="40"/>
                </a:cxn>
                <a:cxn ang="0">
                  <a:pos x="20" y="32"/>
                </a:cxn>
                <a:cxn ang="0">
                  <a:pos x="17" y="32"/>
                </a:cxn>
                <a:cxn ang="0">
                  <a:pos x="4" y="40"/>
                </a:cxn>
                <a:cxn ang="0">
                  <a:pos x="10" y="27"/>
                </a:cxn>
                <a:cxn ang="0">
                  <a:pos x="10" y="23"/>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4"/>
                    <a:pt x="27" y="15"/>
                    <a:pt x="28" y="15"/>
                  </a:cubicBezTo>
                  <a:cubicBezTo>
                    <a:pt x="28" y="15"/>
                    <a:pt x="42" y="15"/>
                    <a:pt x="42" y="15"/>
                  </a:cubicBezTo>
                  <a:cubicBezTo>
                    <a:pt x="30" y="23"/>
                    <a:pt x="30" y="23"/>
                    <a:pt x="30" y="23"/>
                  </a:cubicBezTo>
                  <a:cubicBezTo>
                    <a:pt x="29" y="24"/>
                    <a:pt x="28" y="25"/>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6" y="32"/>
                    <a:pt x="4" y="40"/>
                    <a:pt x="4" y="40"/>
                  </a:cubicBezTo>
                  <a:cubicBezTo>
                    <a:pt x="10" y="27"/>
                    <a:pt x="10" y="27"/>
                    <a:pt x="10" y="27"/>
                  </a:cubicBezTo>
                  <a:cubicBezTo>
                    <a:pt x="11" y="25"/>
                    <a:pt x="11" y="24"/>
                    <a:pt x="10" y="23"/>
                  </a:cubicBezTo>
                  <a:cubicBezTo>
                    <a:pt x="10" y="23"/>
                    <a:pt x="0" y="15"/>
                    <a:pt x="0" y="15"/>
                  </a:cubicBezTo>
                  <a:cubicBezTo>
                    <a:pt x="0" y="15"/>
                    <a:pt x="0" y="15"/>
                    <a:pt x="0" y="15"/>
                  </a:cubicBezTo>
                  <a:cubicBezTo>
                    <a:pt x="14" y="15"/>
                    <a:pt x="14" y="15"/>
                    <a:pt x="14" y="15"/>
                  </a:cubicBezTo>
                  <a:cubicBezTo>
                    <a:pt x="15" y="15"/>
                    <a:pt x="17" y="14"/>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8" name="Freeform 60">
              <a:extLst>
                <a:ext uri="{FF2B5EF4-FFF2-40B4-BE49-F238E27FC236}">
                  <a16:creationId xmlns:a16="http://schemas.microsoft.com/office/drawing/2014/main" id="{C1EFE24B-9CB1-0064-6580-2C8D5FD9E0B9}"/>
                </a:ext>
              </a:extLst>
            </p:cNvPr>
            <p:cNvSpPr>
              <a:spLocks/>
            </p:cNvSpPr>
            <p:nvPr userDrawn="1"/>
          </p:nvSpPr>
          <p:spPr bwMode="auto">
            <a:xfrm>
              <a:off x="5566" y="177"/>
              <a:ext cx="102" cy="98"/>
            </a:xfrm>
            <a:custGeom>
              <a:avLst/>
              <a:gdLst/>
              <a:ahLst/>
              <a:cxnLst>
                <a:cxn ang="0">
                  <a:pos x="23" y="0"/>
                </a:cxn>
                <a:cxn ang="0">
                  <a:pos x="26" y="13"/>
                </a:cxn>
                <a:cxn ang="0">
                  <a:pos x="28" y="15"/>
                </a:cxn>
                <a:cxn ang="0">
                  <a:pos x="42" y="15"/>
                </a:cxn>
                <a:cxn ang="0">
                  <a:pos x="29" y="24"/>
                </a:cxn>
                <a:cxn ang="0">
                  <a:pos x="28" y="27"/>
                </a:cxn>
                <a:cxn ang="0">
                  <a:pos x="30" y="40"/>
                </a:cxn>
                <a:cxn ang="0">
                  <a:pos x="30" y="40"/>
                </a:cxn>
                <a:cxn ang="0">
                  <a:pos x="20" y="32"/>
                </a:cxn>
                <a:cxn ang="0">
                  <a:pos x="16" y="32"/>
                </a:cxn>
                <a:cxn ang="0">
                  <a:pos x="4"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6" y="13"/>
                    <a:pt x="26" y="13"/>
                    <a:pt x="26"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4" y="40"/>
                    <a:pt x="4"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9" name="Freeform 61">
              <a:extLst>
                <a:ext uri="{FF2B5EF4-FFF2-40B4-BE49-F238E27FC236}">
                  <a16:creationId xmlns:a16="http://schemas.microsoft.com/office/drawing/2014/main" id="{4318AE6B-C226-36B9-B9DE-73167E4A8983}"/>
                </a:ext>
              </a:extLst>
            </p:cNvPr>
            <p:cNvSpPr>
              <a:spLocks/>
            </p:cNvSpPr>
            <p:nvPr userDrawn="1"/>
          </p:nvSpPr>
          <p:spPr bwMode="auto">
            <a:xfrm>
              <a:off x="5751" y="164"/>
              <a:ext cx="102" cy="98"/>
            </a:xfrm>
            <a:custGeom>
              <a:avLst/>
              <a:gdLst/>
              <a:ahLst/>
              <a:cxnLst>
                <a:cxn ang="0">
                  <a:pos x="23" y="0"/>
                </a:cxn>
                <a:cxn ang="0">
                  <a:pos x="25" y="13"/>
                </a:cxn>
                <a:cxn ang="0">
                  <a:pos x="28" y="15"/>
                </a:cxn>
                <a:cxn ang="0">
                  <a:pos x="42" y="15"/>
                </a:cxn>
                <a:cxn ang="0">
                  <a:pos x="29" y="24"/>
                </a:cxn>
                <a:cxn ang="0">
                  <a:pos x="28" y="27"/>
                </a:cxn>
                <a:cxn ang="0">
                  <a:pos x="30" y="40"/>
                </a:cxn>
                <a:cxn ang="0">
                  <a:pos x="30" y="40"/>
                </a:cxn>
                <a:cxn ang="0">
                  <a:pos x="20" y="32"/>
                </a:cxn>
                <a:cxn ang="0">
                  <a:pos x="16" y="32"/>
                </a:cxn>
                <a:cxn ang="0">
                  <a:pos x="3"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5" y="13"/>
                    <a:pt x="25" y="13"/>
                    <a:pt x="25"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3" y="40"/>
                    <a:pt x="3"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10" name="Freeform 62">
              <a:extLst>
                <a:ext uri="{FF2B5EF4-FFF2-40B4-BE49-F238E27FC236}">
                  <a16:creationId xmlns:a16="http://schemas.microsoft.com/office/drawing/2014/main" id="{102138CE-8E76-9F51-FFD3-473D4E8DA411}"/>
                </a:ext>
              </a:extLst>
            </p:cNvPr>
            <p:cNvSpPr>
              <a:spLocks/>
            </p:cNvSpPr>
            <p:nvPr userDrawn="1"/>
          </p:nvSpPr>
          <p:spPr bwMode="auto">
            <a:xfrm>
              <a:off x="5632" y="316"/>
              <a:ext cx="102" cy="98"/>
            </a:xfrm>
            <a:custGeom>
              <a:avLst/>
              <a:gdLst/>
              <a:ahLst/>
              <a:cxnLst>
                <a:cxn ang="0">
                  <a:pos x="24" y="0"/>
                </a:cxn>
                <a:cxn ang="0">
                  <a:pos x="26" y="13"/>
                </a:cxn>
                <a:cxn ang="0">
                  <a:pos x="29" y="15"/>
                </a:cxn>
                <a:cxn ang="0">
                  <a:pos x="42" y="15"/>
                </a:cxn>
                <a:cxn ang="0">
                  <a:pos x="30" y="24"/>
                </a:cxn>
                <a:cxn ang="0">
                  <a:pos x="28" y="27"/>
                </a:cxn>
                <a:cxn ang="0">
                  <a:pos x="30" y="40"/>
                </a:cxn>
                <a:cxn ang="0">
                  <a:pos x="30" y="40"/>
                </a:cxn>
                <a:cxn ang="0">
                  <a:pos x="20" y="32"/>
                </a:cxn>
                <a:cxn ang="0">
                  <a:pos x="17" y="32"/>
                </a:cxn>
                <a:cxn ang="0">
                  <a:pos x="4" y="40"/>
                </a:cxn>
                <a:cxn ang="0">
                  <a:pos x="10" y="27"/>
                </a:cxn>
                <a:cxn ang="0">
                  <a:pos x="10" y="24"/>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5"/>
                    <a:pt x="27" y="15"/>
                    <a:pt x="29" y="15"/>
                  </a:cubicBezTo>
                  <a:cubicBezTo>
                    <a:pt x="29" y="15"/>
                    <a:pt x="42" y="15"/>
                    <a:pt x="42" y="15"/>
                  </a:cubicBezTo>
                  <a:cubicBezTo>
                    <a:pt x="30" y="24"/>
                    <a:pt x="30" y="24"/>
                    <a:pt x="30" y="24"/>
                  </a:cubicBezTo>
                  <a:cubicBezTo>
                    <a:pt x="29" y="24"/>
                    <a:pt x="28" y="26"/>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7" y="32"/>
                    <a:pt x="4" y="40"/>
                    <a:pt x="4" y="40"/>
                  </a:cubicBezTo>
                  <a:cubicBezTo>
                    <a:pt x="10" y="27"/>
                    <a:pt x="10" y="27"/>
                    <a:pt x="10" y="27"/>
                  </a:cubicBezTo>
                  <a:cubicBezTo>
                    <a:pt x="11" y="26"/>
                    <a:pt x="11" y="24"/>
                    <a:pt x="10" y="24"/>
                  </a:cubicBezTo>
                  <a:cubicBezTo>
                    <a:pt x="10" y="24"/>
                    <a:pt x="0" y="15"/>
                    <a:pt x="0" y="15"/>
                  </a:cubicBezTo>
                  <a:cubicBezTo>
                    <a:pt x="0" y="15"/>
                    <a:pt x="0" y="15"/>
                    <a:pt x="0" y="15"/>
                  </a:cubicBezTo>
                  <a:cubicBezTo>
                    <a:pt x="14" y="15"/>
                    <a:pt x="14" y="15"/>
                    <a:pt x="14" y="15"/>
                  </a:cubicBezTo>
                  <a:cubicBezTo>
                    <a:pt x="15" y="15"/>
                    <a:pt x="17" y="15"/>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grpSp>
      <p:sp>
        <p:nvSpPr>
          <p:cNvPr id="11" name="Line 35">
            <a:extLst>
              <a:ext uri="{FF2B5EF4-FFF2-40B4-BE49-F238E27FC236}">
                <a16:creationId xmlns:a16="http://schemas.microsoft.com/office/drawing/2014/main" id="{C2BCE519-85C4-7C79-E982-8284691B1E28}"/>
              </a:ext>
            </a:extLst>
          </p:cNvPr>
          <p:cNvSpPr>
            <a:spLocks noChangeShapeType="1"/>
          </p:cNvSpPr>
          <p:nvPr userDrawn="1"/>
        </p:nvSpPr>
        <p:spPr bwMode="auto">
          <a:xfrm>
            <a:off x="703385" y="0"/>
            <a:ext cx="0" cy="1306116"/>
          </a:xfrm>
          <a:prstGeom prst="line">
            <a:avLst/>
          </a:prstGeom>
          <a:noFill/>
          <a:ln w="6350">
            <a:solidFill>
              <a:schemeClr val="bg1"/>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a:xfrm>
            <a:off x="683568" y="2438101"/>
            <a:ext cx="7774632" cy="1021556"/>
          </a:xfrm>
        </p:spPr>
        <p:txBody>
          <a:bodyPr anchor="t">
            <a:normAutofit/>
          </a:bodyPr>
          <a:lstStyle>
            <a:lvl1pPr algn="l" defTabSz="685800" rtl="0" eaLnBrk="1" latinLnBrk="0" hangingPunct="1">
              <a:spcBef>
                <a:spcPct val="0"/>
              </a:spcBef>
              <a:buNone/>
              <a:defRPr lang="en-NZ" sz="2100" b="1" kern="1200" dirty="0" smtClean="0">
                <a:solidFill>
                  <a:schemeClr val="bg1"/>
                </a:solidFill>
                <a:latin typeface="Arial" pitchFamily="34" charset="0"/>
                <a:ea typeface="+mj-ea"/>
                <a:cs typeface="Arial" pitchFamily="34" charset="0"/>
              </a:defRPr>
            </a:lvl1pPr>
          </a:lstStyle>
          <a:p>
            <a:r>
              <a:rPr lang="en-NZ" noProof="0" dirty="0"/>
              <a:t>Click to edit Master title style</a:t>
            </a:r>
          </a:p>
        </p:txBody>
      </p:sp>
      <p:sp>
        <p:nvSpPr>
          <p:cNvPr id="3" name="Text Placeholder 2"/>
          <p:cNvSpPr>
            <a:spLocks noGrp="1"/>
          </p:cNvSpPr>
          <p:nvPr>
            <p:ph type="body" idx="1"/>
          </p:nvPr>
        </p:nvSpPr>
        <p:spPr>
          <a:xfrm>
            <a:off x="683568" y="2060100"/>
            <a:ext cx="7774632" cy="378000"/>
          </a:xfrm>
          <a:noFill/>
        </p:spPr>
        <p:txBody>
          <a:bodyPr anchor="b">
            <a:normAutofit/>
          </a:bodyPr>
          <a:lstStyle>
            <a:lvl1pPr marL="0" indent="0" algn="l" defTabSz="685800" rtl="0" eaLnBrk="1" latinLnBrk="0" hangingPunct="1">
              <a:spcBef>
                <a:spcPct val="0"/>
              </a:spcBef>
              <a:buFont typeface="Wingdings" pitchFamily="2" charset="2"/>
              <a:buNone/>
              <a:defRPr lang="en-US" sz="1500" b="1" kern="1200" dirty="0" smtClean="0">
                <a:solidFill>
                  <a:schemeClr val="bg2"/>
                </a:solidFill>
                <a:latin typeface="Arial" pitchFamily="34" charset="0"/>
                <a:ea typeface="+mj-ea"/>
                <a:cs typeface="Arial"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NZ" noProof="0" dirty="0"/>
              <a:t>Click to edit Master text styles</a:t>
            </a:r>
          </a:p>
        </p:txBody>
      </p:sp>
      <p:sp>
        <p:nvSpPr>
          <p:cNvPr id="12" name="Footer Placeholder 4">
            <a:extLst>
              <a:ext uri="{FF2B5EF4-FFF2-40B4-BE49-F238E27FC236}">
                <a16:creationId xmlns:a16="http://schemas.microsoft.com/office/drawing/2014/main" id="{DBC1BA16-B113-03D3-A957-6945FF3FE040}"/>
              </a:ext>
            </a:extLst>
          </p:cNvPr>
          <p:cNvSpPr>
            <a:spLocks noGrp="1"/>
          </p:cNvSpPr>
          <p:nvPr>
            <p:ph type="ftr" sz="quarter" idx="10"/>
          </p:nvPr>
        </p:nvSpPr>
        <p:spPr/>
        <p:txBody>
          <a:bodyPr/>
          <a:lstStyle>
            <a:lvl1pPr>
              <a:defRPr>
                <a:solidFill>
                  <a:schemeClr val="bg1"/>
                </a:solidFill>
              </a:defRPr>
            </a:lvl1pPr>
          </a:lstStyle>
          <a:p>
            <a:pPr>
              <a:defRPr/>
            </a:pPr>
            <a:r>
              <a:t>Confidential – Internal BNZ Discussion Only</a:t>
            </a:r>
          </a:p>
        </p:txBody>
      </p:sp>
    </p:spTree>
    <p:extLst>
      <p:ext uri="{BB962C8B-B14F-4D97-AF65-F5344CB8AC3E}">
        <p14:creationId xmlns:p14="http://schemas.microsoft.com/office/powerpoint/2010/main" val="90353514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1_Chapter Header">
    <p:bg>
      <p:bgPr>
        <a:gradFill rotWithShape="0">
          <a:gsLst>
            <a:gs pos="0">
              <a:srgbClr val="073775"/>
            </a:gs>
            <a:gs pos="10001">
              <a:srgbClr val="073775"/>
            </a:gs>
            <a:gs pos="100000">
              <a:srgbClr val="0A1C42"/>
            </a:gs>
          </a:gsLst>
          <a:lin ang="5400000"/>
        </a:gradFill>
        <a:effectLst/>
      </p:bgPr>
    </p:bg>
    <p:spTree>
      <p:nvGrpSpPr>
        <p:cNvPr id="1" name=""/>
        <p:cNvGrpSpPr/>
        <p:nvPr/>
      </p:nvGrpSpPr>
      <p:grpSpPr>
        <a:xfrm>
          <a:off x="0" y="0"/>
          <a:ext cx="0" cy="0"/>
          <a:chOff x="0" y="0"/>
          <a:chExt cx="0" cy="0"/>
        </a:xfrm>
      </p:grpSpPr>
      <p:grpSp>
        <p:nvGrpSpPr>
          <p:cNvPr id="4" name="Group 56">
            <a:extLst>
              <a:ext uri="{FF2B5EF4-FFF2-40B4-BE49-F238E27FC236}">
                <a16:creationId xmlns:a16="http://schemas.microsoft.com/office/drawing/2014/main" id="{49D770B3-B7B5-DDEE-DE79-C4E1E5DAA0E9}"/>
              </a:ext>
            </a:extLst>
          </p:cNvPr>
          <p:cNvGrpSpPr>
            <a:grpSpLocks/>
          </p:cNvGrpSpPr>
          <p:nvPr userDrawn="1"/>
        </p:nvGrpSpPr>
        <p:grpSpPr bwMode="auto">
          <a:xfrm>
            <a:off x="7589228" y="135732"/>
            <a:ext cx="1362808" cy="540544"/>
            <a:chOff x="4923" y="111"/>
            <a:chExt cx="930" cy="454"/>
          </a:xfrm>
        </p:grpSpPr>
        <p:sp>
          <p:nvSpPr>
            <p:cNvPr id="5" name="Freeform 57">
              <a:extLst>
                <a:ext uri="{FF2B5EF4-FFF2-40B4-BE49-F238E27FC236}">
                  <a16:creationId xmlns:a16="http://schemas.microsoft.com/office/drawing/2014/main" id="{AA668E73-1EA8-38D9-68D7-A6163BCBD72D}"/>
                </a:ext>
              </a:extLst>
            </p:cNvPr>
            <p:cNvSpPr>
              <a:spLocks noEditPoints="1"/>
            </p:cNvSpPr>
            <p:nvPr userDrawn="1"/>
          </p:nvSpPr>
          <p:spPr bwMode="auto">
            <a:xfrm>
              <a:off x="4923" y="262"/>
              <a:ext cx="224" cy="303"/>
            </a:xfrm>
            <a:custGeom>
              <a:avLst/>
              <a:gdLst/>
              <a:ahLst/>
              <a:cxnLst>
                <a:cxn ang="0">
                  <a:pos x="42" y="46"/>
                </a:cxn>
                <a:cxn ang="0">
                  <a:pos x="63" y="38"/>
                </a:cxn>
                <a:cxn ang="0">
                  <a:pos x="92" y="67"/>
                </a:cxn>
                <a:cxn ang="0">
                  <a:pos x="38" y="124"/>
                </a:cxn>
                <a:cxn ang="0">
                  <a:pos x="0" y="117"/>
                </a:cxn>
                <a:cxn ang="0">
                  <a:pos x="19" y="12"/>
                </a:cxn>
                <a:cxn ang="0">
                  <a:pos x="34" y="0"/>
                </a:cxn>
                <a:cxn ang="0">
                  <a:pos x="50" y="0"/>
                </a:cxn>
                <a:cxn ang="0">
                  <a:pos x="42" y="46"/>
                </a:cxn>
                <a:cxn ang="0">
                  <a:pos x="32" y="100"/>
                </a:cxn>
                <a:cxn ang="0">
                  <a:pos x="39" y="101"/>
                </a:cxn>
                <a:cxn ang="0">
                  <a:pos x="62" y="71"/>
                </a:cxn>
                <a:cxn ang="0">
                  <a:pos x="52" y="60"/>
                </a:cxn>
                <a:cxn ang="0">
                  <a:pos x="38" y="67"/>
                </a:cxn>
                <a:cxn ang="0">
                  <a:pos x="32" y="100"/>
                </a:cxn>
              </a:cxnLst>
              <a:rect l="0" t="0" r="r" b="b"/>
              <a:pathLst>
                <a:path w="92" h="124">
                  <a:moveTo>
                    <a:pt x="42" y="46"/>
                  </a:moveTo>
                  <a:cubicBezTo>
                    <a:pt x="46" y="41"/>
                    <a:pt x="55" y="37"/>
                    <a:pt x="63" y="38"/>
                  </a:cubicBezTo>
                  <a:cubicBezTo>
                    <a:pt x="81" y="38"/>
                    <a:pt x="92" y="48"/>
                    <a:pt x="92" y="67"/>
                  </a:cubicBezTo>
                  <a:cubicBezTo>
                    <a:pt x="92" y="103"/>
                    <a:pt x="70" y="124"/>
                    <a:pt x="38" y="124"/>
                  </a:cubicBezTo>
                  <a:cubicBezTo>
                    <a:pt x="26" y="124"/>
                    <a:pt x="11" y="121"/>
                    <a:pt x="0" y="117"/>
                  </a:cubicBezTo>
                  <a:cubicBezTo>
                    <a:pt x="19" y="12"/>
                    <a:pt x="19" y="12"/>
                    <a:pt x="19" y="12"/>
                  </a:cubicBezTo>
                  <a:cubicBezTo>
                    <a:pt x="20" y="3"/>
                    <a:pt x="24" y="0"/>
                    <a:pt x="34" y="0"/>
                  </a:cubicBezTo>
                  <a:cubicBezTo>
                    <a:pt x="41" y="0"/>
                    <a:pt x="46" y="0"/>
                    <a:pt x="50" y="0"/>
                  </a:cubicBezTo>
                  <a:lnTo>
                    <a:pt x="42" y="46"/>
                  </a:lnTo>
                  <a:close/>
                  <a:moveTo>
                    <a:pt x="32" y="100"/>
                  </a:moveTo>
                  <a:cubicBezTo>
                    <a:pt x="35" y="101"/>
                    <a:pt x="36" y="101"/>
                    <a:pt x="39" y="101"/>
                  </a:cubicBezTo>
                  <a:cubicBezTo>
                    <a:pt x="53" y="101"/>
                    <a:pt x="62" y="89"/>
                    <a:pt x="62" y="71"/>
                  </a:cubicBezTo>
                  <a:cubicBezTo>
                    <a:pt x="62" y="63"/>
                    <a:pt x="58" y="60"/>
                    <a:pt x="52" y="60"/>
                  </a:cubicBezTo>
                  <a:cubicBezTo>
                    <a:pt x="46" y="60"/>
                    <a:pt x="39" y="65"/>
                    <a:pt x="38" y="67"/>
                  </a:cubicBezTo>
                  <a:lnTo>
                    <a:pt x="32" y="100"/>
                  </a:ln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6" name="Freeform 58">
              <a:extLst>
                <a:ext uri="{FF2B5EF4-FFF2-40B4-BE49-F238E27FC236}">
                  <a16:creationId xmlns:a16="http://schemas.microsoft.com/office/drawing/2014/main" id="{812C80E3-7C1B-1C9E-95CA-E9ABAD356771}"/>
                </a:ext>
              </a:extLst>
            </p:cNvPr>
            <p:cNvSpPr>
              <a:spLocks/>
            </p:cNvSpPr>
            <p:nvPr userDrawn="1"/>
          </p:nvSpPr>
          <p:spPr bwMode="auto">
            <a:xfrm>
              <a:off x="5142" y="353"/>
              <a:ext cx="436" cy="212"/>
            </a:xfrm>
            <a:custGeom>
              <a:avLst/>
              <a:gdLst/>
              <a:ahLst/>
              <a:cxnLst>
                <a:cxn ang="0">
                  <a:pos x="94" y="83"/>
                </a:cxn>
                <a:cxn ang="0">
                  <a:pos x="103" y="87"/>
                </a:cxn>
                <a:cxn ang="0">
                  <a:pos x="125" y="86"/>
                </a:cxn>
                <a:cxn ang="0">
                  <a:pos x="157" y="87"/>
                </a:cxn>
                <a:cxn ang="0">
                  <a:pos x="168" y="78"/>
                </a:cxn>
                <a:cxn ang="0">
                  <a:pos x="171" y="63"/>
                </a:cxn>
                <a:cxn ang="0">
                  <a:pos x="153" y="63"/>
                </a:cxn>
                <a:cxn ang="0">
                  <a:pos x="131" y="63"/>
                </a:cxn>
                <a:cxn ang="0">
                  <a:pos x="147" y="45"/>
                </a:cxn>
                <a:cxn ang="0">
                  <a:pos x="164" y="29"/>
                </a:cxn>
                <a:cxn ang="0">
                  <a:pos x="177" y="1"/>
                </a:cxn>
                <a:cxn ang="0">
                  <a:pos x="153" y="1"/>
                </a:cxn>
                <a:cxn ang="0">
                  <a:pos x="116" y="1"/>
                </a:cxn>
                <a:cxn ang="0">
                  <a:pos x="104" y="9"/>
                </a:cxn>
                <a:cxn ang="0">
                  <a:pos x="101" y="25"/>
                </a:cxn>
                <a:cxn ang="0">
                  <a:pos x="113" y="24"/>
                </a:cxn>
                <a:cxn ang="0">
                  <a:pos x="133" y="25"/>
                </a:cxn>
                <a:cxn ang="0">
                  <a:pos x="113" y="45"/>
                </a:cxn>
                <a:cxn ang="0">
                  <a:pos x="98" y="64"/>
                </a:cxn>
                <a:cxn ang="0">
                  <a:pos x="83" y="60"/>
                </a:cxn>
                <a:cxn ang="0">
                  <a:pos x="87" y="38"/>
                </a:cxn>
                <a:cxn ang="0">
                  <a:pos x="89" y="24"/>
                </a:cxn>
                <a:cxn ang="0">
                  <a:pos x="62" y="0"/>
                </a:cxn>
                <a:cxn ang="0">
                  <a:pos x="41" y="9"/>
                </a:cxn>
                <a:cxn ang="0">
                  <a:pos x="31" y="2"/>
                </a:cxn>
                <a:cxn ang="0">
                  <a:pos x="15" y="2"/>
                </a:cxn>
                <a:cxn ang="0">
                  <a:pos x="2" y="75"/>
                </a:cxn>
                <a:cxn ang="0">
                  <a:pos x="12" y="85"/>
                </a:cxn>
                <a:cxn ang="0">
                  <a:pos x="28" y="86"/>
                </a:cxn>
                <a:cxn ang="0">
                  <a:pos x="38" y="31"/>
                </a:cxn>
                <a:cxn ang="0">
                  <a:pos x="52" y="22"/>
                </a:cxn>
                <a:cxn ang="0">
                  <a:pos x="60" y="31"/>
                </a:cxn>
                <a:cxn ang="0">
                  <a:pos x="55" y="60"/>
                </a:cxn>
                <a:cxn ang="0">
                  <a:pos x="60" y="80"/>
                </a:cxn>
                <a:cxn ang="0">
                  <a:pos x="76" y="87"/>
                </a:cxn>
                <a:cxn ang="0">
                  <a:pos x="94" y="83"/>
                </a:cxn>
              </a:cxnLst>
              <a:rect l="0" t="0" r="r" b="b"/>
              <a:pathLst>
                <a:path w="179" h="87">
                  <a:moveTo>
                    <a:pt x="94" y="83"/>
                  </a:moveTo>
                  <a:cubicBezTo>
                    <a:pt x="95" y="85"/>
                    <a:pt x="98" y="87"/>
                    <a:pt x="103" y="87"/>
                  </a:cubicBezTo>
                  <a:cubicBezTo>
                    <a:pt x="110" y="87"/>
                    <a:pt x="117" y="86"/>
                    <a:pt x="125" y="86"/>
                  </a:cubicBezTo>
                  <a:cubicBezTo>
                    <a:pt x="137" y="86"/>
                    <a:pt x="141" y="86"/>
                    <a:pt x="157" y="87"/>
                  </a:cubicBezTo>
                  <a:cubicBezTo>
                    <a:pt x="164" y="87"/>
                    <a:pt x="167" y="85"/>
                    <a:pt x="168" y="78"/>
                  </a:cubicBezTo>
                  <a:cubicBezTo>
                    <a:pt x="169" y="74"/>
                    <a:pt x="170" y="70"/>
                    <a:pt x="171" y="63"/>
                  </a:cubicBezTo>
                  <a:cubicBezTo>
                    <a:pt x="164" y="64"/>
                    <a:pt x="158" y="63"/>
                    <a:pt x="153" y="63"/>
                  </a:cubicBezTo>
                  <a:cubicBezTo>
                    <a:pt x="146" y="63"/>
                    <a:pt x="138" y="62"/>
                    <a:pt x="131" y="63"/>
                  </a:cubicBezTo>
                  <a:cubicBezTo>
                    <a:pt x="134" y="58"/>
                    <a:pt x="139" y="52"/>
                    <a:pt x="147" y="45"/>
                  </a:cubicBezTo>
                  <a:cubicBezTo>
                    <a:pt x="150" y="42"/>
                    <a:pt x="157" y="36"/>
                    <a:pt x="164" y="29"/>
                  </a:cubicBezTo>
                  <a:cubicBezTo>
                    <a:pt x="171" y="21"/>
                    <a:pt x="179" y="12"/>
                    <a:pt x="177" y="1"/>
                  </a:cubicBezTo>
                  <a:cubicBezTo>
                    <a:pt x="169" y="1"/>
                    <a:pt x="163" y="1"/>
                    <a:pt x="153" y="1"/>
                  </a:cubicBezTo>
                  <a:cubicBezTo>
                    <a:pt x="140" y="1"/>
                    <a:pt x="125" y="1"/>
                    <a:pt x="116" y="1"/>
                  </a:cubicBezTo>
                  <a:cubicBezTo>
                    <a:pt x="109" y="1"/>
                    <a:pt x="105" y="3"/>
                    <a:pt x="104" y="9"/>
                  </a:cubicBezTo>
                  <a:cubicBezTo>
                    <a:pt x="103" y="14"/>
                    <a:pt x="101" y="25"/>
                    <a:pt x="101" y="25"/>
                  </a:cubicBezTo>
                  <a:cubicBezTo>
                    <a:pt x="102" y="24"/>
                    <a:pt x="108" y="24"/>
                    <a:pt x="113" y="24"/>
                  </a:cubicBezTo>
                  <a:cubicBezTo>
                    <a:pt x="117" y="24"/>
                    <a:pt x="130" y="24"/>
                    <a:pt x="133" y="25"/>
                  </a:cubicBezTo>
                  <a:cubicBezTo>
                    <a:pt x="132" y="28"/>
                    <a:pt x="121" y="37"/>
                    <a:pt x="113" y="45"/>
                  </a:cubicBezTo>
                  <a:cubicBezTo>
                    <a:pt x="109" y="50"/>
                    <a:pt x="101" y="58"/>
                    <a:pt x="98" y="64"/>
                  </a:cubicBezTo>
                  <a:cubicBezTo>
                    <a:pt x="88" y="70"/>
                    <a:pt x="82" y="68"/>
                    <a:pt x="83" y="60"/>
                  </a:cubicBezTo>
                  <a:cubicBezTo>
                    <a:pt x="87" y="38"/>
                    <a:pt x="87" y="38"/>
                    <a:pt x="87" y="38"/>
                  </a:cubicBezTo>
                  <a:cubicBezTo>
                    <a:pt x="88" y="33"/>
                    <a:pt x="89" y="28"/>
                    <a:pt x="89" y="24"/>
                  </a:cubicBezTo>
                  <a:cubicBezTo>
                    <a:pt x="88" y="9"/>
                    <a:pt x="78" y="0"/>
                    <a:pt x="62" y="0"/>
                  </a:cubicBezTo>
                  <a:cubicBezTo>
                    <a:pt x="53" y="0"/>
                    <a:pt x="46" y="5"/>
                    <a:pt x="41" y="9"/>
                  </a:cubicBezTo>
                  <a:cubicBezTo>
                    <a:pt x="41" y="9"/>
                    <a:pt x="40" y="2"/>
                    <a:pt x="31" y="2"/>
                  </a:cubicBezTo>
                  <a:cubicBezTo>
                    <a:pt x="31" y="2"/>
                    <a:pt x="15" y="2"/>
                    <a:pt x="15" y="2"/>
                  </a:cubicBezTo>
                  <a:cubicBezTo>
                    <a:pt x="2" y="75"/>
                    <a:pt x="2" y="75"/>
                    <a:pt x="2" y="75"/>
                  </a:cubicBezTo>
                  <a:cubicBezTo>
                    <a:pt x="0" y="84"/>
                    <a:pt x="4" y="85"/>
                    <a:pt x="12" y="85"/>
                  </a:cubicBezTo>
                  <a:cubicBezTo>
                    <a:pt x="12" y="85"/>
                    <a:pt x="28" y="86"/>
                    <a:pt x="28" y="86"/>
                  </a:cubicBezTo>
                  <a:cubicBezTo>
                    <a:pt x="38" y="31"/>
                    <a:pt x="38" y="31"/>
                    <a:pt x="38" y="31"/>
                  </a:cubicBezTo>
                  <a:cubicBezTo>
                    <a:pt x="39" y="28"/>
                    <a:pt x="45" y="22"/>
                    <a:pt x="52" y="22"/>
                  </a:cubicBezTo>
                  <a:cubicBezTo>
                    <a:pt x="57" y="22"/>
                    <a:pt x="61" y="25"/>
                    <a:pt x="60" y="31"/>
                  </a:cubicBezTo>
                  <a:cubicBezTo>
                    <a:pt x="60" y="33"/>
                    <a:pt x="55" y="60"/>
                    <a:pt x="55" y="60"/>
                  </a:cubicBezTo>
                  <a:cubicBezTo>
                    <a:pt x="54" y="70"/>
                    <a:pt x="57" y="77"/>
                    <a:pt x="60" y="80"/>
                  </a:cubicBezTo>
                  <a:cubicBezTo>
                    <a:pt x="64" y="85"/>
                    <a:pt x="70" y="87"/>
                    <a:pt x="76" y="87"/>
                  </a:cubicBezTo>
                  <a:cubicBezTo>
                    <a:pt x="83" y="87"/>
                    <a:pt x="91" y="85"/>
                    <a:pt x="94" y="83"/>
                  </a:cubicBezTo>
                  <a:close/>
                </a:path>
              </a:pathLst>
            </a:custGeom>
            <a:solidFill>
              <a:schemeClr val="bg1"/>
            </a:solidFill>
            <a:ln w="9525">
              <a:noFill/>
              <a:round/>
              <a:headEnd/>
              <a:tailEnd/>
            </a:ln>
          </p:spPr>
          <p:txBody>
            <a:bodyPr/>
            <a:lstStyle/>
            <a:p>
              <a:pPr>
                <a:defRPr/>
              </a:pPr>
              <a:endParaRPr lang="en-US" sz="1350">
                <a:latin typeface="Arial" charset="0"/>
              </a:endParaRPr>
            </a:p>
          </p:txBody>
        </p:sp>
        <p:sp>
          <p:nvSpPr>
            <p:cNvPr id="7" name="Freeform 59">
              <a:extLst>
                <a:ext uri="{FF2B5EF4-FFF2-40B4-BE49-F238E27FC236}">
                  <a16:creationId xmlns:a16="http://schemas.microsoft.com/office/drawing/2014/main" id="{F602FEC4-5325-8D0D-AAE1-CD8FF12FB517}"/>
                </a:ext>
              </a:extLst>
            </p:cNvPr>
            <p:cNvSpPr>
              <a:spLocks/>
            </p:cNvSpPr>
            <p:nvPr userDrawn="1"/>
          </p:nvSpPr>
          <p:spPr bwMode="auto">
            <a:xfrm>
              <a:off x="5671" y="111"/>
              <a:ext cx="102" cy="98"/>
            </a:xfrm>
            <a:custGeom>
              <a:avLst/>
              <a:gdLst/>
              <a:ahLst/>
              <a:cxnLst>
                <a:cxn ang="0">
                  <a:pos x="24" y="0"/>
                </a:cxn>
                <a:cxn ang="0">
                  <a:pos x="26" y="13"/>
                </a:cxn>
                <a:cxn ang="0">
                  <a:pos x="28" y="15"/>
                </a:cxn>
                <a:cxn ang="0">
                  <a:pos x="42" y="15"/>
                </a:cxn>
                <a:cxn ang="0">
                  <a:pos x="30" y="23"/>
                </a:cxn>
                <a:cxn ang="0">
                  <a:pos x="28" y="27"/>
                </a:cxn>
                <a:cxn ang="0">
                  <a:pos x="30" y="40"/>
                </a:cxn>
                <a:cxn ang="0">
                  <a:pos x="30" y="40"/>
                </a:cxn>
                <a:cxn ang="0">
                  <a:pos x="20" y="32"/>
                </a:cxn>
                <a:cxn ang="0">
                  <a:pos x="17" y="32"/>
                </a:cxn>
                <a:cxn ang="0">
                  <a:pos x="4" y="40"/>
                </a:cxn>
                <a:cxn ang="0">
                  <a:pos x="10" y="27"/>
                </a:cxn>
                <a:cxn ang="0">
                  <a:pos x="10" y="23"/>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4"/>
                    <a:pt x="27" y="15"/>
                    <a:pt x="28" y="15"/>
                  </a:cubicBezTo>
                  <a:cubicBezTo>
                    <a:pt x="28" y="15"/>
                    <a:pt x="42" y="15"/>
                    <a:pt x="42" y="15"/>
                  </a:cubicBezTo>
                  <a:cubicBezTo>
                    <a:pt x="30" y="23"/>
                    <a:pt x="30" y="23"/>
                    <a:pt x="30" y="23"/>
                  </a:cubicBezTo>
                  <a:cubicBezTo>
                    <a:pt x="29" y="24"/>
                    <a:pt x="28" y="25"/>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6" y="32"/>
                    <a:pt x="4" y="40"/>
                    <a:pt x="4" y="40"/>
                  </a:cubicBezTo>
                  <a:cubicBezTo>
                    <a:pt x="10" y="27"/>
                    <a:pt x="10" y="27"/>
                    <a:pt x="10" y="27"/>
                  </a:cubicBezTo>
                  <a:cubicBezTo>
                    <a:pt x="11" y="25"/>
                    <a:pt x="11" y="24"/>
                    <a:pt x="10" y="23"/>
                  </a:cubicBezTo>
                  <a:cubicBezTo>
                    <a:pt x="10" y="23"/>
                    <a:pt x="0" y="15"/>
                    <a:pt x="0" y="15"/>
                  </a:cubicBezTo>
                  <a:cubicBezTo>
                    <a:pt x="0" y="15"/>
                    <a:pt x="0" y="15"/>
                    <a:pt x="0" y="15"/>
                  </a:cubicBezTo>
                  <a:cubicBezTo>
                    <a:pt x="14" y="15"/>
                    <a:pt x="14" y="15"/>
                    <a:pt x="14" y="15"/>
                  </a:cubicBezTo>
                  <a:cubicBezTo>
                    <a:pt x="15" y="15"/>
                    <a:pt x="17" y="14"/>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8" name="Freeform 60">
              <a:extLst>
                <a:ext uri="{FF2B5EF4-FFF2-40B4-BE49-F238E27FC236}">
                  <a16:creationId xmlns:a16="http://schemas.microsoft.com/office/drawing/2014/main" id="{73C5AD40-986E-DE7F-3632-CA96148DF907}"/>
                </a:ext>
              </a:extLst>
            </p:cNvPr>
            <p:cNvSpPr>
              <a:spLocks/>
            </p:cNvSpPr>
            <p:nvPr userDrawn="1"/>
          </p:nvSpPr>
          <p:spPr bwMode="auto">
            <a:xfrm>
              <a:off x="5566" y="177"/>
              <a:ext cx="102" cy="98"/>
            </a:xfrm>
            <a:custGeom>
              <a:avLst/>
              <a:gdLst/>
              <a:ahLst/>
              <a:cxnLst>
                <a:cxn ang="0">
                  <a:pos x="23" y="0"/>
                </a:cxn>
                <a:cxn ang="0">
                  <a:pos x="26" y="13"/>
                </a:cxn>
                <a:cxn ang="0">
                  <a:pos x="28" y="15"/>
                </a:cxn>
                <a:cxn ang="0">
                  <a:pos x="42" y="15"/>
                </a:cxn>
                <a:cxn ang="0">
                  <a:pos x="29" y="24"/>
                </a:cxn>
                <a:cxn ang="0">
                  <a:pos x="28" y="27"/>
                </a:cxn>
                <a:cxn ang="0">
                  <a:pos x="30" y="40"/>
                </a:cxn>
                <a:cxn ang="0">
                  <a:pos x="30" y="40"/>
                </a:cxn>
                <a:cxn ang="0">
                  <a:pos x="20" y="32"/>
                </a:cxn>
                <a:cxn ang="0">
                  <a:pos x="16" y="32"/>
                </a:cxn>
                <a:cxn ang="0">
                  <a:pos x="4"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6" y="13"/>
                    <a:pt x="26" y="13"/>
                    <a:pt x="26"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4" y="40"/>
                    <a:pt x="4"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9" name="Freeform 61">
              <a:extLst>
                <a:ext uri="{FF2B5EF4-FFF2-40B4-BE49-F238E27FC236}">
                  <a16:creationId xmlns:a16="http://schemas.microsoft.com/office/drawing/2014/main" id="{BD9DFC7A-8502-0D99-389E-55547645FE46}"/>
                </a:ext>
              </a:extLst>
            </p:cNvPr>
            <p:cNvSpPr>
              <a:spLocks/>
            </p:cNvSpPr>
            <p:nvPr userDrawn="1"/>
          </p:nvSpPr>
          <p:spPr bwMode="auto">
            <a:xfrm>
              <a:off x="5751" y="164"/>
              <a:ext cx="102" cy="98"/>
            </a:xfrm>
            <a:custGeom>
              <a:avLst/>
              <a:gdLst/>
              <a:ahLst/>
              <a:cxnLst>
                <a:cxn ang="0">
                  <a:pos x="23" y="0"/>
                </a:cxn>
                <a:cxn ang="0">
                  <a:pos x="25" y="13"/>
                </a:cxn>
                <a:cxn ang="0">
                  <a:pos x="28" y="15"/>
                </a:cxn>
                <a:cxn ang="0">
                  <a:pos x="42" y="15"/>
                </a:cxn>
                <a:cxn ang="0">
                  <a:pos x="29" y="24"/>
                </a:cxn>
                <a:cxn ang="0">
                  <a:pos x="28" y="27"/>
                </a:cxn>
                <a:cxn ang="0">
                  <a:pos x="30" y="40"/>
                </a:cxn>
                <a:cxn ang="0">
                  <a:pos x="30" y="40"/>
                </a:cxn>
                <a:cxn ang="0">
                  <a:pos x="20" y="32"/>
                </a:cxn>
                <a:cxn ang="0">
                  <a:pos x="16" y="32"/>
                </a:cxn>
                <a:cxn ang="0">
                  <a:pos x="3" y="40"/>
                </a:cxn>
                <a:cxn ang="0">
                  <a:pos x="10" y="27"/>
                </a:cxn>
                <a:cxn ang="0">
                  <a:pos x="10" y="24"/>
                </a:cxn>
                <a:cxn ang="0">
                  <a:pos x="0" y="15"/>
                </a:cxn>
                <a:cxn ang="0">
                  <a:pos x="0" y="15"/>
                </a:cxn>
                <a:cxn ang="0">
                  <a:pos x="14" y="15"/>
                </a:cxn>
                <a:cxn ang="0">
                  <a:pos x="17" y="13"/>
                </a:cxn>
                <a:cxn ang="0">
                  <a:pos x="23" y="0"/>
                </a:cxn>
              </a:cxnLst>
              <a:rect l="0" t="0" r="r" b="b"/>
              <a:pathLst>
                <a:path w="42" h="40">
                  <a:moveTo>
                    <a:pt x="23" y="0"/>
                  </a:moveTo>
                  <a:cubicBezTo>
                    <a:pt x="25" y="13"/>
                    <a:pt x="25" y="13"/>
                    <a:pt x="25" y="13"/>
                  </a:cubicBezTo>
                  <a:cubicBezTo>
                    <a:pt x="26" y="15"/>
                    <a:pt x="27" y="15"/>
                    <a:pt x="28" y="15"/>
                  </a:cubicBezTo>
                  <a:cubicBezTo>
                    <a:pt x="28" y="15"/>
                    <a:pt x="42" y="15"/>
                    <a:pt x="42" y="15"/>
                  </a:cubicBezTo>
                  <a:cubicBezTo>
                    <a:pt x="29" y="24"/>
                    <a:pt x="29" y="24"/>
                    <a:pt x="29" y="24"/>
                  </a:cubicBezTo>
                  <a:cubicBezTo>
                    <a:pt x="28" y="24"/>
                    <a:pt x="27" y="26"/>
                    <a:pt x="28" y="27"/>
                  </a:cubicBezTo>
                  <a:cubicBezTo>
                    <a:pt x="28" y="27"/>
                    <a:pt x="30" y="40"/>
                    <a:pt x="30" y="40"/>
                  </a:cubicBezTo>
                  <a:cubicBezTo>
                    <a:pt x="30" y="40"/>
                    <a:pt x="30" y="40"/>
                    <a:pt x="30" y="40"/>
                  </a:cubicBezTo>
                  <a:cubicBezTo>
                    <a:pt x="20" y="32"/>
                    <a:pt x="20" y="32"/>
                    <a:pt x="20" y="32"/>
                  </a:cubicBezTo>
                  <a:cubicBezTo>
                    <a:pt x="19" y="31"/>
                    <a:pt x="17" y="31"/>
                    <a:pt x="16" y="32"/>
                  </a:cubicBezTo>
                  <a:cubicBezTo>
                    <a:pt x="16" y="32"/>
                    <a:pt x="3" y="40"/>
                    <a:pt x="3" y="40"/>
                  </a:cubicBezTo>
                  <a:cubicBezTo>
                    <a:pt x="10" y="27"/>
                    <a:pt x="10" y="27"/>
                    <a:pt x="10" y="27"/>
                  </a:cubicBezTo>
                  <a:cubicBezTo>
                    <a:pt x="11" y="26"/>
                    <a:pt x="10" y="24"/>
                    <a:pt x="10" y="24"/>
                  </a:cubicBezTo>
                  <a:cubicBezTo>
                    <a:pt x="9" y="24"/>
                    <a:pt x="0" y="15"/>
                    <a:pt x="0" y="15"/>
                  </a:cubicBezTo>
                  <a:cubicBezTo>
                    <a:pt x="0" y="15"/>
                    <a:pt x="0" y="15"/>
                    <a:pt x="0" y="15"/>
                  </a:cubicBezTo>
                  <a:cubicBezTo>
                    <a:pt x="14" y="15"/>
                    <a:pt x="14" y="15"/>
                    <a:pt x="14" y="15"/>
                  </a:cubicBezTo>
                  <a:cubicBezTo>
                    <a:pt x="15" y="15"/>
                    <a:pt x="16" y="15"/>
                    <a:pt x="17" y="13"/>
                  </a:cubicBezTo>
                  <a:cubicBezTo>
                    <a:pt x="17" y="13"/>
                    <a:pt x="23" y="0"/>
                    <a:pt x="23" y="0"/>
                  </a:cubicBezTo>
                  <a:close/>
                </a:path>
              </a:pathLst>
            </a:custGeom>
            <a:solidFill>
              <a:srgbClr val="F5AA01"/>
            </a:solidFill>
            <a:ln w="9525">
              <a:noFill/>
              <a:round/>
              <a:headEnd/>
              <a:tailEnd/>
            </a:ln>
          </p:spPr>
          <p:txBody>
            <a:bodyPr/>
            <a:lstStyle/>
            <a:p>
              <a:pPr>
                <a:defRPr/>
              </a:pPr>
              <a:endParaRPr lang="en-US" sz="1350">
                <a:latin typeface="Arial" charset="0"/>
              </a:endParaRPr>
            </a:p>
          </p:txBody>
        </p:sp>
        <p:sp>
          <p:nvSpPr>
            <p:cNvPr id="10" name="Freeform 62">
              <a:extLst>
                <a:ext uri="{FF2B5EF4-FFF2-40B4-BE49-F238E27FC236}">
                  <a16:creationId xmlns:a16="http://schemas.microsoft.com/office/drawing/2014/main" id="{E04D3A83-260C-7E81-8F2D-0EE0FBACF2AB}"/>
                </a:ext>
              </a:extLst>
            </p:cNvPr>
            <p:cNvSpPr>
              <a:spLocks/>
            </p:cNvSpPr>
            <p:nvPr userDrawn="1"/>
          </p:nvSpPr>
          <p:spPr bwMode="auto">
            <a:xfrm>
              <a:off x="5632" y="316"/>
              <a:ext cx="102" cy="98"/>
            </a:xfrm>
            <a:custGeom>
              <a:avLst/>
              <a:gdLst/>
              <a:ahLst/>
              <a:cxnLst>
                <a:cxn ang="0">
                  <a:pos x="24" y="0"/>
                </a:cxn>
                <a:cxn ang="0">
                  <a:pos x="26" y="13"/>
                </a:cxn>
                <a:cxn ang="0">
                  <a:pos x="29" y="15"/>
                </a:cxn>
                <a:cxn ang="0">
                  <a:pos x="42" y="15"/>
                </a:cxn>
                <a:cxn ang="0">
                  <a:pos x="30" y="24"/>
                </a:cxn>
                <a:cxn ang="0">
                  <a:pos x="28" y="27"/>
                </a:cxn>
                <a:cxn ang="0">
                  <a:pos x="30" y="40"/>
                </a:cxn>
                <a:cxn ang="0">
                  <a:pos x="30" y="40"/>
                </a:cxn>
                <a:cxn ang="0">
                  <a:pos x="20" y="32"/>
                </a:cxn>
                <a:cxn ang="0">
                  <a:pos x="17" y="32"/>
                </a:cxn>
                <a:cxn ang="0">
                  <a:pos x="4" y="40"/>
                </a:cxn>
                <a:cxn ang="0">
                  <a:pos x="10" y="27"/>
                </a:cxn>
                <a:cxn ang="0">
                  <a:pos x="10" y="24"/>
                </a:cxn>
                <a:cxn ang="0">
                  <a:pos x="0" y="15"/>
                </a:cxn>
                <a:cxn ang="0">
                  <a:pos x="0" y="15"/>
                </a:cxn>
                <a:cxn ang="0">
                  <a:pos x="14" y="15"/>
                </a:cxn>
                <a:cxn ang="0">
                  <a:pos x="17" y="13"/>
                </a:cxn>
                <a:cxn ang="0">
                  <a:pos x="24" y="0"/>
                </a:cxn>
              </a:cxnLst>
              <a:rect l="0" t="0" r="r" b="b"/>
              <a:pathLst>
                <a:path w="42" h="40">
                  <a:moveTo>
                    <a:pt x="24" y="0"/>
                  </a:moveTo>
                  <a:cubicBezTo>
                    <a:pt x="26" y="13"/>
                    <a:pt x="26" y="13"/>
                    <a:pt x="26" y="13"/>
                  </a:cubicBezTo>
                  <a:cubicBezTo>
                    <a:pt x="26" y="15"/>
                    <a:pt x="27" y="15"/>
                    <a:pt x="29" y="15"/>
                  </a:cubicBezTo>
                  <a:cubicBezTo>
                    <a:pt x="29" y="15"/>
                    <a:pt x="42" y="15"/>
                    <a:pt x="42" y="15"/>
                  </a:cubicBezTo>
                  <a:cubicBezTo>
                    <a:pt x="30" y="24"/>
                    <a:pt x="30" y="24"/>
                    <a:pt x="30" y="24"/>
                  </a:cubicBezTo>
                  <a:cubicBezTo>
                    <a:pt x="29" y="24"/>
                    <a:pt x="28" y="26"/>
                    <a:pt x="28" y="27"/>
                  </a:cubicBezTo>
                  <a:cubicBezTo>
                    <a:pt x="28" y="27"/>
                    <a:pt x="30" y="40"/>
                    <a:pt x="30" y="40"/>
                  </a:cubicBezTo>
                  <a:cubicBezTo>
                    <a:pt x="30" y="40"/>
                    <a:pt x="30" y="40"/>
                    <a:pt x="30" y="40"/>
                  </a:cubicBezTo>
                  <a:cubicBezTo>
                    <a:pt x="20" y="32"/>
                    <a:pt x="20" y="32"/>
                    <a:pt x="20" y="32"/>
                  </a:cubicBezTo>
                  <a:cubicBezTo>
                    <a:pt x="19" y="31"/>
                    <a:pt x="18" y="31"/>
                    <a:pt x="17" y="32"/>
                  </a:cubicBezTo>
                  <a:cubicBezTo>
                    <a:pt x="17" y="32"/>
                    <a:pt x="4" y="40"/>
                    <a:pt x="4" y="40"/>
                  </a:cubicBezTo>
                  <a:cubicBezTo>
                    <a:pt x="10" y="27"/>
                    <a:pt x="10" y="27"/>
                    <a:pt x="10" y="27"/>
                  </a:cubicBezTo>
                  <a:cubicBezTo>
                    <a:pt x="11" y="26"/>
                    <a:pt x="11" y="24"/>
                    <a:pt x="10" y="24"/>
                  </a:cubicBezTo>
                  <a:cubicBezTo>
                    <a:pt x="10" y="24"/>
                    <a:pt x="0" y="15"/>
                    <a:pt x="0" y="15"/>
                  </a:cubicBezTo>
                  <a:cubicBezTo>
                    <a:pt x="0" y="15"/>
                    <a:pt x="0" y="15"/>
                    <a:pt x="0" y="15"/>
                  </a:cubicBezTo>
                  <a:cubicBezTo>
                    <a:pt x="14" y="15"/>
                    <a:pt x="14" y="15"/>
                    <a:pt x="14" y="15"/>
                  </a:cubicBezTo>
                  <a:cubicBezTo>
                    <a:pt x="15" y="15"/>
                    <a:pt x="17" y="15"/>
                    <a:pt x="17" y="13"/>
                  </a:cubicBezTo>
                  <a:cubicBezTo>
                    <a:pt x="17" y="13"/>
                    <a:pt x="24" y="0"/>
                    <a:pt x="24" y="0"/>
                  </a:cubicBezTo>
                  <a:close/>
                </a:path>
              </a:pathLst>
            </a:custGeom>
            <a:solidFill>
              <a:srgbClr val="F5AA01"/>
            </a:solidFill>
            <a:ln w="9525">
              <a:noFill/>
              <a:round/>
              <a:headEnd/>
              <a:tailEnd/>
            </a:ln>
          </p:spPr>
          <p:txBody>
            <a:bodyPr/>
            <a:lstStyle/>
            <a:p>
              <a:pPr>
                <a:defRPr/>
              </a:pPr>
              <a:endParaRPr lang="en-US" sz="1350">
                <a:latin typeface="Arial" charset="0"/>
              </a:endParaRPr>
            </a:p>
          </p:txBody>
        </p:sp>
      </p:grpSp>
      <p:sp>
        <p:nvSpPr>
          <p:cNvPr id="11" name="Line 35">
            <a:extLst>
              <a:ext uri="{FF2B5EF4-FFF2-40B4-BE49-F238E27FC236}">
                <a16:creationId xmlns:a16="http://schemas.microsoft.com/office/drawing/2014/main" id="{15DE3BCE-3962-BDF8-4A46-5F68D84849AE}"/>
              </a:ext>
            </a:extLst>
          </p:cNvPr>
          <p:cNvSpPr>
            <a:spLocks noChangeShapeType="1"/>
          </p:cNvSpPr>
          <p:nvPr userDrawn="1"/>
        </p:nvSpPr>
        <p:spPr bwMode="auto">
          <a:xfrm>
            <a:off x="703385" y="0"/>
            <a:ext cx="0" cy="1306116"/>
          </a:xfrm>
          <a:prstGeom prst="line">
            <a:avLst/>
          </a:prstGeom>
          <a:noFill/>
          <a:ln w="6350">
            <a:solidFill>
              <a:schemeClr val="bg1"/>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a:xfrm>
            <a:off x="2013785" y="2060099"/>
            <a:ext cx="6446769" cy="1350000"/>
          </a:xfrm>
        </p:spPr>
        <p:txBody>
          <a:bodyPr>
            <a:normAutofit/>
          </a:bodyPr>
          <a:lstStyle>
            <a:lvl1pPr algn="l" defTabSz="685800" rtl="0" eaLnBrk="1" latinLnBrk="0" hangingPunct="1">
              <a:spcBef>
                <a:spcPct val="0"/>
              </a:spcBef>
              <a:buNone/>
              <a:defRPr lang="en-NZ" sz="2100" b="1" kern="1200" dirty="0" smtClean="0">
                <a:solidFill>
                  <a:schemeClr val="bg1"/>
                </a:solidFill>
                <a:latin typeface="Arial" pitchFamily="34" charset="0"/>
                <a:ea typeface="+mj-ea"/>
                <a:cs typeface="Arial" pitchFamily="34" charset="0"/>
              </a:defRPr>
            </a:lvl1pPr>
          </a:lstStyle>
          <a:p>
            <a:r>
              <a:rPr lang="en-NZ" noProof="0" dirty="0"/>
              <a:t>Click to edit Master title style</a:t>
            </a:r>
          </a:p>
        </p:txBody>
      </p:sp>
      <p:sp>
        <p:nvSpPr>
          <p:cNvPr id="3" name="Text Placeholder 2"/>
          <p:cNvSpPr>
            <a:spLocks noGrp="1"/>
          </p:cNvSpPr>
          <p:nvPr>
            <p:ph type="body" idx="1"/>
          </p:nvPr>
        </p:nvSpPr>
        <p:spPr>
          <a:xfrm>
            <a:off x="683568" y="2060100"/>
            <a:ext cx="1329231" cy="1350000"/>
          </a:xfrm>
          <a:noFill/>
        </p:spPr>
        <p:txBody>
          <a:bodyPr anchor="ctr">
            <a:noAutofit/>
          </a:bodyPr>
          <a:lstStyle>
            <a:lvl1pPr marL="0" indent="0" algn="r" defTabSz="685800" rtl="0" eaLnBrk="1" latinLnBrk="0" hangingPunct="1">
              <a:spcBef>
                <a:spcPct val="0"/>
              </a:spcBef>
              <a:buFont typeface="Wingdings" pitchFamily="2" charset="2"/>
              <a:buNone/>
              <a:defRPr lang="en-US" sz="7200" b="1" kern="1200" dirty="0" smtClean="0">
                <a:solidFill>
                  <a:schemeClr val="bg2"/>
                </a:solidFill>
                <a:latin typeface="Arial" pitchFamily="34" charset="0"/>
                <a:ea typeface="+mj-ea"/>
                <a:cs typeface="Arial" pitchFamily="34" charset="0"/>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noProof="0"/>
              <a:t>Click to edit Master text styles</a:t>
            </a:r>
          </a:p>
        </p:txBody>
      </p:sp>
      <p:sp>
        <p:nvSpPr>
          <p:cNvPr id="12" name="Footer Placeholder 4">
            <a:extLst>
              <a:ext uri="{FF2B5EF4-FFF2-40B4-BE49-F238E27FC236}">
                <a16:creationId xmlns:a16="http://schemas.microsoft.com/office/drawing/2014/main" id="{3D4D0947-1F39-B388-C85E-DF92E0A900B4}"/>
              </a:ext>
            </a:extLst>
          </p:cNvPr>
          <p:cNvSpPr>
            <a:spLocks noGrp="1"/>
          </p:cNvSpPr>
          <p:nvPr>
            <p:ph type="ftr" sz="quarter" idx="10"/>
          </p:nvPr>
        </p:nvSpPr>
        <p:spPr/>
        <p:txBody>
          <a:bodyPr/>
          <a:lstStyle>
            <a:lvl1pPr>
              <a:defRPr>
                <a:solidFill>
                  <a:schemeClr val="bg1"/>
                </a:solidFill>
              </a:defRPr>
            </a:lvl1pPr>
          </a:lstStyle>
          <a:p>
            <a:pPr>
              <a:defRPr/>
            </a:pPr>
            <a:r>
              <a:t>Confidential – Internal BNZ Discussion Only</a:t>
            </a:r>
          </a:p>
        </p:txBody>
      </p:sp>
    </p:spTree>
    <p:extLst>
      <p:ext uri="{BB962C8B-B14F-4D97-AF65-F5344CB8AC3E}">
        <p14:creationId xmlns:p14="http://schemas.microsoft.com/office/powerpoint/2010/main" val="3783374057"/>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 preserve="1">
  <p:cSld name="Title &amp; Content">
    <p:spTree>
      <p:nvGrpSpPr>
        <p:cNvPr id="1" name=""/>
        <p:cNvGrpSpPr/>
        <p:nvPr/>
      </p:nvGrpSpPr>
      <p:grpSpPr>
        <a:xfrm>
          <a:off x="0" y="0"/>
          <a:ext cx="0" cy="0"/>
          <a:chOff x="0" y="0"/>
          <a:chExt cx="0" cy="0"/>
        </a:xfrm>
      </p:grpSpPr>
      <p:sp>
        <p:nvSpPr>
          <p:cNvPr id="4" name="Line 16">
            <a:extLst>
              <a:ext uri="{FF2B5EF4-FFF2-40B4-BE49-F238E27FC236}">
                <a16:creationId xmlns:a16="http://schemas.microsoft.com/office/drawing/2014/main" id="{07FB7A2A-D20A-7706-C231-B196EAA5D129}"/>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5" name="Line 16">
            <a:extLst>
              <a:ext uri="{FF2B5EF4-FFF2-40B4-BE49-F238E27FC236}">
                <a16:creationId xmlns:a16="http://schemas.microsoft.com/office/drawing/2014/main" id="{996B4A42-EDE0-6A3E-A2AE-1876FAE2D156}"/>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dirty="0"/>
              <a:t>Click to edit Master title style</a:t>
            </a:r>
          </a:p>
        </p:txBody>
      </p:sp>
      <p:sp>
        <p:nvSpPr>
          <p:cNvPr id="3" name="Content Placeholder 2"/>
          <p:cNvSpPr>
            <a:spLocks noGrp="1"/>
          </p:cNvSpPr>
          <p:nvPr>
            <p:ph idx="1"/>
          </p:nvPr>
        </p:nvSpPr>
        <p:spPr/>
        <p:txBody>
          <a:bodyPr>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6" name="Footer Placeholder 4">
            <a:extLst>
              <a:ext uri="{FF2B5EF4-FFF2-40B4-BE49-F238E27FC236}">
                <a16:creationId xmlns:a16="http://schemas.microsoft.com/office/drawing/2014/main" id="{1AA3B788-A404-3F3A-AC04-DF4931B6A116}"/>
              </a:ext>
            </a:extLst>
          </p:cNvPr>
          <p:cNvSpPr>
            <a:spLocks noGrp="1"/>
          </p:cNvSpPr>
          <p:nvPr>
            <p:ph type="ftr" sz="quarter" idx="10"/>
          </p:nvPr>
        </p:nvSpPr>
        <p:spPr>
          <a:xfrm>
            <a:off x="3059723" y="4962525"/>
            <a:ext cx="3024554" cy="180975"/>
          </a:xfrm>
        </p:spPr>
        <p:txBody>
          <a:bodyPr/>
          <a:lstStyle>
            <a:lvl1pPr>
              <a:defRPr>
                <a:solidFill>
                  <a:schemeClr val="bg1">
                    <a:lumMod val="50000"/>
                  </a:schemeClr>
                </a:solidFill>
              </a:defRPr>
            </a:lvl1pPr>
          </a:lstStyle>
          <a:p>
            <a:pPr>
              <a:defRPr/>
            </a:pPr>
            <a:r>
              <a:t>Confidential – Internal BNZ Discussion Only</a:t>
            </a:r>
          </a:p>
        </p:txBody>
      </p:sp>
      <p:sp>
        <p:nvSpPr>
          <p:cNvPr id="7" name="Slide Number Placeholder 5">
            <a:extLst>
              <a:ext uri="{FF2B5EF4-FFF2-40B4-BE49-F238E27FC236}">
                <a16:creationId xmlns:a16="http://schemas.microsoft.com/office/drawing/2014/main" id="{778378BE-1F95-10D6-2D9F-9364FDCFC096}"/>
              </a:ext>
            </a:extLst>
          </p:cNvPr>
          <p:cNvSpPr>
            <a:spLocks noGrp="1"/>
          </p:cNvSpPr>
          <p:nvPr>
            <p:ph type="sldNum" sz="quarter" idx="11"/>
          </p:nvPr>
        </p:nvSpPr>
        <p:spPr/>
        <p:txBody>
          <a:bodyPr/>
          <a:lstStyle>
            <a:lvl1pPr>
              <a:defRPr/>
            </a:lvl1pPr>
          </a:lstStyle>
          <a:p>
            <a:fld id="{06EF4574-5D4C-453D-AA26-ABDB2E5A71B4}" type="slidenum">
              <a:rPr lang="en-NZ" altLang="en-US"/>
              <a:pPr/>
              <a:t>‹#›</a:t>
            </a:fld>
            <a:endParaRPr lang="en-NZ" altLang="en-US"/>
          </a:p>
        </p:txBody>
      </p:sp>
    </p:spTree>
    <p:extLst>
      <p:ext uri="{BB962C8B-B14F-4D97-AF65-F5344CB8AC3E}">
        <p14:creationId xmlns:p14="http://schemas.microsoft.com/office/powerpoint/2010/main" val="309551046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Subtitle &amp; Content">
    <p:spTree>
      <p:nvGrpSpPr>
        <p:cNvPr id="1" name=""/>
        <p:cNvGrpSpPr/>
        <p:nvPr/>
      </p:nvGrpSpPr>
      <p:grpSpPr>
        <a:xfrm>
          <a:off x="0" y="0"/>
          <a:ext cx="0" cy="0"/>
          <a:chOff x="0" y="0"/>
          <a:chExt cx="0" cy="0"/>
        </a:xfrm>
      </p:grpSpPr>
      <p:sp>
        <p:nvSpPr>
          <p:cNvPr id="4" name="Line 16">
            <a:extLst>
              <a:ext uri="{FF2B5EF4-FFF2-40B4-BE49-F238E27FC236}">
                <a16:creationId xmlns:a16="http://schemas.microsoft.com/office/drawing/2014/main" id="{9AD8EDC0-FB56-276F-0AB6-47DDBF5B08CA}"/>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5" name="Line 16">
            <a:extLst>
              <a:ext uri="{FF2B5EF4-FFF2-40B4-BE49-F238E27FC236}">
                <a16:creationId xmlns:a16="http://schemas.microsoft.com/office/drawing/2014/main" id="{178E1836-FD19-9776-7B61-7DFBF64C5594}"/>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normAutofit/>
          </a:bodyPr>
          <a:lstStyle>
            <a:lvl1pPr>
              <a:defRPr sz="1500">
                <a:solidFill>
                  <a:schemeClr val="tx2"/>
                </a:solidFill>
              </a:defRPr>
            </a:lvl1pPr>
          </a:lstStyle>
          <a:p>
            <a:r>
              <a:rPr lang="en-NZ" noProof="0" dirty="0"/>
              <a:t>Click to edit Master title style</a:t>
            </a:r>
          </a:p>
        </p:txBody>
      </p:sp>
      <p:sp>
        <p:nvSpPr>
          <p:cNvPr id="3" name="Content Placeholder 2"/>
          <p:cNvSpPr>
            <a:spLocks noGrp="1"/>
          </p:cNvSpPr>
          <p:nvPr>
            <p:ph idx="1"/>
          </p:nvPr>
        </p:nvSpPr>
        <p:spPr>
          <a:xfrm>
            <a:off x="251520" y="1309896"/>
            <a:ext cx="8640960" cy="3456384"/>
          </a:xfrm>
        </p:spPr>
        <p:txBody>
          <a:bodyPr>
            <a:norm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Text Placeholder 2"/>
          <p:cNvSpPr>
            <a:spLocks noGrp="1"/>
          </p:cNvSpPr>
          <p:nvPr>
            <p:ph type="body" idx="13"/>
          </p:nvPr>
        </p:nvSpPr>
        <p:spPr>
          <a:xfrm>
            <a:off x="251520" y="838130"/>
            <a:ext cx="8640960" cy="432048"/>
          </a:xfrm>
          <a:noFill/>
        </p:spPr>
        <p:txBody>
          <a:bodyPr anchor="b">
            <a:norm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6" name="Slide Number Placeholder 5">
            <a:extLst>
              <a:ext uri="{FF2B5EF4-FFF2-40B4-BE49-F238E27FC236}">
                <a16:creationId xmlns:a16="http://schemas.microsoft.com/office/drawing/2014/main" id="{59408977-863E-1D8E-4ECC-ED0454BC93AA}"/>
              </a:ext>
            </a:extLst>
          </p:cNvPr>
          <p:cNvSpPr>
            <a:spLocks noGrp="1"/>
          </p:cNvSpPr>
          <p:nvPr>
            <p:ph type="sldNum" sz="quarter" idx="14"/>
          </p:nvPr>
        </p:nvSpPr>
        <p:spPr/>
        <p:txBody>
          <a:bodyPr/>
          <a:lstStyle>
            <a:lvl1pPr>
              <a:defRPr>
                <a:solidFill>
                  <a:srgbClr val="8F8F8F"/>
                </a:solidFill>
              </a:defRPr>
            </a:lvl1pPr>
          </a:lstStyle>
          <a:p>
            <a:fld id="{219ADE33-127A-40ED-888B-99101DE463A9}" type="slidenum">
              <a:rPr lang="en-NZ" altLang="en-US"/>
              <a:pPr/>
              <a:t>‹#›</a:t>
            </a:fld>
            <a:endParaRPr lang="en-NZ" altLang="en-US"/>
          </a:p>
        </p:txBody>
      </p:sp>
      <p:sp>
        <p:nvSpPr>
          <p:cNvPr id="8" name="Footer Placeholder 4">
            <a:extLst>
              <a:ext uri="{FF2B5EF4-FFF2-40B4-BE49-F238E27FC236}">
                <a16:creationId xmlns:a16="http://schemas.microsoft.com/office/drawing/2014/main" id="{341E8E67-3622-03AE-CDAC-A6D76CC946B7}"/>
              </a:ext>
            </a:extLst>
          </p:cNvPr>
          <p:cNvSpPr>
            <a:spLocks noGrp="1"/>
          </p:cNvSpPr>
          <p:nvPr>
            <p:ph type="ftr" sz="quarter" idx="15"/>
          </p:nvPr>
        </p:nvSpPr>
        <p:spPr/>
        <p:txBody>
          <a:bodyPr/>
          <a:lstStyle>
            <a:lvl1pPr>
              <a:defRPr>
                <a:solidFill>
                  <a:schemeClr val="tx1">
                    <a:lumMod val="50000"/>
                    <a:lumOff val="50000"/>
                  </a:schemeClr>
                </a:solidFill>
              </a:defRPr>
            </a:lvl1pPr>
          </a:lstStyle>
          <a:p>
            <a:pPr>
              <a:defRPr/>
            </a:pPr>
            <a:r>
              <a:t>Confidential – Internal BNZ Discussion Only</a:t>
            </a:r>
          </a:p>
        </p:txBody>
      </p:sp>
    </p:spTree>
    <p:extLst>
      <p:ext uri="{BB962C8B-B14F-4D97-AF65-F5344CB8AC3E}">
        <p14:creationId xmlns:p14="http://schemas.microsoft.com/office/powerpoint/2010/main" val="3251106394"/>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woObj" preserve="1">
  <p:cSld name="Side by Side">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84341211-57C3-5920-EF2D-3FB944FD1504}"/>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4DC830BF-691E-2A22-A654-DFD179A3B32B}"/>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dirty="0"/>
              <a:t>Click to edit Master title style</a:t>
            </a:r>
          </a:p>
        </p:txBody>
      </p:sp>
      <p:sp>
        <p:nvSpPr>
          <p:cNvPr id="3" name="Content Placeholder 2"/>
          <p:cNvSpPr>
            <a:spLocks noGrp="1"/>
          </p:cNvSpPr>
          <p:nvPr>
            <p:ph sz="half" idx="1"/>
          </p:nvPr>
        </p:nvSpPr>
        <p:spPr>
          <a:xfrm>
            <a:off x="251520" y="951570"/>
            <a:ext cx="4244280" cy="3564396"/>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1050">
                <a:solidFill>
                  <a:schemeClr val="tx1"/>
                </a:solidFill>
              </a:defRPr>
            </a:lvl4pPr>
            <a:lvl5pPr>
              <a:defRPr sz="900">
                <a:solidFill>
                  <a:schemeClr val="tx1"/>
                </a:solidFill>
              </a:defRPr>
            </a:lvl5pPr>
            <a:lvl6pPr>
              <a:defRPr sz="1350"/>
            </a:lvl6pPr>
            <a:lvl7pPr>
              <a:defRPr sz="1350"/>
            </a:lvl7pPr>
            <a:lvl8pPr>
              <a:defRPr sz="1350"/>
            </a:lvl8pPr>
            <a:lvl9pPr>
              <a:defRPr sz="135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4" name="Content Placeholder 3"/>
          <p:cNvSpPr>
            <a:spLocks noGrp="1"/>
          </p:cNvSpPr>
          <p:nvPr>
            <p:ph sz="half" idx="2"/>
          </p:nvPr>
        </p:nvSpPr>
        <p:spPr>
          <a:xfrm>
            <a:off x="4648200" y="951570"/>
            <a:ext cx="4244280" cy="3564396"/>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1050">
                <a:solidFill>
                  <a:schemeClr val="tx1"/>
                </a:solidFill>
              </a:defRPr>
            </a:lvl4pPr>
            <a:lvl5pPr>
              <a:defRPr sz="900">
                <a:solidFill>
                  <a:schemeClr val="tx1"/>
                </a:solidFill>
              </a:defRPr>
            </a:lvl5pPr>
            <a:lvl6pPr>
              <a:defRPr sz="1350"/>
            </a:lvl6pPr>
            <a:lvl7pPr>
              <a:defRPr sz="1350"/>
            </a:lvl7pPr>
            <a:lvl8pPr>
              <a:defRPr sz="1350"/>
            </a:lvl8pPr>
            <a:lvl9pPr>
              <a:defRPr sz="135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7" name="Footer Placeholder 5">
            <a:extLst>
              <a:ext uri="{FF2B5EF4-FFF2-40B4-BE49-F238E27FC236}">
                <a16:creationId xmlns:a16="http://schemas.microsoft.com/office/drawing/2014/main" id="{8DED132B-3287-1FDF-05E4-75B924A58923}"/>
              </a:ext>
            </a:extLst>
          </p:cNvPr>
          <p:cNvSpPr>
            <a:spLocks noGrp="1"/>
          </p:cNvSpPr>
          <p:nvPr>
            <p:ph type="ftr" sz="quarter" idx="10"/>
          </p:nvPr>
        </p:nvSpPr>
        <p:spPr/>
        <p:txBody>
          <a:bodyPr/>
          <a:lstStyle>
            <a:lvl1pPr>
              <a:defRPr/>
            </a:lvl1pPr>
          </a:lstStyle>
          <a:p>
            <a:pPr>
              <a:defRPr/>
            </a:pPr>
            <a:r>
              <a:t>Confidential – Internal BNZ Discussion Only</a:t>
            </a:r>
          </a:p>
        </p:txBody>
      </p:sp>
      <p:sp>
        <p:nvSpPr>
          <p:cNvPr id="8" name="Slide Number Placeholder 6">
            <a:extLst>
              <a:ext uri="{FF2B5EF4-FFF2-40B4-BE49-F238E27FC236}">
                <a16:creationId xmlns:a16="http://schemas.microsoft.com/office/drawing/2014/main" id="{95122F9E-4A9C-B55F-91AA-BC57D25E779C}"/>
              </a:ext>
            </a:extLst>
          </p:cNvPr>
          <p:cNvSpPr>
            <a:spLocks noGrp="1"/>
          </p:cNvSpPr>
          <p:nvPr>
            <p:ph type="sldNum" sz="quarter" idx="11"/>
          </p:nvPr>
        </p:nvSpPr>
        <p:spPr/>
        <p:txBody>
          <a:bodyPr/>
          <a:lstStyle>
            <a:lvl1pPr>
              <a:defRPr/>
            </a:lvl1pPr>
          </a:lstStyle>
          <a:p>
            <a:fld id="{4FD7B959-21B9-4281-A62A-9541E1AEBC22}" type="slidenum">
              <a:rPr lang="en-NZ" altLang="en-US"/>
              <a:pPr/>
              <a:t>‹#›</a:t>
            </a:fld>
            <a:endParaRPr lang="en-NZ" altLang="en-US"/>
          </a:p>
        </p:txBody>
      </p:sp>
    </p:spTree>
    <p:extLst>
      <p:ext uri="{BB962C8B-B14F-4D97-AF65-F5344CB8AC3E}">
        <p14:creationId xmlns:p14="http://schemas.microsoft.com/office/powerpoint/2010/main" val="314789090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twoTxTwoObj" preserve="1">
  <p:cSld name="Two Point Comparison">
    <p:spTree>
      <p:nvGrpSpPr>
        <p:cNvPr id="1" name=""/>
        <p:cNvGrpSpPr/>
        <p:nvPr/>
      </p:nvGrpSpPr>
      <p:grpSpPr>
        <a:xfrm>
          <a:off x="0" y="0"/>
          <a:ext cx="0" cy="0"/>
          <a:chOff x="0" y="0"/>
          <a:chExt cx="0" cy="0"/>
        </a:xfrm>
      </p:grpSpPr>
      <p:sp>
        <p:nvSpPr>
          <p:cNvPr id="7" name="Line 16">
            <a:extLst>
              <a:ext uri="{FF2B5EF4-FFF2-40B4-BE49-F238E27FC236}">
                <a16:creationId xmlns:a16="http://schemas.microsoft.com/office/drawing/2014/main" id="{FAD15517-9A57-487D-1A86-67AF355C294C}"/>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8" name="Line 16">
            <a:extLst>
              <a:ext uri="{FF2B5EF4-FFF2-40B4-BE49-F238E27FC236}">
                <a16:creationId xmlns:a16="http://schemas.microsoft.com/office/drawing/2014/main" id="{312E53DC-0637-156B-51DF-039377511E4E}"/>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dirty="0"/>
              <a:t>Click to edit Master title style</a:t>
            </a:r>
          </a:p>
        </p:txBody>
      </p:sp>
      <p:sp>
        <p:nvSpPr>
          <p:cNvPr id="3" name="Text Placeholder 2"/>
          <p:cNvSpPr>
            <a:spLocks noGrp="1"/>
          </p:cNvSpPr>
          <p:nvPr>
            <p:ph type="body" idx="1"/>
          </p:nvPr>
        </p:nvSpPr>
        <p:spPr>
          <a:xfrm>
            <a:off x="251521" y="843558"/>
            <a:ext cx="4245868" cy="432048"/>
          </a:xfrm>
          <a:noFill/>
        </p:spPr>
        <p:txBody>
          <a:bodyPr anchor="b">
            <a:norm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0504" y="1329612"/>
            <a:ext cx="4245868" cy="3132348"/>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1050">
                <a:solidFill>
                  <a:schemeClr val="tx1"/>
                </a:solidFill>
              </a:defRPr>
            </a:lvl4pPr>
            <a:lvl5pPr>
              <a:defRPr sz="900">
                <a:solidFill>
                  <a:schemeClr val="tx1"/>
                </a:solidFill>
              </a:defRPr>
            </a:lvl5pPr>
            <a:lvl6pPr>
              <a:defRPr sz="1200"/>
            </a:lvl6pPr>
            <a:lvl7pPr>
              <a:defRPr sz="1200"/>
            </a:lvl7pPr>
            <a:lvl8pPr>
              <a:defRPr sz="1200"/>
            </a:lvl8pPr>
            <a:lvl9pPr>
              <a:defRPr sz="120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5" name="Text Placeholder 4"/>
          <p:cNvSpPr>
            <a:spLocks noGrp="1"/>
          </p:cNvSpPr>
          <p:nvPr>
            <p:ph type="body" sz="quarter" idx="3"/>
          </p:nvPr>
        </p:nvSpPr>
        <p:spPr>
          <a:xfrm>
            <a:off x="4645026" y="843558"/>
            <a:ext cx="4247456" cy="432048"/>
          </a:xfrm>
          <a:noFill/>
        </p:spPr>
        <p:txBody>
          <a:bodyPr anchor="b">
            <a:norm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a:t>Click to edit Master text styles</a:t>
            </a:r>
          </a:p>
        </p:txBody>
      </p:sp>
      <p:sp>
        <p:nvSpPr>
          <p:cNvPr id="6" name="Content Placeholder 5"/>
          <p:cNvSpPr>
            <a:spLocks noGrp="1"/>
          </p:cNvSpPr>
          <p:nvPr>
            <p:ph sz="quarter" idx="4"/>
          </p:nvPr>
        </p:nvSpPr>
        <p:spPr>
          <a:xfrm>
            <a:off x="4644009" y="1329612"/>
            <a:ext cx="4247456" cy="3132348"/>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1050">
                <a:solidFill>
                  <a:schemeClr val="tx1"/>
                </a:solidFill>
              </a:defRPr>
            </a:lvl4pPr>
            <a:lvl5pPr>
              <a:defRPr sz="900">
                <a:solidFill>
                  <a:schemeClr val="tx1"/>
                </a:solidFill>
              </a:defRPr>
            </a:lvl5pPr>
            <a:lvl6pPr>
              <a:defRPr sz="1200"/>
            </a:lvl6pPr>
            <a:lvl7pPr>
              <a:defRPr sz="1200"/>
            </a:lvl7pPr>
            <a:lvl8pPr>
              <a:defRPr sz="1200"/>
            </a:lvl8pPr>
            <a:lvl9pPr>
              <a:defRPr sz="120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9" name="Footer Placeholder 7">
            <a:extLst>
              <a:ext uri="{FF2B5EF4-FFF2-40B4-BE49-F238E27FC236}">
                <a16:creationId xmlns:a16="http://schemas.microsoft.com/office/drawing/2014/main" id="{BB66A65D-BA7B-6437-3F57-34365C965C21}"/>
              </a:ext>
            </a:extLst>
          </p:cNvPr>
          <p:cNvSpPr>
            <a:spLocks noGrp="1"/>
          </p:cNvSpPr>
          <p:nvPr>
            <p:ph type="ftr" sz="quarter" idx="10"/>
          </p:nvPr>
        </p:nvSpPr>
        <p:spPr/>
        <p:txBody>
          <a:bodyPr/>
          <a:lstStyle>
            <a:lvl1pPr>
              <a:defRPr/>
            </a:lvl1pPr>
          </a:lstStyle>
          <a:p>
            <a:pPr>
              <a:defRPr/>
            </a:pPr>
            <a:r>
              <a:t>Confidential – Internal BNZ Discussion Only</a:t>
            </a:r>
          </a:p>
        </p:txBody>
      </p:sp>
      <p:sp>
        <p:nvSpPr>
          <p:cNvPr id="10" name="Slide Number Placeholder 8">
            <a:extLst>
              <a:ext uri="{FF2B5EF4-FFF2-40B4-BE49-F238E27FC236}">
                <a16:creationId xmlns:a16="http://schemas.microsoft.com/office/drawing/2014/main" id="{FB2F7CE0-3858-309A-81C1-C238E9214276}"/>
              </a:ext>
            </a:extLst>
          </p:cNvPr>
          <p:cNvSpPr>
            <a:spLocks noGrp="1"/>
          </p:cNvSpPr>
          <p:nvPr>
            <p:ph type="sldNum" sz="quarter" idx="11"/>
          </p:nvPr>
        </p:nvSpPr>
        <p:spPr/>
        <p:txBody>
          <a:bodyPr/>
          <a:lstStyle>
            <a:lvl1pPr>
              <a:defRPr/>
            </a:lvl1pPr>
          </a:lstStyle>
          <a:p>
            <a:fld id="{456C04D5-3C23-4C74-AAC9-F4DC3402A243}" type="slidenum">
              <a:rPr lang="en-NZ" altLang="en-US"/>
              <a:pPr/>
              <a:t>‹#›</a:t>
            </a:fld>
            <a:endParaRPr lang="en-NZ" altLang="en-US"/>
          </a:p>
        </p:txBody>
      </p:sp>
    </p:spTree>
    <p:extLst>
      <p:ext uri="{BB962C8B-B14F-4D97-AF65-F5344CB8AC3E}">
        <p14:creationId xmlns:p14="http://schemas.microsoft.com/office/powerpoint/2010/main" val="67504779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ext &amp; Graphic Content">
    <p:spTree>
      <p:nvGrpSpPr>
        <p:cNvPr id="1" name=""/>
        <p:cNvGrpSpPr/>
        <p:nvPr/>
      </p:nvGrpSpPr>
      <p:grpSpPr>
        <a:xfrm>
          <a:off x="0" y="0"/>
          <a:ext cx="0" cy="0"/>
          <a:chOff x="0" y="0"/>
          <a:chExt cx="0" cy="0"/>
        </a:xfrm>
      </p:grpSpPr>
      <p:sp>
        <p:nvSpPr>
          <p:cNvPr id="4" name="Line 16">
            <a:extLst>
              <a:ext uri="{FF2B5EF4-FFF2-40B4-BE49-F238E27FC236}">
                <a16:creationId xmlns:a16="http://schemas.microsoft.com/office/drawing/2014/main" id="{69FD61B7-1B16-52EB-4B6E-0F826BE17C5A}"/>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5" name="Line 16">
            <a:extLst>
              <a:ext uri="{FF2B5EF4-FFF2-40B4-BE49-F238E27FC236}">
                <a16:creationId xmlns:a16="http://schemas.microsoft.com/office/drawing/2014/main" id="{FAC04881-3D62-077A-441A-F2E15A4A049F}"/>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dirty="0"/>
              <a:t>Click to edit Master title style</a:t>
            </a:r>
          </a:p>
        </p:txBody>
      </p:sp>
      <p:sp>
        <p:nvSpPr>
          <p:cNvPr id="3" name="Content Placeholder 2"/>
          <p:cNvSpPr>
            <a:spLocks noGrp="1"/>
          </p:cNvSpPr>
          <p:nvPr>
            <p:ph sz="half" idx="1"/>
          </p:nvPr>
        </p:nvSpPr>
        <p:spPr>
          <a:xfrm>
            <a:off x="251520" y="951571"/>
            <a:ext cx="864096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8" name="Content Placeholder 2"/>
          <p:cNvSpPr>
            <a:spLocks noGrp="1"/>
          </p:cNvSpPr>
          <p:nvPr>
            <p:ph sz="half" idx="13"/>
          </p:nvPr>
        </p:nvSpPr>
        <p:spPr>
          <a:xfrm>
            <a:off x="251520" y="2841780"/>
            <a:ext cx="864096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6" name="Footer Placeholder 5">
            <a:extLst>
              <a:ext uri="{FF2B5EF4-FFF2-40B4-BE49-F238E27FC236}">
                <a16:creationId xmlns:a16="http://schemas.microsoft.com/office/drawing/2014/main" id="{F97E7B99-B2C1-C997-C2B6-622EEAA5DF1B}"/>
              </a:ext>
            </a:extLst>
          </p:cNvPr>
          <p:cNvSpPr>
            <a:spLocks noGrp="1"/>
          </p:cNvSpPr>
          <p:nvPr>
            <p:ph type="ftr" sz="quarter" idx="14"/>
          </p:nvPr>
        </p:nvSpPr>
        <p:spPr/>
        <p:txBody>
          <a:bodyPr/>
          <a:lstStyle>
            <a:lvl1pPr>
              <a:defRPr/>
            </a:lvl1pPr>
          </a:lstStyle>
          <a:p>
            <a:pPr>
              <a:defRPr/>
            </a:pPr>
            <a:r>
              <a:t>Confidential – Internal BNZ Discussion Only</a:t>
            </a:r>
          </a:p>
        </p:txBody>
      </p:sp>
      <p:sp>
        <p:nvSpPr>
          <p:cNvPr id="7" name="Slide Number Placeholder 6">
            <a:extLst>
              <a:ext uri="{FF2B5EF4-FFF2-40B4-BE49-F238E27FC236}">
                <a16:creationId xmlns:a16="http://schemas.microsoft.com/office/drawing/2014/main" id="{346FA28B-870E-0B2D-FEA2-54E400B0CDD2}"/>
              </a:ext>
            </a:extLst>
          </p:cNvPr>
          <p:cNvSpPr>
            <a:spLocks noGrp="1"/>
          </p:cNvSpPr>
          <p:nvPr>
            <p:ph type="sldNum" sz="quarter" idx="15"/>
          </p:nvPr>
        </p:nvSpPr>
        <p:spPr/>
        <p:txBody>
          <a:bodyPr/>
          <a:lstStyle>
            <a:lvl1pPr>
              <a:defRPr/>
            </a:lvl1pPr>
          </a:lstStyle>
          <a:p>
            <a:fld id="{8A04DC9C-F81B-4227-A94C-FC1E72690E29}" type="slidenum">
              <a:rPr lang="en-NZ" altLang="en-US"/>
              <a:pPr/>
              <a:t>‹#›</a:t>
            </a:fld>
            <a:endParaRPr lang="en-NZ" altLang="en-US"/>
          </a:p>
        </p:txBody>
      </p:sp>
    </p:spTree>
    <p:extLst>
      <p:ext uri="{BB962C8B-B14F-4D97-AF65-F5344CB8AC3E}">
        <p14:creationId xmlns:p14="http://schemas.microsoft.com/office/powerpoint/2010/main" val="270605954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ext &amp; Graphic Content with Subtitles">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820CA38B-8B39-7497-CBDB-4F200C5E7D0C}"/>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AF0488BB-C214-0E85-6B87-DA7440C4C92F}"/>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Text Placeholder 2"/>
          <p:cNvSpPr>
            <a:spLocks noGrp="1"/>
          </p:cNvSpPr>
          <p:nvPr>
            <p:ph type="body" idx="1"/>
          </p:nvPr>
        </p:nvSpPr>
        <p:spPr>
          <a:xfrm>
            <a:off x="251520" y="842700"/>
            <a:ext cx="8640960"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1520" y="1166736"/>
            <a:ext cx="8640960"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0" name="Text Placeholder 2"/>
          <p:cNvSpPr>
            <a:spLocks noGrp="1"/>
          </p:cNvSpPr>
          <p:nvPr>
            <p:ph type="body" idx="13"/>
          </p:nvPr>
        </p:nvSpPr>
        <p:spPr>
          <a:xfrm>
            <a:off x="251520" y="2861496"/>
            <a:ext cx="8640960"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1" name="Content Placeholder 3"/>
          <p:cNvSpPr>
            <a:spLocks noGrp="1"/>
          </p:cNvSpPr>
          <p:nvPr>
            <p:ph sz="half" idx="14"/>
          </p:nvPr>
        </p:nvSpPr>
        <p:spPr>
          <a:xfrm>
            <a:off x="251520" y="3185533"/>
            <a:ext cx="8640960"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7">
            <a:extLst>
              <a:ext uri="{FF2B5EF4-FFF2-40B4-BE49-F238E27FC236}">
                <a16:creationId xmlns:a16="http://schemas.microsoft.com/office/drawing/2014/main" id="{468BC124-EF25-6DC8-670D-1BE54CB4E2BB}"/>
              </a:ext>
            </a:extLst>
          </p:cNvPr>
          <p:cNvSpPr>
            <a:spLocks noGrp="1"/>
          </p:cNvSpPr>
          <p:nvPr>
            <p:ph type="ftr" sz="quarter" idx="15"/>
          </p:nvPr>
        </p:nvSpPr>
        <p:spPr/>
        <p:txBody>
          <a:bodyPr/>
          <a:lstStyle>
            <a:lvl1pPr>
              <a:defRPr/>
            </a:lvl1pPr>
          </a:lstStyle>
          <a:p>
            <a:pPr>
              <a:defRPr/>
            </a:pPr>
            <a:r>
              <a:t>Confidential – Internal BNZ Discussion Only</a:t>
            </a:r>
          </a:p>
        </p:txBody>
      </p:sp>
      <p:sp>
        <p:nvSpPr>
          <p:cNvPr id="8" name="Slide Number Placeholder 8">
            <a:extLst>
              <a:ext uri="{FF2B5EF4-FFF2-40B4-BE49-F238E27FC236}">
                <a16:creationId xmlns:a16="http://schemas.microsoft.com/office/drawing/2014/main" id="{D11B11E8-6498-A5FC-4296-749D66149BB0}"/>
              </a:ext>
            </a:extLst>
          </p:cNvPr>
          <p:cNvSpPr>
            <a:spLocks noGrp="1"/>
          </p:cNvSpPr>
          <p:nvPr>
            <p:ph type="sldNum" sz="quarter" idx="16"/>
          </p:nvPr>
        </p:nvSpPr>
        <p:spPr/>
        <p:txBody>
          <a:bodyPr/>
          <a:lstStyle>
            <a:lvl1pPr>
              <a:defRPr/>
            </a:lvl1pPr>
          </a:lstStyle>
          <a:p>
            <a:fld id="{2AEBE7B6-EF1F-46CF-AC72-755353C86320}" type="slidenum">
              <a:rPr lang="en-NZ" altLang="en-US"/>
              <a:pPr/>
              <a:t>‹#›</a:t>
            </a:fld>
            <a:endParaRPr lang="en-NZ" altLang="en-US"/>
          </a:p>
        </p:txBody>
      </p:sp>
    </p:spTree>
    <p:extLst>
      <p:ext uri="{BB962C8B-B14F-4D97-AF65-F5344CB8AC3E}">
        <p14:creationId xmlns:p14="http://schemas.microsoft.com/office/powerpoint/2010/main" val="384686042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 Comparison Below">
    <p:spTree>
      <p:nvGrpSpPr>
        <p:cNvPr id="1" name=""/>
        <p:cNvGrpSpPr/>
        <p:nvPr/>
      </p:nvGrpSpPr>
      <p:grpSpPr>
        <a:xfrm>
          <a:off x="0" y="0"/>
          <a:ext cx="0" cy="0"/>
          <a:chOff x="0" y="0"/>
          <a:chExt cx="0" cy="0"/>
        </a:xfrm>
      </p:grpSpPr>
      <p:sp>
        <p:nvSpPr>
          <p:cNvPr id="4" name="Line 16">
            <a:extLst>
              <a:ext uri="{FF2B5EF4-FFF2-40B4-BE49-F238E27FC236}">
                <a16:creationId xmlns:a16="http://schemas.microsoft.com/office/drawing/2014/main" id="{C486AC2E-8874-5FD5-A1C3-EB65321A05C9}"/>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5" name="Line 16">
            <a:extLst>
              <a:ext uri="{FF2B5EF4-FFF2-40B4-BE49-F238E27FC236}">
                <a16:creationId xmlns:a16="http://schemas.microsoft.com/office/drawing/2014/main" id="{7FAAF71F-E9AD-28F6-8B0D-464A17E9BD08}"/>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dirty="0"/>
              <a:t>Click to edit Master title style</a:t>
            </a:r>
          </a:p>
        </p:txBody>
      </p:sp>
      <p:sp>
        <p:nvSpPr>
          <p:cNvPr id="3" name="Content Placeholder 2"/>
          <p:cNvSpPr>
            <a:spLocks noGrp="1"/>
          </p:cNvSpPr>
          <p:nvPr>
            <p:ph sz="half" idx="1"/>
          </p:nvPr>
        </p:nvSpPr>
        <p:spPr>
          <a:xfrm>
            <a:off x="251520" y="951571"/>
            <a:ext cx="864096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8" name="Content Placeholder 2"/>
          <p:cNvSpPr>
            <a:spLocks noGrp="1"/>
          </p:cNvSpPr>
          <p:nvPr>
            <p:ph sz="half" idx="13"/>
          </p:nvPr>
        </p:nvSpPr>
        <p:spPr>
          <a:xfrm>
            <a:off x="251520" y="2841780"/>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Content Placeholder 3"/>
          <p:cNvSpPr>
            <a:spLocks noGrp="1"/>
          </p:cNvSpPr>
          <p:nvPr>
            <p:ph sz="half" idx="14"/>
          </p:nvPr>
        </p:nvSpPr>
        <p:spPr>
          <a:xfrm>
            <a:off x="4648200" y="2841780"/>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6" name="Footer Placeholder 5">
            <a:extLst>
              <a:ext uri="{FF2B5EF4-FFF2-40B4-BE49-F238E27FC236}">
                <a16:creationId xmlns:a16="http://schemas.microsoft.com/office/drawing/2014/main" id="{BF5DE88D-5AB9-C8F8-0DF4-6AD04105B7F9}"/>
              </a:ext>
            </a:extLst>
          </p:cNvPr>
          <p:cNvSpPr>
            <a:spLocks noGrp="1"/>
          </p:cNvSpPr>
          <p:nvPr>
            <p:ph type="ftr" sz="quarter" idx="15"/>
          </p:nvPr>
        </p:nvSpPr>
        <p:spPr/>
        <p:txBody>
          <a:bodyPr/>
          <a:lstStyle>
            <a:lvl1pPr>
              <a:defRPr/>
            </a:lvl1pPr>
          </a:lstStyle>
          <a:p>
            <a:pPr>
              <a:defRPr/>
            </a:pPr>
            <a:r>
              <a:t>Confidential – Internal BNZ Discussion Only</a:t>
            </a:r>
          </a:p>
        </p:txBody>
      </p:sp>
      <p:sp>
        <p:nvSpPr>
          <p:cNvPr id="7" name="Slide Number Placeholder 6">
            <a:extLst>
              <a:ext uri="{FF2B5EF4-FFF2-40B4-BE49-F238E27FC236}">
                <a16:creationId xmlns:a16="http://schemas.microsoft.com/office/drawing/2014/main" id="{69040C24-CFC6-B5F1-3CFA-5B59B7EC1052}"/>
              </a:ext>
            </a:extLst>
          </p:cNvPr>
          <p:cNvSpPr>
            <a:spLocks noGrp="1"/>
          </p:cNvSpPr>
          <p:nvPr>
            <p:ph type="sldNum" sz="quarter" idx="16"/>
          </p:nvPr>
        </p:nvSpPr>
        <p:spPr/>
        <p:txBody>
          <a:bodyPr/>
          <a:lstStyle>
            <a:lvl1pPr>
              <a:defRPr/>
            </a:lvl1pPr>
          </a:lstStyle>
          <a:p>
            <a:fld id="{0BCD762A-FFBE-4E39-9EF5-B7D046BBD6E9}" type="slidenum">
              <a:rPr lang="en-NZ" altLang="en-US"/>
              <a:pPr/>
              <a:t>‹#›</a:t>
            </a:fld>
            <a:endParaRPr lang="en-NZ" altLang="en-US"/>
          </a:p>
        </p:txBody>
      </p:sp>
    </p:spTree>
    <p:extLst>
      <p:ext uri="{BB962C8B-B14F-4D97-AF65-F5344CB8AC3E}">
        <p14:creationId xmlns:p14="http://schemas.microsoft.com/office/powerpoint/2010/main" val="140561569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ntent + 3 Comparison Below">
    <p:spTree>
      <p:nvGrpSpPr>
        <p:cNvPr id="1" name=""/>
        <p:cNvGrpSpPr/>
        <p:nvPr/>
      </p:nvGrpSpPr>
      <p:grpSpPr>
        <a:xfrm>
          <a:off x="0" y="0"/>
          <a:ext cx="0" cy="0"/>
          <a:chOff x="0" y="0"/>
          <a:chExt cx="0" cy="0"/>
        </a:xfrm>
      </p:grpSpPr>
      <p:sp>
        <p:nvSpPr>
          <p:cNvPr id="4" name="Line 16">
            <a:extLst>
              <a:ext uri="{FF2B5EF4-FFF2-40B4-BE49-F238E27FC236}">
                <a16:creationId xmlns:a16="http://schemas.microsoft.com/office/drawing/2014/main" id="{30B46D7E-B83A-62AC-4BCD-DAA9889A10F3}"/>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5" name="Line 16">
            <a:extLst>
              <a:ext uri="{FF2B5EF4-FFF2-40B4-BE49-F238E27FC236}">
                <a16:creationId xmlns:a16="http://schemas.microsoft.com/office/drawing/2014/main" id="{12B63768-7312-6747-05F3-90992B76D48F}"/>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dirty="0"/>
              <a:t>Click to edit Master title style</a:t>
            </a:r>
          </a:p>
        </p:txBody>
      </p:sp>
      <p:sp>
        <p:nvSpPr>
          <p:cNvPr id="3" name="Content Placeholder 2"/>
          <p:cNvSpPr>
            <a:spLocks noGrp="1"/>
          </p:cNvSpPr>
          <p:nvPr>
            <p:ph sz="half" idx="1"/>
          </p:nvPr>
        </p:nvSpPr>
        <p:spPr>
          <a:xfrm>
            <a:off x="251520" y="951571"/>
            <a:ext cx="864096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8" name="Content Placeholder 2"/>
          <p:cNvSpPr>
            <a:spLocks noGrp="1"/>
          </p:cNvSpPr>
          <p:nvPr>
            <p:ph sz="half" idx="13"/>
          </p:nvPr>
        </p:nvSpPr>
        <p:spPr>
          <a:xfrm>
            <a:off x="251520" y="2841780"/>
            <a:ext cx="2781415"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Content Placeholder 3"/>
          <p:cNvSpPr>
            <a:spLocks noGrp="1"/>
          </p:cNvSpPr>
          <p:nvPr>
            <p:ph sz="half" idx="14"/>
          </p:nvPr>
        </p:nvSpPr>
        <p:spPr>
          <a:xfrm>
            <a:off x="6107816" y="2841780"/>
            <a:ext cx="2781415"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2" name="Content Placeholder 3"/>
          <p:cNvSpPr>
            <a:spLocks noGrp="1"/>
          </p:cNvSpPr>
          <p:nvPr>
            <p:ph sz="half" idx="17"/>
          </p:nvPr>
        </p:nvSpPr>
        <p:spPr>
          <a:xfrm>
            <a:off x="3180185" y="2843100"/>
            <a:ext cx="2781415"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6" name="Footer Placeholder 5">
            <a:extLst>
              <a:ext uri="{FF2B5EF4-FFF2-40B4-BE49-F238E27FC236}">
                <a16:creationId xmlns:a16="http://schemas.microsoft.com/office/drawing/2014/main" id="{34BD02DA-9744-F505-45BC-3028E4340E10}"/>
              </a:ext>
            </a:extLst>
          </p:cNvPr>
          <p:cNvSpPr>
            <a:spLocks noGrp="1"/>
          </p:cNvSpPr>
          <p:nvPr>
            <p:ph type="ftr" sz="quarter" idx="18"/>
          </p:nvPr>
        </p:nvSpPr>
        <p:spPr/>
        <p:txBody>
          <a:bodyPr/>
          <a:lstStyle>
            <a:lvl1pPr>
              <a:defRPr/>
            </a:lvl1pPr>
          </a:lstStyle>
          <a:p>
            <a:pPr>
              <a:defRPr/>
            </a:pPr>
            <a:r>
              <a:t>Confidential – Internal BNZ Discussion Only</a:t>
            </a:r>
          </a:p>
        </p:txBody>
      </p:sp>
      <p:sp>
        <p:nvSpPr>
          <p:cNvPr id="7" name="Slide Number Placeholder 6">
            <a:extLst>
              <a:ext uri="{FF2B5EF4-FFF2-40B4-BE49-F238E27FC236}">
                <a16:creationId xmlns:a16="http://schemas.microsoft.com/office/drawing/2014/main" id="{A70BCA6A-F13E-952F-A711-26438DE5A101}"/>
              </a:ext>
            </a:extLst>
          </p:cNvPr>
          <p:cNvSpPr>
            <a:spLocks noGrp="1"/>
          </p:cNvSpPr>
          <p:nvPr>
            <p:ph type="sldNum" sz="quarter" idx="19"/>
          </p:nvPr>
        </p:nvSpPr>
        <p:spPr/>
        <p:txBody>
          <a:bodyPr/>
          <a:lstStyle>
            <a:lvl1pPr>
              <a:defRPr/>
            </a:lvl1pPr>
          </a:lstStyle>
          <a:p>
            <a:fld id="{DBD72AA7-B5BD-47AC-B3CA-128E9876C5B7}" type="slidenum">
              <a:rPr lang="en-NZ" altLang="en-US"/>
              <a:pPr/>
              <a:t>‹#›</a:t>
            </a:fld>
            <a:endParaRPr lang="en-NZ" altLang="en-US"/>
          </a:p>
        </p:txBody>
      </p:sp>
    </p:spTree>
    <p:extLst>
      <p:ext uri="{BB962C8B-B14F-4D97-AF65-F5344CB8AC3E}">
        <p14:creationId xmlns:p14="http://schemas.microsoft.com/office/powerpoint/2010/main" val="1646791014"/>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 + Comparison Above">
    <p:spTree>
      <p:nvGrpSpPr>
        <p:cNvPr id="1" name=""/>
        <p:cNvGrpSpPr/>
        <p:nvPr/>
      </p:nvGrpSpPr>
      <p:grpSpPr>
        <a:xfrm>
          <a:off x="0" y="0"/>
          <a:ext cx="0" cy="0"/>
          <a:chOff x="0" y="0"/>
          <a:chExt cx="0" cy="0"/>
        </a:xfrm>
      </p:grpSpPr>
      <p:sp>
        <p:nvSpPr>
          <p:cNvPr id="4" name="Line 16">
            <a:extLst>
              <a:ext uri="{FF2B5EF4-FFF2-40B4-BE49-F238E27FC236}">
                <a16:creationId xmlns:a16="http://schemas.microsoft.com/office/drawing/2014/main" id="{EDE9D519-05A1-88AA-EE47-CB1A69E9E39E}"/>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5" name="Line 16">
            <a:extLst>
              <a:ext uri="{FF2B5EF4-FFF2-40B4-BE49-F238E27FC236}">
                <a16:creationId xmlns:a16="http://schemas.microsoft.com/office/drawing/2014/main" id="{376D2E66-2D52-5CCE-BE07-73BA987C6C63}"/>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Content Placeholder 2"/>
          <p:cNvSpPr>
            <a:spLocks noGrp="1"/>
          </p:cNvSpPr>
          <p:nvPr>
            <p:ph sz="half" idx="1"/>
          </p:nvPr>
        </p:nvSpPr>
        <p:spPr>
          <a:xfrm>
            <a:off x="251520" y="951571"/>
            <a:ext cx="4248472"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8" name="Content Placeholder 2"/>
          <p:cNvSpPr>
            <a:spLocks noGrp="1"/>
          </p:cNvSpPr>
          <p:nvPr>
            <p:ph sz="half" idx="13"/>
          </p:nvPr>
        </p:nvSpPr>
        <p:spPr>
          <a:xfrm>
            <a:off x="251520" y="2841780"/>
            <a:ext cx="864096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Content Placeholder 3"/>
          <p:cNvSpPr>
            <a:spLocks noGrp="1"/>
          </p:cNvSpPr>
          <p:nvPr>
            <p:ph sz="half" idx="14"/>
          </p:nvPr>
        </p:nvSpPr>
        <p:spPr>
          <a:xfrm>
            <a:off x="4644008" y="951571"/>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6" name="Footer Placeholder 5">
            <a:extLst>
              <a:ext uri="{FF2B5EF4-FFF2-40B4-BE49-F238E27FC236}">
                <a16:creationId xmlns:a16="http://schemas.microsoft.com/office/drawing/2014/main" id="{5CCA7404-8AAF-463B-E412-6E8CDA0E033C}"/>
              </a:ext>
            </a:extLst>
          </p:cNvPr>
          <p:cNvSpPr>
            <a:spLocks noGrp="1"/>
          </p:cNvSpPr>
          <p:nvPr>
            <p:ph type="ftr" sz="quarter" idx="15"/>
          </p:nvPr>
        </p:nvSpPr>
        <p:spPr/>
        <p:txBody>
          <a:bodyPr/>
          <a:lstStyle>
            <a:lvl1pPr>
              <a:defRPr/>
            </a:lvl1pPr>
          </a:lstStyle>
          <a:p>
            <a:pPr>
              <a:defRPr/>
            </a:pPr>
            <a:r>
              <a:t>Confidential – Internal BNZ Discussion Only</a:t>
            </a:r>
          </a:p>
        </p:txBody>
      </p:sp>
      <p:sp>
        <p:nvSpPr>
          <p:cNvPr id="7" name="Slide Number Placeholder 6">
            <a:extLst>
              <a:ext uri="{FF2B5EF4-FFF2-40B4-BE49-F238E27FC236}">
                <a16:creationId xmlns:a16="http://schemas.microsoft.com/office/drawing/2014/main" id="{9DF198A8-8EB4-77AA-2374-A05E532E4501}"/>
              </a:ext>
            </a:extLst>
          </p:cNvPr>
          <p:cNvSpPr>
            <a:spLocks noGrp="1"/>
          </p:cNvSpPr>
          <p:nvPr>
            <p:ph type="sldNum" sz="quarter" idx="16"/>
          </p:nvPr>
        </p:nvSpPr>
        <p:spPr/>
        <p:txBody>
          <a:bodyPr/>
          <a:lstStyle>
            <a:lvl1pPr>
              <a:defRPr/>
            </a:lvl1pPr>
          </a:lstStyle>
          <a:p>
            <a:fld id="{B106E13F-3837-473C-AB4B-765E987764DE}" type="slidenum">
              <a:rPr lang="en-NZ" altLang="en-US"/>
              <a:pPr/>
              <a:t>‹#›</a:t>
            </a:fld>
            <a:endParaRPr lang="en-NZ" altLang="en-US"/>
          </a:p>
        </p:txBody>
      </p:sp>
    </p:spTree>
    <p:extLst>
      <p:ext uri="{BB962C8B-B14F-4D97-AF65-F5344CB8AC3E}">
        <p14:creationId xmlns:p14="http://schemas.microsoft.com/office/powerpoint/2010/main" val="413016554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Subtitle, Content + Comparison Below">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DCCEE1E5-CCB4-174E-4D88-19E2C5267D79}"/>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9E91A065-218C-97F0-B26B-254A9D36A354}"/>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Text Placeholder 2"/>
          <p:cNvSpPr>
            <a:spLocks noGrp="1"/>
          </p:cNvSpPr>
          <p:nvPr>
            <p:ph type="body" idx="1"/>
          </p:nvPr>
        </p:nvSpPr>
        <p:spPr>
          <a:xfrm>
            <a:off x="251520" y="837558"/>
            <a:ext cx="8640960"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1520" y="1161594"/>
            <a:ext cx="8640960"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0" name="Text Placeholder 2"/>
          <p:cNvSpPr>
            <a:spLocks noGrp="1"/>
          </p:cNvSpPr>
          <p:nvPr>
            <p:ph type="body" idx="13"/>
          </p:nvPr>
        </p:nvSpPr>
        <p:spPr>
          <a:xfrm>
            <a:off x="251521" y="2856354"/>
            <a:ext cx="4245868"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1" name="Content Placeholder 3"/>
          <p:cNvSpPr>
            <a:spLocks noGrp="1"/>
          </p:cNvSpPr>
          <p:nvPr>
            <p:ph sz="half" idx="14"/>
          </p:nvPr>
        </p:nvSpPr>
        <p:spPr>
          <a:xfrm>
            <a:off x="251521" y="3180390"/>
            <a:ext cx="4245868"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2" name="Text Placeholder 4"/>
          <p:cNvSpPr>
            <a:spLocks noGrp="1"/>
          </p:cNvSpPr>
          <p:nvPr>
            <p:ph type="body" sz="quarter" idx="15"/>
          </p:nvPr>
        </p:nvSpPr>
        <p:spPr>
          <a:xfrm>
            <a:off x="4645026" y="2856354"/>
            <a:ext cx="4247456"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3" name="Content Placeholder 5"/>
          <p:cNvSpPr>
            <a:spLocks noGrp="1"/>
          </p:cNvSpPr>
          <p:nvPr>
            <p:ph sz="quarter" idx="16"/>
          </p:nvPr>
        </p:nvSpPr>
        <p:spPr>
          <a:xfrm>
            <a:off x="4645026" y="3180390"/>
            <a:ext cx="4247456"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7">
            <a:extLst>
              <a:ext uri="{FF2B5EF4-FFF2-40B4-BE49-F238E27FC236}">
                <a16:creationId xmlns:a16="http://schemas.microsoft.com/office/drawing/2014/main" id="{1B870233-8009-CC93-7B13-B3857525D9E1}"/>
              </a:ext>
            </a:extLst>
          </p:cNvPr>
          <p:cNvSpPr>
            <a:spLocks noGrp="1"/>
          </p:cNvSpPr>
          <p:nvPr>
            <p:ph type="ftr" sz="quarter" idx="17"/>
          </p:nvPr>
        </p:nvSpPr>
        <p:spPr/>
        <p:txBody>
          <a:bodyPr/>
          <a:lstStyle>
            <a:lvl1pPr>
              <a:defRPr/>
            </a:lvl1pPr>
          </a:lstStyle>
          <a:p>
            <a:pPr>
              <a:defRPr/>
            </a:pPr>
            <a:r>
              <a:t>Confidential – Internal BNZ Discussion Only</a:t>
            </a:r>
          </a:p>
        </p:txBody>
      </p:sp>
      <p:sp>
        <p:nvSpPr>
          <p:cNvPr id="8" name="Slide Number Placeholder 8">
            <a:extLst>
              <a:ext uri="{FF2B5EF4-FFF2-40B4-BE49-F238E27FC236}">
                <a16:creationId xmlns:a16="http://schemas.microsoft.com/office/drawing/2014/main" id="{0B53D9C0-8A2F-8B16-4C30-43A35F1FD747}"/>
              </a:ext>
            </a:extLst>
          </p:cNvPr>
          <p:cNvSpPr>
            <a:spLocks noGrp="1"/>
          </p:cNvSpPr>
          <p:nvPr>
            <p:ph type="sldNum" sz="quarter" idx="18"/>
          </p:nvPr>
        </p:nvSpPr>
        <p:spPr/>
        <p:txBody>
          <a:bodyPr/>
          <a:lstStyle>
            <a:lvl1pPr>
              <a:defRPr/>
            </a:lvl1pPr>
          </a:lstStyle>
          <a:p>
            <a:fld id="{F9A8586E-2AC6-41C0-977E-75079148F404}" type="slidenum">
              <a:rPr lang="en-NZ" altLang="en-US"/>
              <a:pPr/>
              <a:t>‹#›</a:t>
            </a:fld>
            <a:endParaRPr lang="en-NZ" altLang="en-US"/>
          </a:p>
        </p:txBody>
      </p:sp>
    </p:spTree>
    <p:extLst>
      <p:ext uri="{BB962C8B-B14F-4D97-AF65-F5344CB8AC3E}">
        <p14:creationId xmlns:p14="http://schemas.microsoft.com/office/powerpoint/2010/main" val="372799799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ubtitle, Content + Comparison Above">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AB3DD554-5063-60F3-DD9A-06A56C2A3F4E}"/>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DE0053E5-5465-2F0F-73E5-05C82A601EF6}"/>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Text Placeholder 2"/>
          <p:cNvSpPr>
            <a:spLocks noGrp="1"/>
          </p:cNvSpPr>
          <p:nvPr>
            <p:ph type="body" idx="1"/>
          </p:nvPr>
        </p:nvSpPr>
        <p:spPr>
          <a:xfrm>
            <a:off x="251520" y="837558"/>
            <a:ext cx="4248472"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1520" y="1161594"/>
            <a:ext cx="4248472"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0" name="Text Placeholder 2"/>
          <p:cNvSpPr>
            <a:spLocks noGrp="1"/>
          </p:cNvSpPr>
          <p:nvPr>
            <p:ph type="body" idx="13"/>
          </p:nvPr>
        </p:nvSpPr>
        <p:spPr>
          <a:xfrm>
            <a:off x="251520" y="2856354"/>
            <a:ext cx="8640960"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1" name="Content Placeholder 3"/>
          <p:cNvSpPr>
            <a:spLocks noGrp="1"/>
          </p:cNvSpPr>
          <p:nvPr>
            <p:ph sz="half" idx="14"/>
          </p:nvPr>
        </p:nvSpPr>
        <p:spPr>
          <a:xfrm>
            <a:off x="251520" y="3180390"/>
            <a:ext cx="8640960"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2" name="Text Placeholder 4"/>
          <p:cNvSpPr>
            <a:spLocks noGrp="1"/>
          </p:cNvSpPr>
          <p:nvPr>
            <p:ph type="body" sz="quarter" idx="15"/>
          </p:nvPr>
        </p:nvSpPr>
        <p:spPr>
          <a:xfrm>
            <a:off x="4645026" y="843558"/>
            <a:ext cx="4247456"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3" name="Content Placeholder 5"/>
          <p:cNvSpPr>
            <a:spLocks noGrp="1"/>
          </p:cNvSpPr>
          <p:nvPr>
            <p:ph sz="quarter" idx="16"/>
          </p:nvPr>
        </p:nvSpPr>
        <p:spPr>
          <a:xfrm>
            <a:off x="4645026" y="1167594"/>
            <a:ext cx="4247456"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7">
            <a:extLst>
              <a:ext uri="{FF2B5EF4-FFF2-40B4-BE49-F238E27FC236}">
                <a16:creationId xmlns:a16="http://schemas.microsoft.com/office/drawing/2014/main" id="{D013287D-6117-CBC4-FCF5-1CE1537CB53D}"/>
              </a:ext>
            </a:extLst>
          </p:cNvPr>
          <p:cNvSpPr>
            <a:spLocks noGrp="1"/>
          </p:cNvSpPr>
          <p:nvPr>
            <p:ph type="ftr" sz="quarter" idx="17"/>
          </p:nvPr>
        </p:nvSpPr>
        <p:spPr/>
        <p:txBody>
          <a:bodyPr/>
          <a:lstStyle>
            <a:lvl1pPr>
              <a:defRPr/>
            </a:lvl1pPr>
          </a:lstStyle>
          <a:p>
            <a:pPr>
              <a:defRPr/>
            </a:pPr>
            <a:r>
              <a:t>Confidential – Internal BNZ Discussion Only</a:t>
            </a:r>
          </a:p>
        </p:txBody>
      </p:sp>
      <p:sp>
        <p:nvSpPr>
          <p:cNvPr id="8" name="Slide Number Placeholder 8">
            <a:extLst>
              <a:ext uri="{FF2B5EF4-FFF2-40B4-BE49-F238E27FC236}">
                <a16:creationId xmlns:a16="http://schemas.microsoft.com/office/drawing/2014/main" id="{2EE7376D-5248-C7A5-094B-FCE0A371FADB}"/>
              </a:ext>
            </a:extLst>
          </p:cNvPr>
          <p:cNvSpPr>
            <a:spLocks noGrp="1"/>
          </p:cNvSpPr>
          <p:nvPr>
            <p:ph type="sldNum" sz="quarter" idx="18"/>
          </p:nvPr>
        </p:nvSpPr>
        <p:spPr/>
        <p:txBody>
          <a:bodyPr/>
          <a:lstStyle>
            <a:lvl1pPr>
              <a:defRPr/>
            </a:lvl1pPr>
          </a:lstStyle>
          <a:p>
            <a:fld id="{E9DF9BE2-EC13-4C46-A870-71783DEE2843}" type="slidenum">
              <a:rPr lang="en-NZ" altLang="en-US"/>
              <a:pPr/>
              <a:t>‹#›</a:t>
            </a:fld>
            <a:endParaRPr lang="en-NZ" altLang="en-US"/>
          </a:p>
        </p:txBody>
      </p:sp>
    </p:spTree>
    <p:extLst>
      <p:ext uri="{BB962C8B-B14F-4D97-AF65-F5344CB8AC3E}">
        <p14:creationId xmlns:p14="http://schemas.microsoft.com/office/powerpoint/2010/main" val="2764414677"/>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tle &amp; 3 Contents">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E33600F9-86B0-05CA-D689-700B057009E0}"/>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67A48264-E37D-92E7-9D39-2F3928DEF652}"/>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Content Placeholder 2"/>
          <p:cNvSpPr>
            <a:spLocks noGrp="1"/>
          </p:cNvSpPr>
          <p:nvPr>
            <p:ph sz="half" idx="1"/>
          </p:nvPr>
        </p:nvSpPr>
        <p:spPr>
          <a:xfrm>
            <a:off x="251520" y="951570"/>
            <a:ext cx="4244280" cy="367240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4" name="Content Placeholder 3"/>
          <p:cNvSpPr>
            <a:spLocks noGrp="1"/>
          </p:cNvSpPr>
          <p:nvPr>
            <p:ph sz="half" idx="2"/>
          </p:nvPr>
        </p:nvSpPr>
        <p:spPr>
          <a:xfrm>
            <a:off x="4648200" y="951571"/>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Content Placeholder 3"/>
          <p:cNvSpPr>
            <a:spLocks noGrp="1"/>
          </p:cNvSpPr>
          <p:nvPr>
            <p:ph sz="half" idx="14"/>
          </p:nvPr>
        </p:nvSpPr>
        <p:spPr>
          <a:xfrm>
            <a:off x="4648200" y="2841780"/>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5">
            <a:extLst>
              <a:ext uri="{FF2B5EF4-FFF2-40B4-BE49-F238E27FC236}">
                <a16:creationId xmlns:a16="http://schemas.microsoft.com/office/drawing/2014/main" id="{FFCDF58C-C715-7E0F-5A29-761FDB6EBEE1}"/>
              </a:ext>
            </a:extLst>
          </p:cNvPr>
          <p:cNvSpPr>
            <a:spLocks noGrp="1"/>
          </p:cNvSpPr>
          <p:nvPr>
            <p:ph type="ftr" sz="quarter" idx="15"/>
          </p:nvPr>
        </p:nvSpPr>
        <p:spPr/>
        <p:txBody>
          <a:bodyPr/>
          <a:lstStyle>
            <a:lvl1pPr>
              <a:defRPr/>
            </a:lvl1pPr>
          </a:lstStyle>
          <a:p>
            <a:pPr>
              <a:defRPr/>
            </a:pPr>
            <a:r>
              <a:t>Confidential – Internal BNZ Discussion Only</a:t>
            </a:r>
          </a:p>
        </p:txBody>
      </p:sp>
      <p:sp>
        <p:nvSpPr>
          <p:cNvPr id="8" name="Slide Number Placeholder 6">
            <a:extLst>
              <a:ext uri="{FF2B5EF4-FFF2-40B4-BE49-F238E27FC236}">
                <a16:creationId xmlns:a16="http://schemas.microsoft.com/office/drawing/2014/main" id="{69ABD3E9-1902-678B-18AD-3B85B1343312}"/>
              </a:ext>
            </a:extLst>
          </p:cNvPr>
          <p:cNvSpPr>
            <a:spLocks noGrp="1"/>
          </p:cNvSpPr>
          <p:nvPr>
            <p:ph type="sldNum" sz="quarter" idx="16"/>
          </p:nvPr>
        </p:nvSpPr>
        <p:spPr/>
        <p:txBody>
          <a:bodyPr/>
          <a:lstStyle>
            <a:lvl1pPr>
              <a:defRPr/>
            </a:lvl1pPr>
          </a:lstStyle>
          <a:p>
            <a:fld id="{5B0CE4D1-8142-4578-A857-025CAF50E287}" type="slidenum">
              <a:rPr lang="en-NZ" altLang="en-US"/>
              <a:pPr/>
              <a:t>‹#›</a:t>
            </a:fld>
            <a:endParaRPr lang="en-NZ" altLang="en-US"/>
          </a:p>
        </p:txBody>
      </p:sp>
    </p:spTree>
    <p:extLst>
      <p:ext uri="{BB962C8B-B14F-4D97-AF65-F5344CB8AC3E}">
        <p14:creationId xmlns:p14="http://schemas.microsoft.com/office/powerpoint/2010/main" val="1234902859"/>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Subtitle &amp; 3 Contents ">
    <p:spTree>
      <p:nvGrpSpPr>
        <p:cNvPr id="1" name=""/>
        <p:cNvGrpSpPr/>
        <p:nvPr/>
      </p:nvGrpSpPr>
      <p:grpSpPr>
        <a:xfrm>
          <a:off x="0" y="0"/>
          <a:ext cx="0" cy="0"/>
          <a:chOff x="0" y="0"/>
          <a:chExt cx="0" cy="0"/>
        </a:xfrm>
      </p:grpSpPr>
      <p:sp>
        <p:nvSpPr>
          <p:cNvPr id="7" name="Line 16">
            <a:extLst>
              <a:ext uri="{FF2B5EF4-FFF2-40B4-BE49-F238E27FC236}">
                <a16:creationId xmlns:a16="http://schemas.microsoft.com/office/drawing/2014/main" id="{3CC4ECE6-1E7C-885E-6B49-4CC8E27CB65E}"/>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8" name="Line 16">
            <a:extLst>
              <a:ext uri="{FF2B5EF4-FFF2-40B4-BE49-F238E27FC236}">
                <a16:creationId xmlns:a16="http://schemas.microsoft.com/office/drawing/2014/main" id="{EE1B3873-8D00-6414-C9ED-94B144DFACA4}"/>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Text Placeholder 2"/>
          <p:cNvSpPr>
            <a:spLocks noGrp="1"/>
          </p:cNvSpPr>
          <p:nvPr>
            <p:ph type="body" idx="1"/>
          </p:nvPr>
        </p:nvSpPr>
        <p:spPr>
          <a:xfrm>
            <a:off x="251521" y="849558"/>
            <a:ext cx="4245868"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1521" y="1173594"/>
            <a:ext cx="4245868" cy="367240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5" name="Text Placeholder 4"/>
          <p:cNvSpPr>
            <a:spLocks noGrp="1"/>
          </p:cNvSpPr>
          <p:nvPr>
            <p:ph type="body" sz="quarter" idx="3"/>
          </p:nvPr>
        </p:nvSpPr>
        <p:spPr>
          <a:xfrm>
            <a:off x="4645026" y="849558"/>
            <a:ext cx="4247456"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6" name="Content Placeholder 5"/>
          <p:cNvSpPr>
            <a:spLocks noGrp="1"/>
          </p:cNvSpPr>
          <p:nvPr>
            <p:ph sz="quarter" idx="4"/>
          </p:nvPr>
        </p:nvSpPr>
        <p:spPr>
          <a:xfrm>
            <a:off x="4645026" y="1173594"/>
            <a:ext cx="4247456"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2" name="Text Placeholder 4"/>
          <p:cNvSpPr>
            <a:spLocks noGrp="1"/>
          </p:cNvSpPr>
          <p:nvPr>
            <p:ph type="body" sz="quarter" idx="15"/>
          </p:nvPr>
        </p:nvSpPr>
        <p:spPr>
          <a:xfrm>
            <a:off x="4645026" y="2868354"/>
            <a:ext cx="4247456"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3" name="Content Placeholder 5"/>
          <p:cNvSpPr>
            <a:spLocks noGrp="1"/>
          </p:cNvSpPr>
          <p:nvPr>
            <p:ph sz="quarter" idx="16"/>
          </p:nvPr>
        </p:nvSpPr>
        <p:spPr>
          <a:xfrm>
            <a:off x="4645026" y="3192390"/>
            <a:ext cx="4247456" cy="1644362"/>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Footer Placeholder 7">
            <a:extLst>
              <a:ext uri="{FF2B5EF4-FFF2-40B4-BE49-F238E27FC236}">
                <a16:creationId xmlns:a16="http://schemas.microsoft.com/office/drawing/2014/main" id="{F4D26E5D-02D3-57A0-95A1-B0A4A303F26A}"/>
              </a:ext>
            </a:extLst>
          </p:cNvPr>
          <p:cNvSpPr>
            <a:spLocks noGrp="1"/>
          </p:cNvSpPr>
          <p:nvPr>
            <p:ph type="ftr" sz="quarter" idx="17"/>
          </p:nvPr>
        </p:nvSpPr>
        <p:spPr/>
        <p:txBody>
          <a:bodyPr/>
          <a:lstStyle>
            <a:lvl1pPr>
              <a:defRPr/>
            </a:lvl1pPr>
          </a:lstStyle>
          <a:p>
            <a:pPr>
              <a:defRPr/>
            </a:pPr>
            <a:r>
              <a:t>Confidential – Internal BNZ Discussion Only</a:t>
            </a:r>
          </a:p>
        </p:txBody>
      </p:sp>
      <p:sp>
        <p:nvSpPr>
          <p:cNvPr id="10" name="Slide Number Placeholder 8">
            <a:extLst>
              <a:ext uri="{FF2B5EF4-FFF2-40B4-BE49-F238E27FC236}">
                <a16:creationId xmlns:a16="http://schemas.microsoft.com/office/drawing/2014/main" id="{A4C0C15E-B732-8321-60D0-74D674CAAB45}"/>
              </a:ext>
            </a:extLst>
          </p:cNvPr>
          <p:cNvSpPr>
            <a:spLocks noGrp="1"/>
          </p:cNvSpPr>
          <p:nvPr>
            <p:ph type="sldNum" sz="quarter" idx="18"/>
          </p:nvPr>
        </p:nvSpPr>
        <p:spPr/>
        <p:txBody>
          <a:bodyPr/>
          <a:lstStyle>
            <a:lvl1pPr>
              <a:defRPr/>
            </a:lvl1pPr>
          </a:lstStyle>
          <a:p>
            <a:fld id="{6E010553-AC74-4F32-AD6D-8DDB0F5DD387}" type="slidenum">
              <a:rPr lang="en-NZ" altLang="en-US"/>
              <a:pPr/>
              <a:t>‹#›</a:t>
            </a:fld>
            <a:endParaRPr lang="en-NZ" altLang="en-US"/>
          </a:p>
        </p:txBody>
      </p:sp>
    </p:spTree>
    <p:extLst>
      <p:ext uri="{BB962C8B-B14F-4D97-AF65-F5344CB8AC3E}">
        <p14:creationId xmlns:p14="http://schemas.microsoft.com/office/powerpoint/2010/main" val="2190064276"/>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Obj" preserve="1">
  <p:cSld name="4 Point Comparison">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8578349C-456F-66A7-6A4C-22998C395CE6}"/>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FF03E915-D1DA-6E6E-B266-2842AF6B224B}"/>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Content Placeholder 2"/>
          <p:cNvSpPr>
            <a:spLocks noGrp="1"/>
          </p:cNvSpPr>
          <p:nvPr>
            <p:ph sz="half" idx="1"/>
          </p:nvPr>
        </p:nvSpPr>
        <p:spPr>
          <a:xfrm>
            <a:off x="251520" y="951571"/>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4" name="Content Placeholder 3"/>
          <p:cNvSpPr>
            <a:spLocks noGrp="1"/>
          </p:cNvSpPr>
          <p:nvPr>
            <p:ph sz="half" idx="2"/>
          </p:nvPr>
        </p:nvSpPr>
        <p:spPr>
          <a:xfrm>
            <a:off x="4648200" y="951571"/>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8" name="Content Placeholder 2"/>
          <p:cNvSpPr>
            <a:spLocks noGrp="1"/>
          </p:cNvSpPr>
          <p:nvPr>
            <p:ph sz="half" idx="13"/>
          </p:nvPr>
        </p:nvSpPr>
        <p:spPr>
          <a:xfrm>
            <a:off x="251520" y="2841780"/>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Content Placeholder 3"/>
          <p:cNvSpPr>
            <a:spLocks noGrp="1"/>
          </p:cNvSpPr>
          <p:nvPr>
            <p:ph sz="half" idx="14"/>
          </p:nvPr>
        </p:nvSpPr>
        <p:spPr>
          <a:xfrm>
            <a:off x="4648200" y="2841780"/>
            <a:ext cx="4244280"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5">
            <a:extLst>
              <a:ext uri="{FF2B5EF4-FFF2-40B4-BE49-F238E27FC236}">
                <a16:creationId xmlns:a16="http://schemas.microsoft.com/office/drawing/2014/main" id="{A35A82EA-7C2C-0617-5594-A76DB6E06450}"/>
              </a:ext>
            </a:extLst>
          </p:cNvPr>
          <p:cNvSpPr>
            <a:spLocks noGrp="1"/>
          </p:cNvSpPr>
          <p:nvPr>
            <p:ph type="ftr" sz="quarter" idx="15"/>
          </p:nvPr>
        </p:nvSpPr>
        <p:spPr/>
        <p:txBody>
          <a:bodyPr/>
          <a:lstStyle>
            <a:lvl1pPr>
              <a:defRPr/>
            </a:lvl1pPr>
          </a:lstStyle>
          <a:p>
            <a:pPr>
              <a:defRPr/>
            </a:pPr>
            <a:r>
              <a:t>Confidential – Internal BNZ Discussion Only</a:t>
            </a:r>
          </a:p>
        </p:txBody>
      </p:sp>
      <p:sp>
        <p:nvSpPr>
          <p:cNvPr id="10" name="Slide Number Placeholder 6">
            <a:extLst>
              <a:ext uri="{FF2B5EF4-FFF2-40B4-BE49-F238E27FC236}">
                <a16:creationId xmlns:a16="http://schemas.microsoft.com/office/drawing/2014/main" id="{D03A5BF1-0A54-1053-C99D-EFE8ACFAEA6C}"/>
              </a:ext>
            </a:extLst>
          </p:cNvPr>
          <p:cNvSpPr>
            <a:spLocks noGrp="1"/>
          </p:cNvSpPr>
          <p:nvPr>
            <p:ph type="sldNum" sz="quarter" idx="16"/>
          </p:nvPr>
        </p:nvSpPr>
        <p:spPr/>
        <p:txBody>
          <a:bodyPr/>
          <a:lstStyle>
            <a:lvl1pPr>
              <a:defRPr/>
            </a:lvl1pPr>
          </a:lstStyle>
          <a:p>
            <a:fld id="{EE555110-3BF2-4FB3-A69C-198D22F213C8}" type="slidenum">
              <a:rPr lang="en-NZ" altLang="en-US"/>
              <a:pPr/>
              <a:t>‹#›</a:t>
            </a:fld>
            <a:endParaRPr lang="en-NZ" altLang="en-US"/>
          </a:p>
        </p:txBody>
      </p:sp>
    </p:spTree>
    <p:extLst>
      <p:ext uri="{BB962C8B-B14F-4D97-AF65-F5344CB8AC3E}">
        <p14:creationId xmlns:p14="http://schemas.microsoft.com/office/powerpoint/2010/main" val="1873034839"/>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woTxTwoObj" preserve="1">
  <p:cSld name="4 Point Comparison with Subtitles">
    <p:spTree>
      <p:nvGrpSpPr>
        <p:cNvPr id="1" name=""/>
        <p:cNvGrpSpPr/>
        <p:nvPr/>
      </p:nvGrpSpPr>
      <p:grpSpPr>
        <a:xfrm>
          <a:off x="0" y="0"/>
          <a:ext cx="0" cy="0"/>
          <a:chOff x="0" y="0"/>
          <a:chExt cx="0" cy="0"/>
        </a:xfrm>
      </p:grpSpPr>
      <p:sp>
        <p:nvSpPr>
          <p:cNvPr id="7" name="Line 16">
            <a:extLst>
              <a:ext uri="{FF2B5EF4-FFF2-40B4-BE49-F238E27FC236}">
                <a16:creationId xmlns:a16="http://schemas.microsoft.com/office/drawing/2014/main" id="{D219C71E-C237-6ECD-EBBB-105581CEF292}"/>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8" name="Line 16">
            <a:extLst>
              <a:ext uri="{FF2B5EF4-FFF2-40B4-BE49-F238E27FC236}">
                <a16:creationId xmlns:a16="http://schemas.microsoft.com/office/drawing/2014/main" id="{B021A8DC-8C22-4FCB-05CD-C01C21BE0C3E}"/>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Text Placeholder 2"/>
          <p:cNvSpPr>
            <a:spLocks noGrp="1"/>
          </p:cNvSpPr>
          <p:nvPr>
            <p:ph type="body" idx="1"/>
          </p:nvPr>
        </p:nvSpPr>
        <p:spPr>
          <a:xfrm>
            <a:off x="251521" y="842700"/>
            <a:ext cx="4245868"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1521" y="1166736"/>
            <a:ext cx="4245868"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5" name="Text Placeholder 4"/>
          <p:cNvSpPr>
            <a:spLocks noGrp="1"/>
          </p:cNvSpPr>
          <p:nvPr>
            <p:ph type="body" sz="quarter" idx="3"/>
          </p:nvPr>
        </p:nvSpPr>
        <p:spPr>
          <a:xfrm>
            <a:off x="4645026" y="842700"/>
            <a:ext cx="4247456"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6" name="Content Placeholder 5"/>
          <p:cNvSpPr>
            <a:spLocks noGrp="1"/>
          </p:cNvSpPr>
          <p:nvPr>
            <p:ph sz="quarter" idx="4"/>
          </p:nvPr>
        </p:nvSpPr>
        <p:spPr>
          <a:xfrm>
            <a:off x="4645026" y="1166736"/>
            <a:ext cx="4247456"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0" name="Text Placeholder 2"/>
          <p:cNvSpPr>
            <a:spLocks noGrp="1"/>
          </p:cNvSpPr>
          <p:nvPr>
            <p:ph type="body" idx="13"/>
          </p:nvPr>
        </p:nvSpPr>
        <p:spPr>
          <a:xfrm>
            <a:off x="251521" y="2861496"/>
            <a:ext cx="4245868" cy="270030"/>
          </a:xfrm>
          <a:noFill/>
          <a:ln>
            <a:noFill/>
          </a:ln>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1" name="Content Placeholder 3"/>
          <p:cNvSpPr>
            <a:spLocks noGrp="1"/>
          </p:cNvSpPr>
          <p:nvPr>
            <p:ph sz="half" idx="14"/>
          </p:nvPr>
        </p:nvSpPr>
        <p:spPr>
          <a:xfrm>
            <a:off x="251521" y="3185533"/>
            <a:ext cx="4245868"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2" name="Text Placeholder 4"/>
          <p:cNvSpPr>
            <a:spLocks noGrp="1"/>
          </p:cNvSpPr>
          <p:nvPr>
            <p:ph type="body" sz="quarter" idx="15"/>
          </p:nvPr>
        </p:nvSpPr>
        <p:spPr>
          <a:xfrm>
            <a:off x="4645026" y="2861496"/>
            <a:ext cx="4247456"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3" name="Content Placeholder 5"/>
          <p:cNvSpPr>
            <a:spLocks noGrp="1"/>
          </p:cNvSpPr>
          <p:nvPr>
            <p:ph sz="quarter" idx="16"/>
          </p:nvPr>
        </p:nvSpPr>
        <p:spPr>
          <a:xfrm>
            <a:off x="4645026" y="3185533"/>
            <a:ext cx="4247456"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Footer Placeholder 7">
            <a:extLst>
              <a:ext uri="{FF2B5EF4-FFF2-40B4-BE49-F238E27FC236}">
                <a16:creationId xmlns:a16="http://schemas.microsoft.com/office/drawing/2014/main" id="{B71C8B88-9DE7-D703-5899-383BCCD35A94}"/>
              </a:ext>
            </a:extLst>
          </p:cNvPr>
          <p:cNvSpPr>
            <a:spLocks noGrp="1"/>
          </p:cNvSpPr>
          <p:nvPr>
            <p:ph type="ftr" sz="quarter" idx="17"/>
          </p:nvPr>
        </p:nvSpPr>
        <p:spPr/>
        <p:txBody>
          <a:bodyPr/>
          <a:lstStyle>
            <a:lvl1pPr>
              <a:defRPr/>
            </a:lvl1pPr>
          </a:lstStyle>
          <a:p>
            <a:pPr>
              <a:defRPr/>
            </a:pPr>
            <a:r>
              <a:t>Confidential – Internal BNZ Discussion Only</a:t>
            </a:r>
          </a:p>
        </p:txBody>
      </p:sp>
      <p:sp>
        <p:nvSpPr>
          <p:cNvPr id="14" name="Slide Number Placeholder 8">
            <a:extLst>
              <a:ext uri="{FF2B5EF4-FFF2-40B4-BE49-F238E27FC236}">
                <a16:creationId xmlns:a16="http://schemas.microsoft.com/office/drawing/2014/main" id="{4CD00994-1295-02D9-0059-D79621903ED0}"/>
              </a:ext>
            </a:extLst>
          </p:cNvPr>
          <p:cNvSpPr>
            <a:spLocks noGrp="1"/>
          </p:cNvSpPr>
          <p:nvPr>
            <p:ph type="sldNum" sz="quarter" idx="18"/>
          </p:nvPr>
        </p:nvSpPr>
        <p:spPr/>
        <p:txBody>
          <a:bodyPr/>
          <a:lstStyle>
            <a:lvl1pPr>
              <a:defRPr/>
            </a:lvl1pPr>
          </a:lstStyle>
          <a:p>
            <a:fld id="{902CC9F1-9890-4A95-A6AF-19D0B2DFF99B}" type="slidenum">
              <a:rPr lang="en-NZ" altLang="en-US"/>
              <a:pPr/>
              <a:t>‹#›</a:t>
            </a:fld>
            <a:endParaRPr lang="en-NZ" altLang="en-US"/>
          </a:p>
        </p:txBody>
      </p:sp>
    </p:spTree>
    <p:extLst>
      <p:ext uri="{BB962C8B-B14F-4D97-AF65-F5344CB8AC3E}">
        <p14:creationId xmlns:p14="http://schemas.microsoft.com/office/powerpoint/2010/main" val="4277498615"/>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 Point Comparison with Subtitles">
    <p:spTree>
      <p:nvGrpSpPr>
        <p:cNvPr id="1" name=""/>
        <p:cNvGrpSpPr/>
        <p:nvPr/>
      </p:nvGrpSpPr>
      <p:grpSpPr>
        <a:xfrm>
          <a:off x="0" y="0"/>
          <a:ext cx="0" cy="0"/>
          <a:chOff x="0" y="0"/>
          <a:chExt cx="0" cy="0"/>
        </a:xfrm>
      </p:grpSpPr>
      <p:sp>
        <p:nvSpPr>
          <p:cNvPr id="7" name="Line 16">
            <a:extLst>
              <a:ext uri="{FF2B5EF4-FFF2-40B4-BE49-F238E27FC236}">
                <a16:creationId xmlns:a16="http://schemas.microsoft.com/office/drawing/2014/main" id="{CB43B303-DCF3-57F8-3523-0431A810069E}"/>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8" name="Line 16">
            <a:extLst>
              <a:ext uri="{FF2B5EF4-FFF2-40B4-BE49-F238E27FC236}">
                <a16:creationId xmlns:a16="http://schemas.microsoft.com/office/drawing/2014/main" id="{E0DEE9FB-AF52-41E1-6B63-DA2A55B98382}"/>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Text Placeholder 2"/>
          <p:cNvSpPr>
            <a:spLocks noGrp="1"/>
          </p:cNvSpPr>
          <p:nvPr>
            <p:ph type="body" idx="1"/>
          </p:nvPr>
        </p:nvSpPr>
        <p:spPr>
          <a:xfrm>
            <a:off x="251521" y="842700"/>
            <a:ext cx="2781415"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4" name="Content Placeholder 3"/>
          <p:cNvSpPr>
            <a:spLocks noGrp="1"/>
          </p:cNvSpPr>
          <p:nvPr>
            <p:ph sz="half" idx="2"/>
          </p:nvPr>
        </p:nvSpPr>
        <p:spPr>
          <a:xfrm>
            <a:off x="251521" y="1166736"/>
            <a:ext cx="2781415"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5" name="Text Placeholder 4"/>
          <p:cNvSpPr>
            <a:spLocks noGrp="1"/>
          </p:cNvSpPr>
          <p:nvPr>
            <p:ph type="body" sz="quarter" idx="3"/>
          </p:nvPr>
        </p:nvSpPr>
        <p:spPr>
          <a:xfrm>
            <a:off x="3180185" y="842700"/>
            <a:ext cx="2781415"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6" name="Content Placeholder 5"/>
          <p:cNvSpPr>
            <a:spLocks noGrp="1"/>
          </p:cNvSpPr>
          <p:nvPr>
            <p:ph sz="quarter" idx="4"/>
          </p:nvPr>
        </p:nvSpPr>
        <p:spPr>
          <a:xfrm>
            <a:off x="3180185" y="1166736"/>
            <a:ext cx="2781415"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0" name="Text Placeholder 2"/>
          <p:cNvSpPr>
            <a:spLocks noGrp="1"/>
          </p:cNvSpPr>
          <p:nvPr>
            <p:ph type="body" idx="13"/>
          </p:nvPr>
        </p:nvSpPr>
        <p:spPr>
          <a:xfrm>
            <a:off x="251521" y="2861496"/>
            <a:ext cx="2781415" cy="270030"/>
          </a:xfrm>
          <a:noFill/>
          <a:ln>
            <a:noFill/>
          </a:ln>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1" name="Content Placeholder 3"/>
          <p:cNvSpPr>
            <a:spLocks noGrp="1"/>
          </p:cNvSpPr>
          <p:nvPr>
            <p:ph sz="half" idx="14"/>
          </p:nvPr>
        </p:nvSpPr>
        <p:spPr>
          <a:xfrm>
            <a:off x="251521" y="3185533"/>
            <a:ext cx="2781415"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2" name="Text Placeholder 4"/>
          <p:cNvSpPr>
            <a:spLocks noGrp="1"/>
          </p:cNvSpPr>
          <p:nvPr>
            <p:ph type="body" sz="quarter" idx="15"/>
          </p:nvPr>
        </p:nvSpPr>
        <p:spPr>
          <a:xfrm>
            <a:off x="3180185" y="2861496"/>
            <a:ext cx="2781415"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3" name="Content Placeholder 5"/>
          <p:cNvSpPr>
            <a:spLocks noGrp="1"/>
          </p:cNvSpPr>
          <p:nvPr>
            <p:ph sz="quarter" idx="16"/>
          </p:nvPr>
        </p:nvSpPr>
        <p:spPr>
          <a:xfrm>
            <a:off x="3180185" y="3185533"/>
            <a:ext cx="2781415"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18" name="Text Placeholder 4"/>
          <p:cNvSpPr>
            <a:spLocks noGrp="1"/>
          </p:cNvSpPr>
          <p:nvPr>
            <p:ph type="body" sz="quarter" idx="19"/>
          </p:nvPr>
        </p:nvSpPr>
        <p:spPr>
          <a:xfrm>
            <a:off x="6107816" y="843558"/>
            <a:ext cx="2781415"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19" name="Content Placeholder 5"/>
          <p:cNvSpPr>
            <a:spLocks noGrp="1"/>
          </p:cNvSpPr>
          <p:nvPr>
            <p:ph sz="quarter" idx="20"/>
          </p:nvPr>
        </p:nvSpPr>
        <p:spPr>
          <a:xfrm>
            <a:off x="6107816" y="1167594"/>
            <a:ext cx="2781415"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20" name="Text Placeholder 4"/>
          <p:cNvSpPr>
            <a:spLocks noGrp="1"/>
          </p:cNvSpPr>
          <p:nvPr>
            <p:ph type="body" sz="quarter" idx="21"/>
          </p:nvPr>
        </p:nvSpPr>
        <p:spPr>
          <a:xfrm>
            <a:off x="6107816" y="2862354"/>
            <a:ext cx="2781415" cy="270030"/>
          </a:xfrm>
          <a:noFill/>
        </p:spPr>
        <p:txBody>
          <a:bodyPr anchor="b">
            <a:noAutofit/>
          </a:bodyPr>
          <a:lstStyle>
            <a:lvl1pPr marL="0" indent="0">
              <a:buNone/>
              <a:defRPr sz="1350" b="1">
                <a:solidFill>
                  <a:srgbClr val="669AD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NZ" noProof="0" dirty="0"/>
              <a:t>Click to edit Master text styles</a:t>
            </a:r>
          </a:p>
        </p:txBody>
      </p:sp>
      <p:sp>
        <p:nvSpPr>
          <p:cNvPr id="21" name="Content Placeholder 5"/>
          <p:cNvSpPr>
            <a:spLocks noGrp="1"/>
          </p:cNvSpPr>
          <p:nvPr>
            <p:ph sz="quarter" idx="22"/>
          </p:nvPr>
        </p:nvSpPr>
        <p:spPr>
          <a:xfrm>
            <a:off x="6107816" y="3186391"/>
            <a:ext cx="2781415" cy="162018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200"/>
            </a:lvl6pPr>
            <a:lvl7pPr>
              <a:defRPr sz="1200"/>
            </a:lvl7pPr>
            <a:lvl8pPr>
              <a:defRPr sz="1200"/>
            </a:lvl8pPr>
            <a:lvl9pPr>
              <a:defRPr sz="120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Footer Placeholder 7">
            <a:extLst>
              <a:ext uri="{FF2B5EF4-FFF2-40B4-BE49-F238E27FC236}">
                <a16:creationId xmlns:a16="http://schemas.microsoft.com/office/drawing/2014/main" id="{429F1CDD-DADD-8668-B240-91C0357F9E87}"/>
              </a:ext>
            </a:extLst>
          </p:cNvPr>
          <p:cNvSpPr>
            <a:spLocks noGrp="1"/>
          </p:cNvSpPr>
          <p:nvPr>
            <p:ph type="ftr" sz="quarter" idx="23"/>
          </p:nvPr>
        </p:nvSpPr>
        <p:spPr/>
        <p:txBody>
          <a:bodyPr/>
          <a:lstStyle>
            <a:lvl1pPr>
              <a:defRPr/>
            </a:lvl1pPr>
          </a:lstStyle>
          <a:p>
            <a:pPr>
              <a:defRPr/>
            </a:pPr>
            <a:r>
              <a:t>Confidential – Internal BNZ Discussion Only</a:t>
            </a:r>
          </a:p>
        </p:txBody>
      </p:sp>
      <p:sp>
        <p:nvSpPr>
          <p:cNvPr id="14" name="Slide Number Placeholder 8">
            <a:extLst>
              <a:ext uri="{FF2B5EF4-FFF2-40B4-BE49-F238E27FC236}">
                <a16:creationId xmlns:a16="http://schemas.microsoft.com/office/drawing/2014/main" id="{0EA0A9C6-82D0-EB02-91C7-5DBF7B60642E}"/>
              </a:ext>
            </a:extLst>
          </p:cNvPr>
          <p:cNvSpPr>
            <a:spLocks noGrp="1"/>
          </p:cNvSpPr>
          <p:nvPr>
            <p:ph type="sldNum" sz="quarter" idx="24"/>
          </p:nvPr>
        </p:nvSpPr>
        <p:spPr/>
        <p:txBody>
          <a:bodyPr/>
          <a:lstStyle>
            <a:lvl1pPr>
              <a:defRPr/>
            </a:lvl1pPr>
          </a:lstStyle>
          <a:p>
            <a:fld id="{D8FDB3C3-5A63-4E01-94B5-8F366B9C2BF1}" type="slidenum">
              <a:rPr lang="en-NZ" altLang="en-US"/>
              <a:pPr/>
              <a:t>‹#›</a:t>
            </a:fld>
            <a:endParaRPr lang="en-NZ" altLang="en-US"/>
          </a:p>
        </p:txBody>
      </p:sp>
    </p:spTree>
    <p:extLst>
      <p:ext uri="{BB962C8B-B14F-4D97-AF65-F5344CB8AC3E}">
        <p14:creationId xmlns:p14="http://schemas.microsoft.com/office/powerpoint/2010/main" val="536687346"/>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wo thirds one third">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6DD53F07-663C-1447-0007-57D870E7310E}"/>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6BA4922A-5820-8191-C73B-E13D361B7585}"/>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Content Placeholder 2"/>
          <p:cNvSpPr>
            <a:spLocks noGrp="1"/>
          </p:cNvSpPr>
          <p:nvPr>
            <p:ph sz="half" idx="1"/>
          </p:nvPr>
        </p:nvSpPr>
        <p:spPr>
          <a:xfrm>
            <a:off x="251520" y="951570"/>
            <a:ext cx="5659200" cy="367240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4" name="Content Placeholder 3"/>
          <p:cNvSpPr>
            <a:spLocks noGrp="1"/>
          </p:cNvSpPr>
          <p:nvPr>
            <p:ph sz="half" idx="2"/>
          </p:nvPr>
        </p:nvSpPr>
        <p:spPr>
          <a:xfrm>
            <a:off x="6064616" y="951571"/>
            <a:ext cx="2827938" cy="3672000"/>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5">
            <a:extLst>
              <a:ext uri="{FF2B5EF4-FFF2-40B4-BE49-F238E27FC236}">
                <a16:creationId xmlns:a16="http://schemas.microsoft.com/office/drawing/2014/main" id="{6752A8BD-7809-C37D-EEBC-3FFAEECAA75D}"/>
              </a:ext>
            </a:extLst>
          </p:cNvPr>
          <p:cNvSpPr>
            <a:spLocks noGrp="1"/>
          </p:cNvSpPr>
          <p:nvPr>
            <p:ph type="ftr" sz="quarter" idx="10"/>
          </p:nvPr>
        </p:nvSpPr>
        <p:spPr/>
        <p:txBody>
          <a:bodyPr/>
          <a:lstStyle>
            <a:lvl1pPr>
              <a:defRPr/>
            </a:lvl1pPr>
          </a:lstStyle>
          <a:p>
            <a:pPr>
              <a:defRPr/>
            </a:pPr>
            <a:r>
              <a:t>Confidential – Internal BNZ Discussion Only</a:t>
            </a:r>
          </a:p>
        </p:txBody>
      </p:sp>
      <p:sp>
        <p:nvSpPr>
          <p:cNvPr id="8" name="Slide Number Placeholder 6">
            <a:extLst>
              <a:ext uri="{FF2B5EF4-FFF2-40B4-BE49-F238E27FC236}">
                <a16:creationId xmlns:a16="http://schemas.microsoft.com/office/drawing/2014/main" id="{26BF7910-B92A-164C-7DC3-BCF2968A6876}"/>
              </a:ext>
            </a:extLst>
          </p:cNvPr>
          <p:cNvSpPr>
            <a:spLocks noGrp="1"/>
          </p:cNvSpPr>
          <p:nvPr>
            <p:ph type="sldNum" sz="quarter" idx="11"/>
          </p:nvPr>
        </p:nvSpPr>
        <p:spPr/>
        <p:txBody>
          <a:bodyPr/>
          <a:lstStyle>
            <a:lvl1pPr>
              <a:defRPr/>
            </a:lvl1pPr>
          </a:lstStyle>
          <a:p>
            <a:fld id="{6D68701E-A9D2-44A2-BBED-02668EBE316B}" type="slidenum">
              <a:rPr lang="en-NZ" altLang="en-US"/>
              <a:pPr/>
              <a:t>‹#›</a:t>
            </a:fld>
            <a:endParaRPr lang="en-NZ" altLang="en-US"/>
          </a:p>
        </p:txBody>
      </p:sp>
    </p:spTree>
    <p:extLst>
      <p:ext uri="{BB962C8B-B14F-4D97-AF65-F5344CB8AC3E}">
        <p14:creationId xmlns:p14="http://schemas.microsoft.com/office/powerpoint/2010/main" val="203411486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1_Two thirds one third">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7D74B32A-2FDB-0A19-367A-37D94DB894E9}"/>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6E7DBEAE-CC8C-2203-D1C9-A9DA08A8275F}"/>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3" name="Content Placeholder 2"/>
          <p:cNvSpPr>
            <a:spLocks noGrp="1"/>
          </p:cNvSpPr>
          <p:nvPr>
            <p:ph sz="half" idx="1"/>
          </p:nvPr>
        </p:nvSpPr>
        <p:spPr>
          <a:xfrm>
            <a:off x="251520" y="951570"/>
            <a:ext cx="5659200" cy="367240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4" name="Content Placeholder 3"/>
          <p:cNvSpPr>
            <a:spLocks noGrp="1"/>
          </p:cNvSpPr>
          <p:nvPr>
            <p:ph sz="half" idx="2"/>
          </p:nvPr>
        </p:nvSpPr>
        <p:spPr>
          <a:xfrm>
            <a:off x="6064616" y="951571"/>
            <a:ext cx="2827938"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9" name="Content Placeholder 3"/>
          <p:cNvSpPr>
            <a:spLocks noGrp="1"/>
          </p:cNvSpPr>
          <p:nvPr>
            <p:ph sz="half" idx="14"/>
          </p:nvPr>
        </p:nvSpPr>
        <p:spPr>
          <a:xfrm>
            <a:off x="6064616" y="2841780"/>
            <a:ext cx="2827938" cy="1782198"/>
          </a:xfrm>
        </p:spPr>
        <p:txBody>
          <a:bodyPr>
            <a:normAutofit/>
          </a:bodyPr>
          <a:lstStyle>
            <a:lvl1pPr>
              <a:defRPr sz="1200">
                <a:solidFill>
                  <a:schemeClr val="tx1"/>
                </a:solidFill>
              </a:defRPr>
            </a:lvl1pPr>
            <a:lvl2pPr>
              <a:defRPr sz="1050">
                <a:solidFill>
                  <a:schemeClr val="tx1"/>
                </a:solidFill>
              </a:defRPr>
            </a:lvl2pPr>
            <a:lvl3pPr>
              <a:defRPr sz="900">
                <a:solidFill>
                  <a:schemeClr val="tx1"/>
                </a:solidFill>
              </a:defRPr>
            </a:lvl3pPr>
            <a:lvl4pPr>
              <a:defRPr sz="900">
                <a:solidFill>
                  <a:schemeClr val="tx1"/>
                </a:solidFill>
              </a:defRPr>
            </a:lvl4pPr>
            <a:lvl5pPr>
              <a:defRPr sz="825">
                <a:solidFill>
                  <a:schemeClr val="tx1"/>
                </a:solidFill>
              </a:defRPr>
            </a:lvl5pPr>
            <a:lvl6pPr>
              <a:defRPr sz="1350"/>
            </a:lvl6pPr>
            <a:lvl7pPr>
              <a:defRPr sz="1350"/>
            </a:lvl7pPr>
            <a:lvl8pPr>
              <a:defRPr sz="1350"/>
            </a:lvl8pPr>
            <a:lvl9pPr>
              <a:defRPr sz="1350"/>
            </a:lvl9pPr>
          </a:lstStyle>
          <a:p>
            <a:pPr lvl="0"/>
            <a:r>
              <a:rPr lang="en-NZ" noProof="0"/>
              <a:t>Click to edit Master text styles</a:t>
            </a:r>
          </a:p>
          <a:p>
            <a:pPr lvl="1"/>
            <a:r>
              <a:rPr lang="en-NZ" noProof="0"/>
              <a:t>Second level</a:t>
            </a:r>
          </a:p>
          <a:p>
            <a:pPr lvl="2"/>
            <a:r>
              <a:rPr lang="en-NZ" noProof="0"/>
              <a:t>Third level</a:t>
            </a:r>
          </a:p>
          <a:p>
            <a:pPr lvl="3"/>
            <a:r>
              <a:rPr lang="en-NZ" noProof="0"/>
              <a:t>Fourth level</a:t>
            </a:r>
          </a:p>
          <a:p>
            <a:pPr lvl="4"/>
            <a:r>
              <a:rPr lang="en-NZ" noProof="0"/>
              <a:t>Fifth level</a:t>
            </a:r>
          </a:p>
        </p:txBody>
      </p:sp>
      <p:sp>
        <p:nvSpPr>
          <p:cNvPr id="7" name="Footer Placeholder 5">
            <a:extLst>
              <a:ext uri="{FF2B5EF4-FFF2-40B4-BE49-F238E27FC236}">
                <a16:creationId xmlns:a16="http://schemas.microsoft.com/office/drawing/2014/main" id="{6ADA7503-3188-04AC-186C-F13AD6ABC743}"/>
              </a:ext>
            </a:extLst>
          </p:cNvPr>
          <p:cNvSpPr>
            <a:spLocks noGrp="1"/>
          </p:cNvSpPr>
          <p:nvPr>
            <p:ph type="ftr" sz="quarter" idx="15"/>
          </p:nvPr>
        </p:nvSpPr>
        <p:spPr/>
        <p:txBody>
          <a:bodyPr/>
          <a:lstStyle>
            <a:lvl1pPr>
              <a:defRPr/>
            </a:lvl1pPr>
          </a:lstStyle>
          <a:p>
            <a:pPr>
              <a:defRPr/>
            </a:pPr>
            <a:r>
              <a:t>Confidential – Internal BNZ Discussion Only</a:t>
            </a:r>
          </a:p>
        </p:txBody>
      </p:sp>
      <p:sp>
        <p:nvSpPr>
          <p:cNvPr id="8" name="Slide Number Placeholder 6">
            <a:extLst>
              <a:ext uri="{FF2B5EF4-FFF2-40B4-BE49-F238E27FC236}">
                <a16:creationId xmlns:a16="http://schemas.microsoft.com/office/drawing/2014/main" id="{582C5305-ED76-E47C-26AC-C65F1544B7CB}"/>
              </a:ext>
            </a:extLst>
          </p:cNvPr>
          <p:cNvSpPr>
            <a:spLocks noGrp="1"/>
          </p:cNvSpPr>
          <p:nvPr>
            <p:ph type="sldNum" sz="quarter" idx="16"/>
          </p:nvPr>
        </p:nvSpPr>
        <p:spPr/>
        <p:txBody>
          <a:bodyPr/>
          <a:lstStyle>
            <a:lvl1pPr>
              <a:defRPr/>
            </a:lvl1pPr>
          </a:lstStyle>
          <a:p>
            <a:fld id="{B6EB1E5C-8217-46CE-9DDA-87E080FDEB45}" type="slidenum">
              <a:rPr lang="en-NZ" altLang="en-US"/>
              <a:pPr/>
              <a:t>‹#›</a:t>
            </a:fld>
            <a:endParaRPr lang="en-NZ" altLang="en-US"/>
          </a:p>
        </p:txBody>
      </p:sp>
    </p:spTree>
    <p:extLst>
      <p:ext uri="{BB962C8B-B14F-4D97-AF65-F5344CB8AC3E}">
        <p14:creationId xmlns:p14="http://schemas.microsoft.com/office/powerpoint/2010/main" val="62783890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Line 16">
            <a:extLst>
              <a:ext uri="{FF2B5EF4-FFF2-40B4-BE49-F238E27FC236}">
                <a16:creationId xmlns:a16="http://schemas.microsoft.com/office/drawing/2014/main" id="{15CFC92A-4018-AB87-ADE8-4AEF0ECDCA73}"/>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4" name="Line 16">
            <a:extLst>
              <a:ext uri="{FF2B5EF4-FFF2-40B4-BE49-F238E27FC236}">
                <a16:creationId xmlns:a16="http://schemas.microsoft.com/office/drawing/2014/main" id="{B157A894-57D0-003E-D647-7FCAB9088F65}"/>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p:txBody>
          <a:bodyPr/>
          <a:lstStyle>
            <a:lvl1pPr>
              <a:defRPr>
                <a:solidFill>
                  <a:schemeClr val="tx2"/>
                </a:solidFill>
              </a:defRPr>
            </a:lvl1pPr>
          </a:lstStyle>
          <a:p>
            <a:r>
              <a:rPr lang="en-NZ" noProof="0"/>
              <a:t>Click to edit Master title style</a:t>
            </a:r>
          </a:p>
        </p:txBody>
      </p:sp>
      <p:sp>
        <p:nvSpPr>
          <p:cNvPr id="5" name="Footer Placeholder 3">
            <a:extLst>
              <a:ext uri="{FF2B5EF4-FFF2-40B4-BE49-F238E27FC236}">
                <a16:creationId xmlns:a16="http://schemas.microsoft.com/office/drawing/2014/main" id="{1EF6A913-2517-12BC-5FB2-6FAA6E4B9ADB}"/>
              </a:ext>
            </a:extLst>
          </p:cNvPr>
          <p:cNvSpPr>
            <a:spLocks noGrp="1"/>
          </p:cNvSpPr>
          <p:nvPr>
            <p:ph type="ftr" sz="quarter" idx="10"/>
          </p:nvPr>
        </p:nvSpPr>
        <p:spPr/>
        <p:txBody>
          <a:bodyPr/>
          <a:lstStyle>
            <a:lvl1pPr>
              <a:defRPr/>
            </a:lvl1pPr>
          </a:lstStyle>
          <a:p>
            <a:pPr>
              <a:defRPr/>
            </a:pPr>
            <a:r>
              <a:t>Confidential – Internal BNZ Discussion Only</a:t>
            </a:r>
          </a:p>
        </p:txBody>
      </p:sp>
      <p:sp>
        <p:nvSpPr>
          <p:cNvPr id="6" name="Slide Number Placeholder 4">
            <a:extLst>
              <a:ext uri="{FF2B5EF4-FFF2-40B4-BE49-F238E27FC236}">
                <a16:creationId xmlns:a16="http://schemas.microsoft.com/office/drawing/2014/main" id="{2784BDA5-8C2A-EF64-2D12-3F47867861C8}"/>
              </a:ext>
            </a:extLst>
          </p:cNvPr>
          <p:cNvSpPr>
            <a:spLocks noGrp="1"/>
          </p:cNvSpPr>
          <p:nvPr>
            <p:ph type="sldNum" sz="quarter" idx="11"/>
          </p:nvPr>
        </p:nvSpPr>
        <p:spPr/>
        <p:txBody>
          <a:bodyPr/>
          <a:lstStyle>
            <a:lvl1pPr>
              <a:defRPr/>
            </a:lvl1pPr>
          </a:lstStyle>
          <a:p>
            <a:fld id="{BB75A05E-A768-448D-89EA-D79CB42F5018}" type="slidenum">
              <a:rPr lang="en-NZ" altLang="en-US"/>
              <a:pPr/>
              <a:t>‹#›</a:t>
            </a:fld>
            <a:endParaRPr lang="en-NZ" altLang="en-US"/>
          </a:p>
        </p:txBody>
      </p:sp>
    </p:spTree>
    <p:extLst>
      <p:ext uri="{BB962C8B-B14F-4D97-AF65-F5344CB8AC3E}">
        <p14:creationId xmlns:p14="http://schemas.microsoft.com/office/powerpoint/2010/main" val="376868605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Line 16">
            <a:extLst>
              <a:ext uri="{FF2B5EF4-FFF2-40B4-BE49-F238E27FC236}">
                <a16:creationId xmlns:a16="http://schemas.microsoft.com/office/drawing/2014/main" id="{56AF429A-476C-9541-0034-B2097408BEC1}"/>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3" name="Footer Placeholder 4">
            <a:extLst>
              <a:ext uri="{FF2B5EF4-FFF2-40B4-BE49-F238E27FC236}">
                <a16:creationId xmlns:a16="http://schemas.microsoft.com/office/drawing/2014/main" id="{F37DA375-EAD8-52AE-1E9D-E2833A06EA36}"/>
              </a:ext>
            </a:extLst>
          </p:cNvPr>
          <p:cNvSpPr>
            <a:spLocks noGrp="1"/>
          </p:cNvSpPr>
          <p:nvPr>
            <p:ph type="ftr" sz="quarter" idx="10"/>
          </p:nvPr>
        </p:nvSpPr>
        <p:spPr/>
        <p:txBody>
          <a:bodyPr/>
          <a:lstStyle>
            <a:lvl1pPr>
              <a:defRPr/>
            </a:lvl1pPr>
          </a:lstStyle>
          <a:p>
            <a:pPr>
              <a:defRPr/>
            </a:pPr>
            <a:r>
              <a:t>Confidential – Internal BNZ Discussion Only</a:t>
            </a:r>
          </a:p>
        </p:txBody>
      </p:sp>
      <p:sp>
        <p:nvSpPr>
          <p:cNvPr id="4" name="Slide Number Placeholder 5">
            <a:extLst>
              <a:ext uri="{FF2B5EF4-FFF2-40B4-BE49-F238E27FC236}">
                <a16:creationId xmlns:a16="http://schemas.microsoft.com/office/drawing/2014/main" id="{A4DE2E3E-DA32-4B8E-BC66-9DDCC1BD06BC}"/>
              </a:ext>
            </a:extLst>
          </p:cNvPr>
          <p:cNvSpPr>
            <a:spLocks noGrp="1"/>
          </p:cNvSpPr>
          <p:nvPr>
            <p:ph type="sldNum" sz="quarter" idx="11"/>
          </p:nvPr>
        </p:nvSpPr>
        <p:spPr/>
        <p:txBody>
          <a:bodyPr/>
          <a:lstStyle>
            <a:lvl1pPr>
              <a:defRPr/>
            </a:lvl1pPr>
          </a:lstStyle>
          <a:p>
            <a:fld id="{7526E26C-5D9B-45AD-9B14-11CBF018C822}" type="slidenum">
              <a:rPr lang="en-NZ" altLang="en-US"/>
              <a:pPr/>
              <a:t>‹#›</a:t>
            </a:fld>
            <a:endParaRPr lang="en-NZ" altLang="en-US"/>
          </a:p>
        </p:txBody>
      </p:sp>
    </p:spTree>
    <p:extLst>
      <p:ext uri="{BB962C8B-B14F-4D97-AF65-F5344CB8AC3E}">
        <p14:creationId xmlns:p14="http://schemas.microsoft.com/office/powerpoint/2010/main" val="218550898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Line 16">
            <a:extLst>
              <a:ext uri="{FF2B5EF4-FFF2-40B4-BE49-F238E27FC236}">
                <a16:creationId xmlns:a16="http://schemas.microsoft.com/office/drawing/2014/main" id="{7D099FBF-1298-BB85-5A40-2760F52B1A98}"/>
              </a:ext>
            </a:extLst>
          </p:cNvPr>
          <p:cNvSpPr>
            <a:spLocks noChangeShapeType="1"/>
          </p:cNvSpPr>
          <p:nvPr userDrawn="1"/>
        </p:nvSpPr>
        <p:spPr bwMode="auto">
          <a:xfrm>
            <a:off x="172915" y="0"/>
            <a:ext cx="0" cy="681038"/>
          </a:xfrm>
          <a:prstGeom prst="line">
            <a:avLst/>
          </a:prstGeom>
          <a:noFill/>
          <a:ln w="6350">
            <a:solidFill>
              <a:schemeClr val="bg1">
                <a:lumMod val="50000"/>
              </a:schemeClr>
            </a:solidFill>
            <a:round/>
            <a:headEnd/>
            <a:tailEnd/>
          </a:ln>
        </p:spPr>
        <p:txBody>
          <a:bodyPr/>
          <a:lstStyle/>
          <a:p>
            <a:pPr>
              <a:defRPr/>
            </a:pPr>
            <a:endParaRPr lang="en-US" sz="1350">
              <a:latin typeface="Arial" charset="0"/>
            </a:endParaRPr>
          </a:p>
        </p:txBody>
      </p:sp>
      <p:sp>
        <p:nvSpPr>
          <p:cNvPr id="6" name="Line 16">
            <a:extLst>
              <a:ext uri="{FF2B5EF4-FFF2-40B4-BE49-F238E27FC236}">
                <a16:creationId xmlns:a16="http://schemas.microsoft.com/office/drawing/2014/main" id="{662A3B30-CA63-C423-EAC3-8EC9979CF3B3}"/>
              </a:ext>
            </a:extLst>
          </p:cNvPr>
          <p:cNvSpPr>
            <a:spLocks noChangeShapeType="1"/>
          </p:cNvSpPr>
          <p:nvPr userDrawn="1"/>
        </p:nvSpPr>
        <p:spPr bwMode="auto">
          <a:xfrm>
            <a:off x="9108831" y="4962525"/>
            <a:ext cx="0" cy="180975"/>
          </a:xfrm>
          <a:prstGeom prst="line">
            <a:avLst/>
          </a:prstGeom>
          <a:noFill/>
          <a:ln w="76200">
            <a:solidFill>
              <a:srgbClr val="0A1C42"/>
            </a:solidFill>
            <a:round/>
            <a:headEnd/>
            <a:tailEnd/>
          </a:ln>
        </p:spPr>
        <p:txBody>
          <a:bodyPr/>
          <a:lstStyle/>
          <a:p>
            <a:pPr>
              <a:defRPr/>
            </a:pPr>
            <a:endParaRPr lang="en-US" sz="1350">
              <a:latin typeface="Arial" charset="0"/>
            </a:endParaRPr>
          </a:p>
        </p:txBody>
      </p:sp>
      <p:sp>
        <p:nvSpPr>
          <p:cNvPr id="2" name="Title 1"/>
          <p:cNvSpPr>
            <a:spLocks noGrp="1"/>
          </p:cNvSpPr>
          <p:nvPr>
            <p:ph type="title"/>
          </p:nvPr>
        </p:nvSpPr>
        <p:spPr>
          <a:xfrm>
            <a:off x="251520" y="204788"/>
            <a:ext cx="7056784" cy="584765"/>
          </a:xfrm>
        </p:spPr>
        <p:txBody>
          <a:bodyPr anchor="b"/>
          <a:lstStyle>
            <a:lvl1pPr algn="l">
              <a:defRPr sz="1500" b="1">
                <a:solidFill>
                  <a:schemeClr val="tx2"/>
                </a:solidFill>
              </a:defRPr>
            </a:lvl1pPr>
          </a:lstStyle>
          <a:p>
            <a:r>
              <a:rPr lang="en-NZ" noProof="0"/>
              <a:t>Click to edit Master title style</a:t>
            </a:r>
          </a:p>
        </p:txBody>
      </p:sp>
      <p:sp>
        <p:nvSpPr>
          <p:cNvPr id="3" name="Content Placeholder 2"/>
          <p:cNvSpPr>
            <a:spLocks noGrp="1"/>
          </p:cNvSpPr>
          <p:nvPr>
            <p:ph idx="1"/>
          </p:nvPr>
        </p:nvSpPr>
        <p:spPr>
          <a:xfrm>
            <a:off x="3575051" y="951570"/>
            <a:ext cx="5317429" cy="3510390"/>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1050">
                <a:solidFill>
                  <a:schemeClr val="tx1"/>
                </a:solidFill>
              </a:defRPr>
            </a:lvl4pPr>
            <a:lvl5pPr>
              <a:defRPr sz="900">
                <a:solidFill>
                  <a:schemeClr val="tx1"/>
                </a:solidFill>
              </a:defRPr>
            </a:lvl5pPr>
            <a:lvl6pPr>
              <a:defRPr sz="1500"/>
            </a:lvl6pPr>
            <a:lvl7pPr>
              <a:defRPr sz="1500"/>
            </a:lvl7pPr>
            <a:lvl8pPr>
              <a:defRPr sz="1500"/>
            </a:lvl8pPr>
            <a:lvl9pPr>
              <a:defRPr sz="1500"/>
            </a:lvl9pPr>
          </a:lstStyle>
          <a:p>
            <a:pPr lvl="0"/>
            <a:r>
              <a:rPr lang="en-NZ" noProof="0" dirty="0"/>
              <a:t>Click to edit Master text styles</a:t>
            </a:r>
          </a:p>
          <a:p>
            <a:pPr lvl="1"/>
            <a:r>
              <a:rPr lang="en-NZ" noProof="0" dirty="0"/>
              <a:t>Second level</a:t>
            </a:r>
          </a:p>
          <a:p>
            <a:pPr lvl="2"/>
            <a:r>
              <a:rPr lang="en-NZ" noProof="0" dirty="0"/>
              <a:t>Third level</a:t>
            </a:r>
          </a:p>
          <a:p>
            <a:pPr lvl="3"/>
            <a:r>
              <a:rPr lang="en-NZ" noProof="0" dirty="0"/>
              <a:t>Fourth level</a:t>
            </a:r>
          </a:p>
          <a:p>
            <a:pPr lvl="4"/>
            <a:r>
              <a:rPr lang="en-NZ" noProof="0" dirty="0"/>
              <a:t>Fifth level</a:t>
            </a:r>
          </a:p>
        </p:txBody>
      </p:sp>
      <p:sp>
        <p:nvSpPr>
          <p:cNvPr id="4" name="Text Placeholder 3"/>
          <p:cNvSpPr>
            <a:spLocks noGrp="1"/>
          </p:cNvSpPr>
          <p:nvPr>
            <p:ph type="body" sz="half" idx="2"/>
          </p:nvPr>
        </p:nvSpPr>
        <p:spPr>
          <a:xfrm>
            <a:off x="251521" y="951570"/>
            <a:ext cx="3213993" cy="3510390"/>
          </a:xfrm>
        </p:spPr>
        <p:txBody>
          <a:bodyPr>
            <a:normAutofit/>
          </a:bodyPr>
          <a:lstStyle>
            <a:lvl1pPr marL="0" indent="0">
              <a:buNone/>
              <a:defRPr sz="13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NZ" noProof="0" dirty="0"/>
              <a:t>Click to edit Master text styles</a:t>
            </a:r>
          </a:p>
        </p:txBody>
      </p:sp>
      <p:sp>
        <p:nvSpPr>
          <p:cNvPr id="7" name="Footer Placeholder 5">
            <a:extLst>
              <a:ext uri="{FF2B5EF4-FFF2-40B4-BE49-F238E27FC236}">
                <a16:creationId xmlns:a16="http://schemas.microsoft.com/office/drawing/2014/main" id="{585893B6-A032-1918-5490-7F9F81BB3CCA}"/>
              </a:ext>
            </a:extLst>
          </p:cNvPr>
          <p:cNvSpPr>
            <a:spLocks noGrp="1"/>
          </p:cNvSpPr>
          <p:nvPr>
            <p:ph type="ftr" sz="quarter" idx="10"/>
          </p:nvPr>
        </p:nvSpPr>
        <p:spPr/>
        <p:txBody>
          <a:bodyPr/>
          <a:lstStyle>
            <a:lvl1pPr>
              <a:defRPr/>
            </a:lvl1pPr>
          </a:lstStyle>
          <a:p>
            <a:pPr>
              <a:defRPr/>
            </a:pPr>
            <a:r>
              <a:t>Confidential – Internal BNZ Discussion Only</a:t>
            </a:r>
          </a:p>
        </p:txBody>
      </p:sp>
      <p:sp>
        <p:nvSpPr>
          <p:cNvPr id="8" name="Slide Number Placeholder 6">
            <a:extLst>
              <a:ext uri="{FF2B5EF4-FFF2-40B4-BE49-F238E27FC236}">
                <a16:creationId xmlns:a16="http://schemas.microsoft.com/office/drawing/2014/main" id="{7EBAD2B4-F5FB-00DC-69F0-9CB9AAFC06CC}"/>
              </a:ext>
            </a:extLst>
          </p:cNvPr>
          <p:cNvSpPr>
            <a:spLocks noGrp="1"/>
          </p:cNvSpPr>
          <p:nvPr>
            <p:ph type="sldNum" sz="quarter" idx="11"/>
          </p:nvPr>
        </p:nvSpPr>
        <p:spPr/>
        <p:txBody>
          <a:bodyPr/>
          <a:lstStyle>
            <a:lvl1pPr>
              <a:defRPr/>
            </a:lvl1pPr>
          </a:lstStyle>
          <a:p>
            <a:fld id="{DD618831-8625-4E4F-836F-4166C8280F89}" type="slidenum">
              <a:rPr lang="en-NZ" altLang="en-US"/>
              <a:pPr/>
              <a:t>‹#›</a:t>
            </a:fld>
            <a:endParaRPr lang="en-NZ" altLang="en-US"/>
          </a:p>
        </p:txBody>
      </p:sp>
    </p:spTree>
    <p:extLst>
      <p:ext uri="{BB962C8B-B14F-4D97-AF65-F5344CB8AC3E}">
        <p14:creationId xmlns:p14="http://schemas.microsoft.com/office/powerpoint/2010/main" val="423432939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93077" y="115492"/>
            <a:ext cx="8461131" cy="183356"/>
          </a:xfrm>
        </p:spPr>
        <p:txBody>
          <a:bodyPr/>
          <a:lstStyle/>
          <a:p>
            <a:r>
              <a:rPr lang="en-US"/>
              <a:t>Click to edit Master title style</a:t>
            </a:r>
            <a:endParaRPr lang="en-NZ"/>
          </a:p>
        </p:txBody>
      </p:sp>
      <p:sp>
        <p:nvSpPr>
          <p:cNvPr id="3" name="Table Placeholder 2"/>
          <p:cNvSpPr>
            <a:spLocks noGrp="1"/>
          </p:cNvSpPr>
          <p:nvPr>
            <p:ph type="tbl" idx="1"/>
          </p:nvPr>
        </p:nvSpPr>
        <p:spPr>
          <a:xfrm>
            <a:off x="293077" y="853679"/>
            <a:ext cx="8532935" cy="3550444"/>
          </a:xfrm>
        </p:spPr>
        <p:txBody>
          <a:bodyPr>
            <a:normAutofit/>
          </a:bodyPr>
          <a:lstStyle/>
          <a:p>
            <a:pPr lvl="0"/>
            <a:endParaRPr lang="en-NZ" noProof="0"/>
          </a:p>
        </p:txBody>
      </p:sp>
      <p:sp>
        <p:nvSpPr>
          <p:cNvPr id="4" name="Slide Number Placeholder 3">
            <a:extLst>
              <a:ext uri="{FF2B5EF4-FFF2-40B4-BE49-F238E27FC236}">
                <a16:creationId xmlns:a16="http://schemas.microsoft.com/office/drawing/2014/main" id="{990E20F9-EE51-BDDF-1CF3-617703AF6830}"/>
              </a:ext>
            </a:extLst>
          </p:cNvPr>
          <p:cNvSpPr>
            <a:spLocks noGrp="1"/>
          </p:cNvSpPr>
          <p:nvPr>
            <p:ph type="sldNum" sz="quarter" idx="10"/>
          </p:nvPr>
        </p:nvSpPr>
        <p:spPr>
          <a:xfrm>
            <a:off x="8760070" y="119063"/>
            <a:ext cx="383931" cy="102394"/>
          </a:xfrm>
        </p:spPr>
        <p:txBody>
          <a:bodyPr/>
          <a:lstStyle>
            <a:lvl1pPr>
              <a:defRPr/>
            </a:lvl1pPr>
          </a:lstStyle>
          <a:p>
            <a:fld id="{0FB42FCC-375E-4B40-BFBD-87F2A00E9775}" type="slidenum">
              <a:rPr lang="en-NZ" altLang="en-US"/>
              <a:pPr/>
              <a:t>‹#›</a:t>
            </a:fld>
            <a:endParaRPr lang="en-NZ" altLang="en-US"/>
          </a:p>
        </p:txBody>
      </p:sp>
    </p:spTree>
    <p:extLst>
      <p:ext uri="{BB962C8B-B14F-4D97-AF65-F5344CB8AC3E}">
        <p14:creationId xmlns:p14="http://schemas.microsoft.com/office/powerpoint/2010/main" val="509708945"/>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Relationships xmlns="http://schemas.openxmlformats.org/package/2006/relationships"><Relationship Id="rId3" Type="http://schemas.openxmlformats.org/officeDocument/2006/relationships/slideLayout" Target="../slideLayouts/slideLayout25.xml"/><Relationship Id="rId7"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_rels/slideMaster3.xml.rels><?xml version="1.0" encoding="UTF-8"?><Relationships xmlns="http://schemas.openxmlformats.org/package/2006/relationships"><Relationship Id="rId3" Type="http://schemas.openxmlformats.org/officeDocument/2006/relationships/slideLayout" Target="../slideLayouts/slideLayout31.xml"/><Relationship Id="rId7"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s>
</file>

<file path=ppt/slideMasters/_rels/slideMaster4.xml.rels><?xml version="1.0" encoding="UTF-8"?><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3" Type="http://schemas.openxmlformats.org/officeDocument/2006/relationships/slideLayout" Target="../slideLayouts/slideLayout37.xml"/><Relationship Id="rId21" Type="http://schemas.openxmlformats.org/officeDocument/2006/relationships/slideLayout" Target="../slideLayouts/slideLayout55.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theme" Target="../theme/theme4.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s>
</file>

<file path=ppt/slideMasters/_rels/slideMaster5.xml.rels><?xml version="1.0" encoding="UTF-8"?><Relationships xmlns="http://schemas.openxmlformats.org/package/2006/relationships"><Relationship Id="rId3" Type="http://schemas.openxmlformats.org/officeDocument/2006/relationships/slideLayout" Target="../slideLayouts/slideLayout59.xml"/><Relationship Id="rId7" Type="http://schemas.openxmlformats.org/officeDocument/2006/relationships/theme" Target="../theme/theme5.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s>
</file>

<file path=ppt/slideMasters/_rels/slideMaster6.xml.rels><?xml version="1.0" encoding="UTF-8"?><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theme" Target="../theme/theme6.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s>
</file>

<file path=ppt/slideMasters/_rels/slideMaster7.xml.rels><?xml version="1.0" encoding="UTF-8"?><Relationships xmlns="http://schemas.openxmlformats.org/package/2006/relationships"><Relationship Id="rId3" Type="http://schemas.openxmlformats.org/officeDocument/2006/relationships/slideLayout" Target="../slideLayouts/slideLayout87.xml"/><Relationship Id="rId7" Type="http://schemas.openxmlformats.org/officeDocument/2006/relationships/theme" Target="../theme/theme7.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s>
</file>

<file path=ppt/slideMasters/_rels/slideMaster8.xml.rels><?xml version="1.0" encoding="UTF-8"?><Relationships xmlns="http://schemas.openxmlformats.org/package/2006/relationships"><Relationship Id="rId3" Type="http://schemas.openxmlformats.org/officeDocument/2006/relationships/slideLayout" Target="../slideLayouts/slideLayout93.xml"/><Relationship Id="rId7" Type="http://schemas.openxmlformats.org/officeDocument/2006/relationships/theme" Target="../theme/theme8.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5" Type="http://schemas.openxmlformats.org/officeDocument/2006/relationships/slideLayout" Target="../slideLayouts/slideLayout95.xml"/><Relationship Id="rId4" Type="http://schemas.openxmlformats.org/officeDocument/2006/relationships/slideLayout" Target="../slideLayouts/slideLayout94.xml"/></Relationships>
</file>

<file path=ppt/slideMasters/_rels/slideMaster9.xml.rels><?xml version="1.0" encoding="UTF-8"?><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slideLayout" Target="../slideLayouts/slideLayout109.xml"/><Relationship Id="rId18" Type="http://schemas.openxmlformats.org/officeDocument/2006/relationships/slideLayout" Target="../slideLayouts/slideLayout114.xml"/><Relationship Id="rId3" Type="http://schemas.openxmlformats.org/officeDocument/2006/relationships/slideLayout" Target="../slideLayouts/slideLayout99.xml"/><Relationship Id="rId21" Type="http://schemas.openxmlformats.org/officeDocument/2006/relationships/slideLayout" Target="../slideLayouts/slideLayout117.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17" Type="http://schemas.openxmlformats.org/officeDocument/2006/relationships/slideLayout" Target="../slideLayouts/slideLayout113.xml"/><Relationship Id="rId2" Type="http://schemas.openxmlformats.org/officeDocument/2006/relationships/slideLayout" Target="../slideLayouts/slideLayout98.xml"/><Relationship Id="rId16" Type="http://schemas.openxmlformats.org/officeDocument/2006/relationships/slideLayout" Target="../slideLayouts/slideLayout112.xml"/><Relationship Id="rId20" Type="http://schemas.openxmlformats.org/officeDocument/2006/relationships/slideLayout" Target="../slideLayouts/slideLayout116.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5" Type="http://schemas.openxmlformats.org/officeDocument/2006/relationships/slideLayout" Target="../slideLayouts/slideLayout111.xml"/><Relationship Id="rId23" Type="http://schemas.openxmlformats.org/officeDocument/2006/relationships/theme" Target="../theme/theme9.xml"/><Relationship Id="rId10" Type="http://schemas.openxmlformats.org/officeDocument/2006/relationships/slideLayout" Target="../slideLayouts/slideLayout106.xml"/><Relationship Id="rId19" Type="http://schemas.openxmlformats.org/officeDocument/2006/relationships/slideLayout" Target="../slideLayouts/slideLayout115.xml"/><Relationship Id="rId4" Type="http://schemas.openxmlformats.org/officeDocument/2006/relationships/slideLayout" Target="../slideLayouts/slideLayout100.xml"/><Relationship Id="rId9" Type="http://schemas.openxmlformats.org/officeDocument/2006/relationships/slideLayout" Target="../slideLayouts/slideLayout105.xml"/><Relationship Id="rId14" Type="http://schemas.openxmlformats.org/officeDocument/2006/relationships/slideLayout" Target="../slideLayouts/slideLayout110.xml"/><Relationship Id="rId22" Type="http://schemas.openxmlformats.org/officeDocument/2006/relationships/slideLayout" Target="../slideLayouts/slideLayout118.xml"/></Relationships>
</file>

<file path=ppt/slideMasters/_rels/slideMaster10.xml.rels><?xml version="1.0" encoding="UTF-8"?><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3" Type="http://schemas.openxmlformats.org/officeDocument/2006/relationships/slideLayout" Target="../slideLayouts/slideLayout121.xml"/><Relationship Id="rId21" Type="http://schemas.openxmlformats.org/officeDocument/2006/relationships/slideLayout" Target="../slideLayouts/slideLayout139.xml"/><Relationship Id="rId7" Type="http://schemas.openxmlformats.org/officeDocument/2006/relationships/slideLayout" Target="../slideLayouts/slideLayout125.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0" Type="http://schemas.openxmlformats.org/officeDocument/2006/relationships/slideLayout" Target="../slideLayouts/slideLayout138.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5" Type="http://schemas.openxmlformats.org/officeDocument/2006/relationships/slideLayout" Target="../slideLayouts/slideLayout123.xml"/><Relationship Id="rId15" Type="http://schemas.openxmlformats.org/officeDocument/2006/relationships/slideLayout" Target="../slideLayouts/slideLayout133.xml"/><Relationship Id="rId23" Type="http://schemas.openxmlformats.org/officeDocument/2006/relationships/theme" Target="../theme/theme10.xml"/><Relationship Id="rId10" Type="http://schemas.openxmlformats.org/officeDocument/2006/relationships/slideLayout" Target="../slideLayouts/slideLayout128.xml"/><Relationship Id="rId19" Type="http://schemas.openxmlformats.org/officeDocument/2006/relationships/slideLayout" Target="../slideLayouts/slideLayout137.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 Id="rId22" Type="http://schemas.openxmlformats.org/officeDocument/2006/relationships/slideLayout" Target="../slideLayouts/slideLayout140.xml"/></Relationships>
</file>

<file path=ppt/slideMasters/_rels/slideMaster11.xml.rels><?xml version="1.0" encoding="UTF-8"?><Relationships xmlns="http://schemas.openxmlformats.org/package/2006/relationships"><Relationship Id="rId8" Type="http://schemas.openxmlformats.org/officeDocument/2006/relationships/slideLayout" Target="../slideLayouts/slideLayout148.xml"/><Relationship Id="rId13" Type="http://schemas.openxmlformats.org/officeDocument/2006/relationships/slideLayout" Target="../slideLayouts/slideLayout153.xml"/><Relationship Id="rId18" Type="http://schemas.openxmlformats.org/officeDocument/2006/relationships/slideLayout" Target="../slideLayouts/slideLayout158.xml"/><Relationship Id="rId26" Type="http://schemas.openxmlformats.org/officeDocument/2006/relationships/slideLayout" Target="../slideLayouts/slideLayout166.xml"/><Relationship Id="rId3" Type="http://schemas.openxmlformats.org/officeDocument/2006/relationships/slideLayout" Target="../slideLayouts/slideLayout143.xml"/><Relationship Id="rId21" Type="http://schemas.openxmlformats.org/officeDocument/2006/relationships/slideLayout" Target="../slideLayouts/slideLayout161.xml"/><Relationship Id="rId7" Type="http://schemas.openxmlformats.org/officeDocument/2006/relationships/slideLayout" Target="../slideLayouts/slideLayout147.xml"/><Relationship Id="rId12" Type="http://schemas.openxmlformats.org/officeDocument/2006/relationships/slideLayout" Target="../slideLayouts/slideLayout152.xml"/><Relationship Id="rId17" Type="http://schemas.openxmlformats.org/officeDocument/2006/relationships/slideLayout" Target="../slideLayouts/slideLayout157.xml"/><Relationship Id="rId25" Type="http://schemas.openxmlformats.org/officeDocument/2006/relationships/slideLayout" Target="../slideLayouts/slideLayout165.xml"/><Relationship Id="rId2" Type="http://schemas.openxmlformats.org/officeDocument/2006/relationships/slideLayout" Target="../slideLayouts/slideLayout142.xml"/><Relationship Id="rId16" Type="http://schemas.openxmlformats.org/officeDocument/2006/relationships/slideLayout" Target="../slideLayouts/slideLayout156.xml"/><Relationship Id="rId20" Type="http://schemas.openxmlformats.org/officeDocument/2006/relationships/slideLayout" Target="../slideLayouts/slideLayout160.xml"/><Relationship Id="rId29" Type="http://schemas.openxmlformats.org/officeDocument/2006/relationships/slideLayout" Target="../slideLayouts/slideLayout169.xml"/><Relationship Id="rId1" Type="http://schemas.openxmlformats.org/officeDocument/2006/relationships/slideLayout" Target="../slideLayouts/slideLayout141.xml"/><Relationship Id="rId6" Type="http://schemas.openxmlformats.org/officeDocument/2006/relationships/slideLayout" Target="../slideLayouts/slideLayout146.xml"/><Relationship Id="rId11" Type="http://schemas.openxmlformats.org/officeDocument/2006/relationships/slideLayout" Target="../slideLayouts/slideLayout151.xml"/><Relationship Id="rId24" Type="http://schemas.openxmlformats.org/officeDocument/2006/relationships/slideLayout" Target="../slideLayouts/slideLayout164.xml"/><Relationship Id="rId5" Type="http://schemas.openxmlformats.org/officeDocument/2006/relationships/slideLayout" Target="../slideLayouts/slideLayout145.xml"/><Relationship Id="rId15" Type="http://schemas.openxmlformats.org/officeDocument/2006/relationships/slideLayout" Target="../slideLayouts/slideLayout155.xml"/><Relationship Id="rId23" Type="http://schemas.openxmlformats.org/officeDocument/2006/relationships/slideLayout" Target="../slideLayouts/slideLayout163.xml"/><Relationship Id="rId28" Type="http://schemas.openxmlformats.org/officeDocument/2006/relationships/slideLayout" Target="../slideLayouts/slideLayout168.xml"/><Relationship Id="rId10" Type="http://schemas.openxmlformats.org/officeDocument/2006/relationships/slideLayout" Target="../slideLayouts/slideLayout150.xml"/><Relationship Id="rId19" Type="http://schemas.openxmlformats.org/officeDocument/2006/relationships/slideLayout" Target="../slideLayouts/slideLayout159.xml"/><Relationship Id="rId31" Type="http://schemas.openxmlformats.org/officeDocument/2006/relationships/image" Target="../media/image1.emf"/><Relationship Id="rId4" Type="http://schemas.openxmlformats.org/officeDocument/2006/relationships/slideLayout" Target="../slideLayouts/slideLayout144.xml"/><Relationship Id="rId9" Type="http://schemas.openxmlformats.org/officeDocument/2006/relationships/slideLayout" Target="../slideLayouts/slideLayout149.xml"/><Relationship Id="rId14" Type="http://schemas.openxmlformats.org/officeDocument/2006/relationships/slideLayout" Target="../slideLayouts/slideLayout154.xml"/><Relationship Id="rId22" Type="http://schemas.openxmlformats.org/officeDocument/2006/relationships/slideLayout" Target="../slideLayouts/slideLayout162.xml"/><Relationship Id="rId27" Type="http://schemas.openxmlformats.org/officeDocument/2006/relationships/slideLayout" Target="../slideLayouts/slideLayout167.xml"/><Relationship Id="rId30" Type="http://schemas.openxmlformats.org/officeDocument/2006/relationships/theme" Target="../theme/theme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714" r:id="rId20"/>
    <p:sldLayoutId id="2147483715" r:id="rId21"/>
    <p:sldLayoutId id="214748371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 id="2147483802" r:id="rId18"/>
    <p:sldLayoutId id="2147483803" r:id="rId19"/>
    <p:sldLayoutId id="2147483804" r:id="rId20"/>
    <p:sldLayoutId id="2147483805" r:id="rId21"/>
    <p:sldLayoutId id="214748380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 id="2147483838" r:id="rId17"/>
    <p:sldLayoutId id="2147483839" r:id="rId18"/>
    <p:sldLayoutId id="2147483840" r:id="rId19"/>
    <p:sldLayoutId id="2147483841" r:id="rId20"/>
    <p:sldLayoutId id="2147483842" r:id="rId21"/>
    <p:sldLayoutId id="2147483843"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 id="2147483862" r:id="rId18"/>
    <p:sldLayoutId id="2147483863" r:id="rId19"/>
    <p:sldLayoutId id="2147483864" r:id="rId20"/>
    <p:sldLayoutId id="2147483865" r:id="rId21"/>
    <p:sldLayoutId id="2147483866"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FEC718D6-8710-CD76-DCDE-A780129F2DCA}"/>
              </a:ext>
            </a:extLst>
          </p:cNvPr>
          <p:cNvSpPr>
            <a:spLocks noGrp="1"/>
          </p:cNvSpPr>
          <p:nvPr>
            <p:ph type="title"/>
          </p:nvPr>
        </p:nvSpPr>
        <p:spPr bwMode="auto">
          <a:xfrm>
            <a:off x="250582" y="132160"/>
            <a:ext cx="691368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NZ" altLang="en-US"/>
              <a:t>Click to edit Master title style</a:t>
            </a:r>
          </a:p>
        </p:txBody>
      </p:sp>
      <p:sp>
        <p:nvSpPr>
          <p:cNvPr id="1027" name="Text Placeholder 2">
            <a:extLst>
              <a:ext uri="{FF2B5EF4-FFF2-40B4-BE49-F238E27FC236}">
                <a16:creationId xmlns:a16="http://schemas.microsoft.com/office/drawing/2014/main" id="{2F1C2CCF-DA44-49EF-6E99-A2DAE0F9B309}"/>
              </a:ext>
            </a:extLst>
          </p:cNvPr>
          <p:cNvSpPr>
            <a:spLocks noGrp="1"/>
          </p:cNvSpPr>
          <p:nvPr>
            <p:ph type="body" idx="1"/>
          </p:nvPr>
        </p:nvSpPr>
        <p:spPr bwMode="auto">
          <a:xfrm>
            <a:off x="250582" y="951310"/>
            <a:ext cx="8642838" cy="3511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NZ" altLang="en-US"/>
              <a:t>Click to edit Master text styles</a:t>
            </a:r>
          </a:p>
          <a:p>
            <a:pPr lvl="1"/>
            <a:r>
              <a:rPr lang="en-NZ" altLang="en-US"/>
              <a:t>Second level</a:t>
            </a:r>
          </a:p>
          <a:p>
            <a:pPr lvl="2"/>
            <a:r>
              <a:rPr lang="en-NZ" altLang="en-US"/>
              <a:t>Third level</a:t>
            </a:r>
          </a:p>
          <a:p>
            <a:pPr lvl="3"/>
            <a:r>
              <a:rPr lang="en-NZ" altLang="en-US"/>
              <a:t>Fourth level</a:t>
            </a:r>
          </a:p>
          <a:p>
            <a:pPr lvl="4"/>
            <a:r>
              <a:rPr lang="en-NZ" altLang="en-US"/>
              <a:t>Fifth level</a:t>
            </a:r>
          </a:p>
        </p:txBody>
      </p:sp>
      <p:sp>
        <p:nvSpPr>
          <p:cNvPr id="5" name="Footer Placeholder 4">
            <a:extLst>
              <a:ext uri="{FF2B5EF4-FFF2-40B4-BE49-F238E27FC236}">
                <a16:creationId xmlns:a16="http://schemas.microsoft.com/office/drawing/2014/main" id="{FA83D3CD-BC68-C6F2-1146-F0FE6A6C777D}"/>
              </a:ext>
            </a:extLst>
          </p:cNvPr>
          <p:cNvSpPr>
            <a:spLocks noGrp="1"/>
          </p:cNvSpPr>
          <p:nvPr>
            <p:ph type="ftr" sz="quarter" idx="3"/>
          </p:nvPr>
        </p:nvSpPr>
        <p:spPr>
          <a:xfrm>
            <a:off x="3342543" y="4962525"/>
            <a:ext cx="2458915" cy="180975"/>
          </a:xfrm>
          <a:prstGeom prst="rect">
            <a:avLst/>
          </a:prstGeom>
        </p:spPr>
        <p:txBody>
          <a:bodyPr vert="horz" lIns="91440" tIns="45720" rIns="91440" bIns="45720" rtlCol="0" anchor="ctr"/>
          <a:lstStyle>
            <a:lvl1pPr algn="ctr" fontAlgn="auto">
              <a:spcBef>
                <a:spcPts val="0"/>
              </a:spcBef>
              <a:spcAft>
                <a:spcPts val="0"/>
              </a:spcAft>
              <a:defRPr kumimoji="0" lang="en-NZ" sz="600" b="1" i="0" u="none" strike="noStrike" kern="1200" cap="none" spc="0" normalizeH="0" baseline="0" noProof="0">
                <a:ln>
                  <a:noFill/>
                </a:ln>
                <a:solidFill>
                  <a:schemeClr val="tx1">
                    <a:lumMod val="50000"/>
                    <a:lumOff val="50000"/>
                  </a:schemeClr>
                </a:solidFill>
                <a:effectLst/>
                <a:uLnTx/>
                <a:uFillTx/>
                <a:latin typeface="Serrano Office" pitchFamily="2" charset="0"/>
                <a:ea typeface="+mn-ea"/>
                <a:cs typeface="Tahoma" pitchFamily="34" charset="0"/>
              </a:defRPr>
            </a:lvl1pPr>
          </a:lstStyle>
          <a:p>
            <a:pPr>
              <a:defRPr/>
            </a:pPr>
            <a:r>
              <a:t>Confidential – Internal BNZ Discussion Only</a:t>
            </a:r>
          </a:p>
        </p:txBody>
      </p:sp>
      <p:sp>
        <p:nvSpPr>
          <p:cNvPr id="6" name="Slide Number Placeholder 5">
            <a:extLst>
              <a:ext uri="{FF2B5EF4-FFF2-40B4-BE49-F238E27FC236}">
                <a16:creationId xmlns:a16="http://schemas.microsoft.com/office/drawing/2014/main" id="{4A8BD42D-21F4-20FB-CD53-CE541ED0C074}"/>
              </a:ext>
            </a:extLst>
          </p:cNvPr>
          <p:cNvSpPr>
            <a:spLocks noGrp="1"/>
          </p:cNvSpPr>
          <p:nvPr>
            <p:ph type="sldNum" sz="quarter" idx="4"/>
          </p:nvPr>
        </p:nvSpPr>
        <p:spPr>
          <a:xfrm>
            <a:off x="8102112" y="4962525"/>
            <a:ext cx="907073" cy="180975"/>
          </a:xfrm>
          <a:prstGeom prst="rect">
            <a:avLst/>
          </a:prstGeom>
        </p:spPr>
        <p:txBody>
          <a:bodyPr vert="horz" wrap="square" lIns="91440" tIns="45720" rIns="91440" bIns="45720" numCol="1" anchor="ctr" anchorCtr="0" compatLnSpc="1">
            <a:prstTxWarp prst="textNoShape">
              <a:avLst/>
            </a:prstTxWarp>
          </a:bodyPr>
          <a:lstStyle>
            <a:lvl1pPr algn="r">
              <a:defRPr sz="600" b="1">
                <a:solidFill>
                  <a:srgbClr val="002060"/>
                </a:solidFill>
                <a:latin typeface="Serrano Office" pitchFamily="2" charset="0"/>
                <a:cs typeface="Tahoma" panose="020B0604030504040204" pitchFamily="34" charset="0"/>
              </a:defRPr>
            </a:lvl1pPr>
          </a:lstStyle>
          <a:p>
            <a:fld id="{3700C479-AE71-4420-8289-89A1C35041AC}" type="slidenum">
              <a:rPr lang="en-NZ" altLang="en-US"/>
              <a:pPr/>
              <a:t>‹#›</a:t>
            </a:fld>
            <a:endParaRPr lang="en-NZ" altLang="en-US"/>
          </a:p>
        </p:txBody>
      </p:sp>
      <p:pic>
        <p:nvPicPr>
          <p:cNvPr id="1030" name="Picture 46" descr="bnz-logo-rgb-pos">
            <a:extLst>
              <a:ext uri="{FF2B5EF4-FFF2-40B4-BE49-F238E27FC236}">
                <a16:creationId xmlns:a16="http://schemas.microsoft.com/office/drawing/2014/main" id="{65C2D431-A52A-8CE5-26FE-1F6B90BD8719}"/>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7592159" y="132160"/>
            <a:ext cx="1367203" cy="540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2783494"/>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 id="2147483882"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 id="2147483893" r:id="rId24"/>
    <p:sldLayoutId id="2147483894" r:id="rId25"/>
    <p:sldLayoutId id="2147483895" r:id="rId26"/>
    <p:sldLayoutId id="2147483896" r:id="rId27"/>
    <p:sldLayoutId id="2147483897" r:id="rId28"/>
    <p:sldLayoutId id="2147483898" r:id="rId29"/>
  </p:sldLayoutIdLst>
  <p:hf hdr="0" dt="0"/>
  <p:txStyles>
    <p:titleStyle>
      <a:lvl1pPr algn="l" rtl="0" eaLnBrk="0" fontAlgn="base" hangingPunct="0">
        <a:spcBef>
          <a:spcPct val="0"/>
        </a:spcBef>
        <a:spcAft>
          <a:spcPct val="0"/>
        </a:spcAft>
        <a:defRPr sz="1500" b="1" kern="1200">
          <a:solidFill>
            <a:schemeClr val="tx2"/>
          </a:solidFill>
          <a:latin typeface="Arial" pitchFamily="34" charset="0"/>
          <a:ea typeface="+mj-ea"/>
          <a:cs typeface="Arial" pitchFamily="34" charset="0"/>
        </a:defRPr>
      </a:lvl1pPr>
      <a:lvl2pPr algn="l" rtl="0" eaLnBrk="0" fontAlgn="base" hangingPunct="0">
        <a:spcBef>
          <a:spcPct val="0"/>
        </a:spcBef>
        <a:spcAft>
          <a:spcPct val="0"/>
        </a:spcAft>
        <a:defRPr sz="1500" b="1">
          <a:solidFill>
            <a:schemeClr val="tx2"/>
          </a:solidFill>
          <a:latin typeface="Arial" charset="0"/>
          <a:cs typeface="Arial" charset="0"/>
        </a:defRPr>
      </a:lvl2pPr>
      <a:lvl3pPr algn="l" rtl="0" eaLnBrk="0" fontAlgn="base" hangingPunct="0">
        <a:spcBef>
          <a:spcPct val="0"/>
        </a:spcBef>
        <a:spcAft>
          <a:spcPct val="0"/>
        </a:spcAft>
        <a:defRPr sz="1500" b="1">
          <a:solidFill>
            <a:schemeClr val="tx2"/>
          </a:solidFill>
          <a:latin typeface="Arial" charset="0"/>
          <a:cs typeface="Arial" charset="0"/>
        </a:defRPr>
      </a:lvl3pPr>
      <a:lvl4pPr algn="l" rtl="0" eaLnBrk="0" fontAlgn="base" hangingPunct="0">
        <a:spcBef>
          <a:spcPct val="0"/>
        </a:spcBef>
        <a:spcAft>
          <a:spcPct val="0"/>
        </a:spcAft>
        <a:defRPr sz="1500" b="1">
          <a:solidFill>
            <a:schemeClr val="tx2"/>
          </a:solidFill>
          <a:latin typeface="Arial" charset="0"/>
          <a:cs typeface="Arial" charset="0"/>
        </a:defRPr>
      </a:lvl4pPr>
      <a:lvl5pPr algn="l" rtl="0" eaLnBrk="0" fontAlgn="base" hangingPunct="0">
        <a:spcBef>
          <a:spcPct val="0"/>
        </a:spcBef>
        <a:spcAft>
          <a:spcPct val="0"/>
        </a:spcAft>
        <a:defRPr sz="1500" b="1">
          <a:solidFill>
            <a:schemeClr val="tx2"/>
          </a:solidFill>
          <a:latin typeface="Arial" charset="0"/>
          <a:cs typeface="Arial" charset="0"/>
        </a:defRPr>
      </a:lvl5pPr>
      <a:lvl6pPr marL="342900" algn="l" rtl="0" fontAlgn="base">
        <a:spcBef>
          <a:spcPct val="0"/>
        </a:spcBef>
        <a:spcAft>
          <a:spcPct val="0"/>
        </a:spcAft>
        <a:defRPr sz="1500" b="1">
          <a:solidFill>
            <a:srgbClr val="002060"/>
          </a:solidFill>
          <a:latin typeface="Trebuchet MS" pitchFamily="34" charset="0"/>
          <a:cs typeface="Tahoma" pitchFamily="34" charset="0"/>
        </a:defRPr>
      </a:lvl6pPr>
      <a:lvl7pPr marL="685800" algn="l" rtl="0" fontAlgn="base">
        <a:spcBef>
          <a:spcPct val="0"/>
        </a:spcBef>
        <a:spcAft>
          <a:spcPct val="0"/>
        </a:spcAft>
        <a:defRPr sz="1500" b="1">
          <a:solidFill>
            <a:srgbClr val="002060"/>
          </a:solidFill>
          <a:latin typeface="Trebuchet MS" pitchFamily="34" charset="0"/>
          <a:cs typeface="Tahoma" pitchFamily="34" charset="0"/>
        </a:defRPr>
      </a:lvl7pPr>
      <a:lvl8pPr marL="1028700" algn="l" rtl="0" fontAlgn="base">
        <a:spcBef>
          <a:spcPct val="0"/>
        </a:spcBef>
        <a:spcAft>
          <a:spcPct val="0"/>
        </a:spcAft>
        <a:defRPr sz="1500" b="1">
          <a:solidFill>
            <a:srgbClr val="002060"/>
          </a:solidFill>
          <a:latin typeface="Trebuchet MS" pitchFamily="34" charset="0"/>
          <a:cs typeface="Tahoma" pitchFamily="34" charset="0"/>
        </a:defRPr>
      </a:lvl8pPr>
      <a:lvl9pPr marL="1371600" algn="l" rtl="0" fontAlgn="base">
        <a:spcBef>
          <a:spcPct val="0"/>
        </a:spcBef>
        <a:spcAft>
          <a:spcPct val="0"/>
        </a:spcAft>
        <a:defRPr sz="1500" b="1">
          <a:solidFill>
            <a:srgbClr val="002060"/>
          </a:solidFill>
          <a:latin typeface="Trebuchet MS" pitchFamily="34" charset="0"/>
          <a:cs typeface="Tahoma" pitchFamily="34" charset="0"/>
        </a:defRPr>
      </a:lvl9pPr>
    </p:titleStyle>
    <p:bodyStyle>
      <a:lvl1pPr algn="l" rtl="0" eaLnBrk="0" fontAlgn="base" hangingPunct="0">
        <a:lnSpc>
          <a:spcPct val="120000"/>
        </a:lnSpc>
        <a:spcBef>
          <a:spcPts val="75"/>
        </a:spcBef>
        <a:spcAft>
          <a:spcPct val="0"/>
        </a:spcAft>
        <a:buFont typeface="Wingdings" panose="05000000000000000000" pitchFamily="2" charset="2"/>
        <a:defRPr sz="1200" kern="1200">
          <a:solidFill>
            <a:schemeClr val="tx1"/>
          </a:solidFill>
          <a:latin typeface="Arial" pitchFamily="34" charset="0"/>
          <a:ea typeface="+mn-ea"/>
          <a:cs typeface="Arial" pitchFamily="34" charset="0"/>
        </a:defRPr>
      </a:lvl1pPr>
      <a:lvl2pPr marL="202406" indent="-202406" algn="l" rtl="0" eaLnBrk="0" fontAlgn="base" hangingPunct="0">
        <a:lnSpc>
          <a:spcPct val="120000"/>
        </a:lnSpc>
        <a:spcBef>
          <a:spcPts val="75"/>
        </a:spcBef>
        <a:spcAft>
          <a:spcPct val="0"/>
        </a:spcAft>
        <a:buFont typeface="Serrano Office" pitchFamily="2" charset="0"/>
        <a:buChar char="›"/>
        <a:defRPr sz="1200" kern="1200">
          <a:solidFill>
            <a:schemeClr val="tx1"/>
          </a:solidFill>
          <a:latin typeface="Arial" pitchFamily="34" charset="0"/>
          <a:ea typeface="+mn-ea"/>
          <a:cs typeface="Arial" pitchFamily="34" charset="0"/>
        </a:defRPr>
      </a:lvl2pPr>
      <a:lvl3pPr marL="404813" indent="-202406" algn="l" rtl="0" eaLnBrk="0" fontAlgn="base" hangingPunct="0">
        <a:lnSpc>
          <a:spcPct val="120000"/>
        </a:lnSpc>
        <a:spcBef>
          <a:spcPts val="75"/>
        </a:spcBef>
        <a:spcAft>
          <a:spcPct val="0"/>
        </a:spcAft>
        <a:buFont typeface="Serrano Office" pitchFamily="2" charset="0"/>
        <a:buChar char="›"/>
        <a:defRPr sz="1050" kern="1200">
          <a:solidFill>
            <a:schemeClr val="tx1"/>
          </a:solidFill>
          <a:latin typeface="Arial" pitchFamily="34" charset="0"/>
          <a:ea typeface="+mn-ea"/>
          <a:cs typeface="Arial" pitchFamily="34" charset="0"/>
        </a:defRPr>
      </a:lvl3pPr>
      <a:lvl4pPr marL="607219" indent="-202406" algn="l" rtl="0" eaLnBrk="0" fontAlgn="base" hangingPunct="0">
        <a:lnSpc>
          <a:spcPct val="120000"/>
        </a:lnSpc>
        <a:spcBef>
          <a:spcPts val="75"/>
        </a:spcBef>
        <a:spcAft>
          <a:spcPct val="0"/>
        </a:spcAft>
        <a:buFont typeface="Arial" panose="020B0604020202020204" pitchFamily="34" charset="0"/>
        <a:buChar char="›"/>
        <a:defRPr sz="1050" kern="1200">
          <a:solidFill>
            <a:schemeClr val="tx1"/>
          </a:solidFill>
          <a:latin typeface="Arial" pitchFamily="34" charset="0"/>
          <a:ea typeface="+mn-ea"/>
          <a:cs typeface="Arial" pitchFamily="34" charset="0"/>
        </a:defRPr>
      </a:lvl4pPr>
      <a:lvl5pPr marL="809625" indent="-203597" algn="l" rtl="0" eaLnBrk="0" fontAlgn="base" hangingPunct="0">
        <a:lnSpc>
          <a:spcPct val="120000"/>
        </a:lnSpc>
        <a:spcBef>
          <a:spcPts val="75"/>
        </a:spcBef>
        <a:spcAft>
          <a:spcPct val="0"/>
        </a:spcAft>
        <a:buFont typeface="Arial" panose="020B0604020202020204" pitchFamily="34" charset="0"/>
        <a:buChar char="›"/>
        <a:defRPr sz="9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5.xml.rels><?xml version="1.0" encoding="UTF-8"?><Relationships xmlns="http://schemas.openxmlformats.org/package/2006/relationships"><Relationship Id="rId2" Type="http://schemas.openxmlformats.org/officeDocument/2006/relationships/hyperlink" Target="https://app.ap-southeast-2.privatelink.snowflakecomputing.com/bnz/dap_preprod_aws/#/finops-dashboard-dO4AjCP4N" TargetMode="External"/><Relationship Id="rId1" Type="http://schemas.openxmlformats.org/officeDocument/2006/relationships/slideLayout" Target="../slideLayouts/slideLayout166.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12.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6.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16.xml.rels><?xml version="1.0" encoding="UTF-8"?><Relationships xmlns="http://schemas.openxmlformats.org/package/2006/relationships"><Relationship Id="rId2" Type="http://schemas.openxmlformats.org/officeDocument/2006/relationships/hyperlink" Target="https://app.ap-southeast-2.privatelink.snowflakecomputing.com/bnz/dap_preprod_aws/#/finops-dashboard-dO4AjCP4N" TargetMode="External"/><Relationship Id="rId1" Type="http://schemas.openxmlformats.org/officeDocument/2006/relationships/slideLayout" Target="../slideLayouts/slideLayout16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18.xml.rels><?xml version="1.0" encoding="UTF-8"?><Relationships xmlns="http://schemas.openxmlformats.org/package/2006/relationships"><Relationship Id="rId3" Type="http://schemas.openxmlformats.org/officeDocument/2006/relationships/hyperlink" Target="https://confluence.nz.thenational.com/spaces/BAI/pages/1995278440/Row+Access+Policy+Design+Document" TargetMode="External"/><Relationship Id="rId2" Type="http://schemas.openxmlformats.org/officeDocument/2006/relationships/hyperlink" Target="https://confluence.nz.thenational.com/spaces/BAI/pages/2007668201/WIP+FinOps+Design" TargetMode="External"/><Relationship Id="rId1" Type="http://schemas.openxmlformats.org/officeDocument/2006/relationships/slideLayout" Target="../slideLayouts/slideLayout166.xml"/><Relationship Id="rId4" Type="http://schemas.openxmlformats.org/officeDocument/2006/relationships/hyperlink" Target="https://confluence.nz.thenational.com/spaces/BAI/pages/1606193437/BDH+DLD+-Audit+Logging+Mechanism+Solution" TargetMode="External"/></Relationships>
</file>

<file path=ppt/slides/_rels/slide19.xml.rels><?xml version="1.0" encoding="UTF-8"?><Relationships xmlns="http://schemas.openxmlformats.org/package/2006/relationships"><Relationship Id="rId1" Type="http://schemas.openxmlformats.org/officeDocument/2006/relationships/slideLayout" Target="../slideLayouts/slideLayout166.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8D71F04-B5C7-CD6E-DF53-08CFFB811BBD}"/>
              </a:ext>
            </a:extLst>
          </p:cNvPr>
          <p:cNvSpPr>
            <a:spLocks noGrp="1"/>
          </p:cNvSpPr>
          <p:nvPr>
            <p:ph type="ftr" sz="quarter" idx="10"/>
          </p:nvPr>
        </p:nvSpPr>
        <p:spPr/>
        <p:txBody>
          <a:bodyPr/>
          <a:lstStyle/>
          <a:p>
            <a:pPr defTabSz="685800">
              <a:defRPr/>
            </a:pPr>
            <a:r>
              <a:rPr lang="en-US">
                <a:solidFill>
                  <a:srgbClr val="202020">
                    <a:lumMod val="50000"/>
                    <a:lumOff val="50000"/>
                  </a:srgbClr>
                </a:solidFill>
              </a:rPr>
              <a:t>Confidential – Internal BNZ Discussion Only</a:t>
            </a:r>
          </a:p>
        </p:txBody>
      </p:sp>
      <p:sp>
        <p:nvSpPr>
          <p:cNvPr id="4" name="Slide Number Placeholder 3">
            <a:extLst>
              <a:ext uri="{FF2B5EF4-FFF2-40B4-BE49-F238E27FC236}">
                <a16:creationId xmlns:a16="http://schemas.microsoft.com/office/drawing/2014/main" id="{397BD1A4-C285-B149-739E-DED7C92B15CF}"/>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pPr defTabSz="685800" fontAlgn="base">
                <a:spcBef>
                  <a:spcPct val="0"/>
                </a:spcBef>
                <a:spcAft>
                  <a:spcPct val="0"/>
                </a:spcAft>
              </a:pPr>
              <a:t>1</a:t>
            </a:fld>
            <a:endParaRPr lang="en-NZ" altLang="en-US"/>
          </a:p>
        </p:txBody>
      </p:sp>
      <p:sp>
        <p:nvSpPr>
          <p:cNvPr id="5" name="PlaceHolder 1">
            <a:extLst>
              <a:ext uri="{FF2B5EF4-FFF2-40B4-BE49-F238E27FC236}">
                <a16:creationId xmlns:a16="http://schemas.microsoft.com/office/drawing/2014/main" id="{1A64E1B3-0165-5907-037B-7B991A874772}"/>
              </a:ext>
            </a:extLst>
          </p:cNvPr>
          <p:cNvSpPr txBox="1">
            <a:spLocks/>
          </p:cNvSpPr>
          <p:nvPr/>
        </p:nvSpPr>
        <p:spPr bwMode="auto">
          <a:xfrm>
            <a:off x="1028701" y="828630"/>
            <a:ext cx="6222206" cy="1235520"/>
          </a:xfrm>
          <a:prstGeom prst="rect">
            <a:avLst/>
          </a:prstGeom>
          <a:noFill/>
          <a:ln w="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68580" rIns="68580" bIns="68580" numCol="1" anchor="b" anchorCtr="0" compatLnSpc="1">
            <a:prstTxWarp prst="textNoShape">
              <a:avLst/>
            </a:prstTxWarp>
            <a:normAutofit/>
          </a:bodyPr>
          <a:lstStyle>
            <a:lvl1pPr algn="l" rtl="0" eaLnBrk="0" fontAlgn="base" hangingPunct="0">
              <a:spcBef>
                <a:spcPct val="0"/>
              </a:spcBef>
              <a:spcAft>
                <a:spcPct val="0"/>
              </a:spcAft>
              <a:defRPr sz="2000" b="1" kern="1200">
                <a:solidFill>
                  <a:schemeClr val="tx2"/>
                </a:solidFill>
                <a:latin typeface="Arial" pitchFamily="34" charset="0"/>
                <a:ea typeface="+mj-ea"/>
                <a:cs typeface="Arial" pitchFamily="34" charset="0"/>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rgbClr val="002060"/>
                </a:solidFill>
                <a:latin typeface="Trebuchet MS" pitchFamily="34" charset="0"/>
                <a:cs typeface="Tahoma" pitchFamily="34" charset="0"/>
              </a:defRPr>
            </a:lvl6pPr>
            <a:lvl7pPr marL="914400" algn="l" rtl="0" fontAlgn="base">
              <a:spcBef>
                <a:spcPct val="0"/>
              </a:spcBef>
              <a:spcAft>
                <a:spcPct val="0"/>
              </a:spcAft>
              <a:defRPr sz="2000" b="1">
                <a:solidFill>
                  <a:srgbClr val="002060"/>
                </a:solidFill>
                <a:latin typeface="Trebuchet MS" pitchFamily="34" charset="0"/>
                <a:cs typeface="Tahoma" pitchFamily="34" charset="0"/>
              </a:defRPr>
            </a:lvl7pPr>
            <a:lvl8pPr marL="1371600" algn="l" rtl="0" fontAlgn="base">
              <a:spcBef>
                <a:spcPct val="0"/>
              </a:spcBef>
              <a:spcAft>
                <a:spcPct val="0"/>
              </a:spcAft>
              <a:defRPr sz="2000" b="1">
                <a:solidFill>
                  <a:srgbClr val="002060"/>
                </a:solidFill>
                <a:latin typeface="Trebuchet MS" pitchFamily="34" charset="0"/>
                <a:cs typeface="Tahoma" pitchFamily="34" charset="0"/>
              </a:defRPr>
            </a:lvl8pPr>
            <a:lvl9pPr marL="1828800" algn="l" rtl="0" fontAlgn="base">
              <a:spcBef>
                <a:spcPct val="0"/>
              </a:spcBef>
              <a:spcAft>
                <a:spcPct val="0"/>
              </a:spcAft>
              <a:defRPr sz="2000" b="1">
                <a:solidFill>
                  <a:srgbClr val="002060"/>
                </a:solidFill>
                <a:latin typeface="Trebuchet MS" pitchFamily="34" charset="0"/>
                <a:cs typeface="Tahoma" pitchFamily="34" charset="0"/>
              </a:defRPr>
            </a:lvl9pPr>
          </a:lstStyle>
          <a:p>
            <a:pPr algn="r" defTabSz="685800">
              <a:tabLst>
                <a:tab pos="0" algn="l"/>
              </a:tabLst>
            </a:pPr>
            <a:r>
              <a:rPr lang="en-US" sz="3375" b="0" dirty="0">
                <a:solidFill>
                  <a:srgbClr val="202020"/>
                </a:solidFill>
                <a:latin typeface="+mj-lt"/>
                <a:ea typeface="Calibri Light" panose="020F0302020204030204" pitchFamily="34" charset="0"/>
                <a:cs typeface="Calibri Light" panose="020F0302020204030204" pitchFamily="34" charset="0"/>
              </a:rPr>
              <a:t>FinOps</a:t>
            </a:r>
            <a:r>
              <a:rPr lang="en-US" sz="3375" b="0" dirty="0">
                <a:solidFill>
                  <a:srgbClr val="202020"/>
                </a:solidFill>
                <a:latin typeface="Calibri Light" panose="020F0302020204030204" pitchFamily="34" charset="0"/>
                <a:ea typeface="Calibri Light" panose="020F0302020204030204" pitchFamily="34" charset="0"/>
                <a:cs typeface="Calibri Light" panose="020F0302020204030204" pitchFamily="34" charset="0"/>
              </a:rPr>
              <a:t xml:space="preserve"> </a:t>
            </a:r>
            <a:r>
              <a:rPr lang="en-US" sz="3375" b="0" dirty="0">
                <a:solidFill>
                  <a:srgbClr val="202020"/>
                </a:solidFill>
                <a:latin typeface="+mj-lt"/>
                <a:ea typeface="Calibri Light" panose="020F0302020204030204" pitchFamily="34" charset="0"/>
                <a:cs typeface="Calibri Light" panose="020F0302020204030204" pitchFamily="34" charset="0"/>
              </a:rPr>
              <a:t>Implementation</a:t>
            </a:r>
            <a:r>
              <a:rPr lang="en-US" sz="3375" b="0" dirty="0">
                <a:solidFill>
                  <a:srgbClr val="202020"/>
                </a:solidFill>
                <a:latin typeface="Calibri Light" panose="020F0302020204030204" pitchFamily="34" charset="0"/>
                <a:ea typeface="Calibri Light" panose="020F0302020204030204" pitchFamily="34" charset="0"/>
                <a:cs typeface="Calibri Light" panose="020F0302020204030204" pitchFamily="34" charset="0"/>
              </a:rPr>
              <a:t xml:space="preserve">    </a:t>
            </a:r>
            <a:endParaRPr lang="fr-FR" sz="3375" b="0" dirty="0">
              <a:solidFill>
                <a:srgbClr val="202020"/>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6" name="PlaceHolder 2">
            <a:extLst>
              <a:ext uri="{FF2B5EF4-FFF2-40B4-BE49-F238E27FC236}">
                <a16:creationId xmlns:a16="http://schemas.microsoft.com/office/drawing/2014/main" id="{3030467A-9263-E60F-FFAC-2E17EBCB600C}"/>
              </a:ext>
            </a:extLst>
          </p:cNvPr>
          <p:cNvSpPr txBox="1">
            <a:spLocks/>
          </p:cNvSpPr>
          <p:nvPr/>
        </p:nvSpPr>
        <p:spPr bwMode="auto">
          <a:xfrm>
            <a:off x="1028700" y="2378970"/>
            <a:ext cx="2207250" cy="1307070"/>
          </a:xfrm>
          <a:prstGeom prst="rect">
            <a:avLst/>
          </a:prstGeom>
          <a:noFill/>
          <a:ln w="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68580" rIns="68580" bIns="68580" numCol="1" anchor="t" anchorCtr="0" compatLnSpc="1">
            <a:prstTxWarp prst="textNoShape">
              <a:avLst/>
            </a:prstTxWarp>
            <a:normAutofit/>
          </a:bodyPr>
          <a:lstStyle>
            <a:lvl1pPr algn="l" rtl="0" eaLnBrk="0" fontAlgn="base" hangingPunct="0">
              <a:spcBef>
                <a:spcPct val="0"/>
              </a:spcBef>
              <a:spcAft>
                <a:spcPct val="0"/>
              </a:spcAft>
              <a:defRPr sz="2000" b="1" kern="1200">
                <a:solidFill>
                  <a:schemeClr val="tx2"/>
                </a:solidFill>
                <a:latin typeface="Arial" pitchFamily="34" charset="0"/>
                <a:ea typeface="+mj-ea"/>
                <a:cs typeface="Arial" pitchFamily="34" charset="0"/>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rgbClr val="002060"/>
                </a:solidFill>
                <a:latin typeface="Trebuchet MS" pitchFamily="34" charset="0"/>
                <a:cs typeface="Tahoma" pitchFamily="34" charset="0"/>
              </a:defRPr>
            </a:lvl6pPr>
            <a:lvl7pPr marL="914400" algn="l" rtl="0" fontAlgn="base">
              <a:spcBef>
                <a:spcPct val="0"/>
              </a:spcBef>
              <a:spcAft>
                <a:spcPct val="0"/>
              </a:spcAft>
              <a:defRPr sz="2000" b="1">
                <a:solidFill>
                  <a:srgbClr val="002060"/>
                </a:solidFill>
                <a:latin typeface="Trebuchet MS" pitchFamily="34" charset="0"/>
                <a:cs typeface="Tahoma" pitchFamily="34" charset="0"/>
              </a:defRPr>
            </a:lvl7pPr>
            <a:lvl8pPr marL="1371600" algn="l" rtl="0" fontAlgn="base">
              <a:spcBef>
                <a:spcPct val="0"/>
              </a:spcBef>
              <a:spcAft>
                <a:spcPct val="0"/>
              </a:spcAft>
              <a:defRPr sz="2000" b="1">
                <a:solidFill>
                  <a:srgbClr val="002060"/>
                </a:solidFill>
                <a:latin typeface="Trebuchet MS" pitchFamily="34" charset="0"/>
                <a:cs typeface="Tahoma" pitchFamily="34" charset="0"/>
              </a:defRPr>
            </a:lvl8pPr>
            <a:lvl9pPr marL="1828800" algn="l" rtl="0" fontAlgn="base">
              <a:spcBef>
                <a:spcPct val="0"/>
              </a:spcBef>
              <a:spcAft>
                <a:spcPct val="0"/>
              </a:spcAft>
              <a:defRPr sz="2000" b="1">
                <a:solidFill>
                  <a:srgbClr val="002060"/>
                </a:solidFill>
                <a:latin typeface="Trebuchet MS" pitchFamily="34" charset="0"/>
                <a:cs typeface="Tahoma" pitchFamily="34" charset="0"/>
              </a:defRPr>
            </a:lvl9pPr>
          </a:lstStyle>
          <a:p>
            <a:pPr defTabSz="685800">
              <a:tabLst>
                <a:tab pos="0" algn="l"/>
              </a:tabLst>
            </a:pPr>
            <a:r>
              <a:rPr lang="en-US" sz="1200" b="0" dirty="0">
                <a:solidFill>
                  <a:srgbClr val="202020"/>
                </a:solidFill>
                <a:latin typeface="+mj-lt"/>
                <a:ea typeface="Calibri Light" panose="020F0302020204030204" pitchFamily="34" charset="0"/>
                <a:cs typeface="Calibri Light" panose="020F0302020204030204" pitchFamily="34" charset="0"/>
              </a:rPr>
              <a:t>Insights and Metrics Overview</a:t>
            </a:r>
            <a:endParaRPr lang="en-US" sz="1200" b="0" dirty="0">
              <a:solidFill>
                <a:srgbClr val="000000"/>
              </a:solidFill>
              <a:latin typeface="+mj-lt"/>
              <a:ea typeface="Calibri Light" panose="020F0302020204030204" pitchFamily="34" charset="0"/>
              <a:cs typeface="Calibri Light" panose="020F0302020204030204" pitchFamily="34" charset="0"/>
            </a:endParaRPr>
          </a:p>
        </p:txBody>
      </p:sp>
      <p:cxnSp>
        <p:nvCxnSpPr>
          <p:cNvPr id="7" name="Google Shape;141;p28">
            <a:extLst>
              <a:ext uri="{FF2B5EF4-FFF2-40B4-BE49-F238E27FC236}">
                <a16:creationId xmlns:a16="http://schemas.microsoft.com/office/drawing/2014/main" id="{6FE74BD2-CFAE-FC85-186A-55E2489820B1}"/>
              </a:ext>
            </a:extLst>
          </p:cNvPr>
          <p:cNvCxnSpPr/>
          <p:nvPr/>
        </p:nvCxnSpPr>
        <p:spPr>
          <a:xfrm>
            <a:off x="800010" y="2207250"/>
            <a:ext cx="6976530" cy="270"/>
          </a:xfrm>
          <a:prstGeom prst="straightConnector1">
            <a:avLst/>
          </a:prstGeom>
          <a:ln w="9525">
            <a:solidFill>
              <a:srgbClr val="083C77"/>
            </a:solidFill>
            <a:round/>
          </a:ln>
        </p:spPr>
      </p:cxnSp>
    </p:spTree>
    <p:extLst>
      <p:ext uri="{BB962C8B-B14F-4D97-AF65-F5344CB8AC3E}">
        <p14:creationId xmlns:p14="http://schemas.microsoft.com/office/powerpoint/2010/main" val="1902037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6637F-BDE6-6A78-2218-95BA1E0C015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C6B00D1-3BCB-596D-281D-694BE494829F}"/>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DFE22DDF-A5CF-69AB-3FA2-050D0365F0D4}"/>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2</a:t>
            </a:fld>
            <a:endParaRPr lang="en-NZ" altLang="en-US" dirty="0">
              <a:latin typeface="+mj-lt"/>
            </a:endParaRPr>
          </a:p>
        </p:txBody>
      </p:sp>
      <p:sp>
        <p:nvSpPr>
          <p:cNvPr id="2" name="Text 0">
            <a:extLst>
              <a:ext uri="{FF2B5EF4-FFF2-40B4-BE49-F238E27FC236}">
                <a16:creationId xmlns:a16="http://schemas.microsoft.com/office/drawing/2014/main" id="{DDC9ACC5-48E5-CA42-49BC-950FB15E848F}"/>
              </a:ext>
            </a:extLst>
          </p:cNvPr>
          <p:cNvSpPr/>
          <p:nvPr/>
        </p:nvSpPr>
        <p:spPr>
          <a:xfrm>
            <a:off x="457200" y="365760"/>
            <a:ext cx="2480733" cy="548640"/>
          </a:xfrm>
          <a:prstGeom prst="rect">
            <a:avLst/>
          </a:prstGeom>
          <a:noFill/>
          <a:ln/>
        </p:spPr>
        <p:txBody>
          <a:bodyPr wrap="square" rtlCol="0" anchor="ctr"/>
          <a:lstStyle/>
          <a:p>
            <a:pPr marL="0" marR="0" lvl="0" algn="r" fontAlgn="auto">
              <a:spcBef>
                <a:spcPct val="0"/>
              </a:spcBef>
              <a:spcAft>
                <a:spcPts val="0"/>
              </a:spcAft>
              <a:buClrTx/>
              <a:buSzTx/>
              <a:tabLst>
                <a:tab pos="0" algn="l"/>
              </a:tabLst>
              <a:defRPr/>
            </a:pPr>
            <a:r>
              <a:rPr lang="en-US" sz="3200" dirty="0">
                <a:solidFill>
                  <a:schemeClr val="dk1"/>
                </a:solidFill>
                <a:latin typeface="+mj-lt"/>
                <a:ea typeface="Calibri Light" panose="020F0302020204030204" pitchFamily="34" charset="0"/>
                <a:cs typeface="Calibri Light" panose="020F0302020204030204" pitchFamily="34" charset="0"/>
              </a:rPr>
              <a:t>Introduction</a:t>
            </a:r>
          </a:p>
        </p:txBody>
      </p:sp>
      <p:sp>
        <p:nvSpPr>
          <p:cNvPr id="8" name="Text 2">
            <a:extLst>
              <a:ext uri="{FF2B5EF4-FFF2-40B4-BE49-F238E27FC236}">
                <a16:creationId xmlns:a16="http://schemas.microsoft.com/office/drawing/2014/main" id="{B5CEA52F-C44A-12A8-A77C-750BE5E8357F}"/>
              </a:ext>
            </a:extLst>
          </p:cNvPr>
          <p:cNvSpPr/>
          <p:nvPr/>
        </p:nvSpPr>
        <p:spPr>
          <a:xfrm>
            <a:off x="203200" y="1234440"/>
            <a:ext cx="8229600" cy="32004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This presentation provides a comprehensive overview of the FinOps implementation in Snowflake, focusing on controlling, optimizing, and governing cloud data platform spend to ensure every credit delivers measurable business value.</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63636"/>
                </a:solidFill>
                <a:effectLst/>
                <a:uLnTx/>
                <a:uFillTx/>
                <a:latin typeface="+mj-lt"/>
                <a:ea typeface="+mn-ea"/>
                <a:cs typeface="+mn-cs"/>
              </a:rPr>
              <a:t xml:space="preserve"> </a:t>
            </a:r>
            <a:endParaRPr kumimoji="0" lang="en-US" sz="1400" b="1" i="0" u="none" strike="noStrike" kern="1200" cap="none" spc="0" normalizeH="0" baseline="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Key Focus Areas:</a:t>
            </a:r>
            <a:endParaRPr kumimoji="0" lang="en-US" sz="1400" b="1"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Cost visibility and accountability across all zones and teams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Row-level security ensuring data privacy while maintaining transparency</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Comprehensive monitoring of credit consumption, storage, and query performance</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Actionable dashboards for proactive cost management and optimization</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cxnSp>
        <p:nvCxnSpPr>
          <p:cNvPr id="9" name="Google Shape;141;p28">
            <a:extLst>
              <a:ext uri="{FF2B5EF4-FFF2-40B4-BE49-F238E27FC236}">
                <a16:creationId xmlns:a16="http://schemas.microsoft.com/office/drawing/2014/main" id="{24EE3330-1523-CFF2-7BC2-9A59112D0108}"/>
              </a:ext>
            </a:extLst>
          </p:cNvPr>
          <p:cNvCxnSpPr>
            <a:cxnSpLocks/>
          </p:cNvCxnSpPr>
          <p:nvPr/>
        </p:nvCxnSpPr>
        <p:spPr>
          <a:xfrm>
            <a:off x="0" y="1005840"/>
            <a:ext cx="9144000" cy="0"/>
          </a:xfrm>
          <a:prstGeom prst="straightConnector1">
            <a:avLst/>
          </a:prstGeom>
          <a:ln w="9525">
            <a:solidFill>
              <a:srgbClr val="083C77"/>
            </a:solidFill>
            <a:round/>
          </a:ln>
        </p:spPr>
      </p:cxnSp>
    </p:spTree>
    <p:extLst>
      <p:ext uri="{BB962C8B-B14F-4D97-AF65-F5344CB8AC3E}">
        <p14:creationId xmlns:p14="http://schemas.microsoft.com/office/powerpoint/2010/main" val="4160634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5F637-F44D-BF95-8D80-AC227B7A3BC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A53217-3B48-DE89-9859-A8D53C16E274}"/>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1EE45CC2-1EF9-171E-8431-1745C95BB8F2}"/>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3</a:t>
            </a:fld>
            <a:endParaRPr lang="en-NZ" altLang="en-US" dirty="0">
              <a:latin typeface="+mj-lt"/>
            </a:endParaRPr>
          </a:p>
        </p:txBody>
      </p:sp>
      <p:sp>
        <p:nvSpPr>
          <p:cNvPr id="2" name="Text 0">
            <a:extLst>
              <a:ext uri="{FF2B5EF4-FFF2-40B4-BE49-F238E27FC236}">
                <a16:creationId xmlns:a16="http://schemas.microsoft.com/office/drawing/2014/main" id="{2DA38AC2-37AA-28DA-43C7-364BBA6A105C}"/>
              </a:ext>
            </a:extLst>
          </p:cNvPr>
          <p:cNvSpPr/>
          <p:nvPr/>
        </p:nvSpPr>
        <p:spPr>
          <a:xfrm>
            <a:off x="457200" y="365760"/>
            <a:ext cx="6648450" cy="548640"/>
          </a:xfrm>
          <a:prstGeom prst="rect">
            <a:avLst/>
          </a:prstGeom>
          <a:noFill/>
          <a:ln/>
        </p:spPr>
        <p:txBody>
          <a:bodyPr wrap="square" rtlCol="0" anchor="ctr"/>
          <a:lstStyle/>
          <a:p>
            <a:pPr lvl="0">
              <a:spcBef>
                <a:spcPct val="0"/>
              </a:spcBef>
              <a:tabLst>
                <a:tab pos="0" algn="l"/>
              </a:tabLst>
              <a:defRPr/>
            </a:pPr>
            <a:r>
              <a:rPr lang="en-US" sz="3200" dirty="0"/>
              <a:t>What We're Offering with FinOps</a:t>
            </a:r>
            <a:endParaRPr lang="en-US" sz="3200" dirty="0">
              <a:solidFill>
                <a:schemeClr val="dk1"/>
              </a:solidFill>
              <a:latin typeface="+mj-lt"/>
              <a:ea typeface="Calibri Light" panose="020F0302020204030204" pitchFamily="34" charset="0"/>
              <a:cs typeface="Calibri Light" panose="020F0302020204030204" pitchFamily="34" charset="0"/>
            </a:endParaRPr>
          </a:p>
        </p:txBody>
      </p:sp>
      <p:sp>
        <p:nvSpPr>
          <p:cNvPr id="8" name="Text 2">
            <a:extLst>
              <a:ext uri="{FF2B5EF4-FFF2-40B4-BE49-F238E27FC236}">
                <a16:creationId xmlns:a16="http://schemas.microsoft.com/office/drawing/2014/main" id="{9BD25FA5-455F-D605-A266-4019256FD945}"/>
              </a:ext>
            </a:extLst>
          </p:cNvPr>
          <p:cNvSpPr/>
          <p:nvPr/>
        </p:nvSpPr>
        <p:spPr>
          <a:xfrm>
            <a:off x="203200" y="1234440"/>
            <a:ext cx="8229600" cy="32004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cxnSp>
        <p:nvCxnSpPr>
          <p:cNvPr id="9" name="Google Shape;141;p28">
            <a:extLst>
              <a:ext uri="{FF2B5EF4-FFF2-40B4-BE49-F238E27FC236}">
                <a16:creationId xmlns:a16="http://schemas.microsoft.com/office/drawing/2014/main" id="{836553B6-78B6-61A5-EF10-35221C5BF21D}"/>
              </a:ext>
            </a:extLst>
          </p:cNvPr>
          <p:cNvCxnSpPr>
            <a:cxnSpLocks/>
          </p:cNvCxnSpPr>
          <p:nvPr/>
        </p:nvCxnSpPr>
        <p:spPr>
          <a:xfrm>
            <a:off x="0" y="1005840"/>
            <a:ext cx="9144000" cy="0"/>
          </a:xfrm>
          <a:prstGeom prst="straightConnector1">
            <a:avLst/>
          </a:prstGeom>
          <a:ln w="9525">
            <a:solidFill>
              <a:srgbClr val="083C77"/>
            </a:solidFill>
            <a:round/>
          </a:ln>
        </p:spPr>
      </p:cxnSp>
      <p:sp>
        <p:nvSpPr>
          <p:cNvPr id="6" name="TextBox 5">
            <a:extLst>
              <a:ext uri="{FF2B5EF4-FFF2-40B4-BE49-F238E27FC236}">
                <a16:creationId xmlns:a16="http://schemas.microsoft.com/office/drawing/2014/main" id="{28FC0C9D-24F9-F6B1-A19B-72A5AB164D55}"/>
              </a:ext>
            </a:extLst>
          </p:cNvPr>
          <p:cNvSpPr txBox="1"/>
          <p:nvPr/>
        </p:nvSpPr>
        <p:spPr>
          <a:xfrm>
            <a:off x="203199" y="1072753"/>
            <a:ext cx="4747419" cy="369332"/>
          </a:xfrm>
          <a:prstGeom prst="rect">
            <a:avLst/>
          </a:prstGeom>
          <a:solidFill>
            <a:schemeClr val="bg1"/>
          </a:solidFill>
          <a:ln>
            <a:noFill/>
          </a:ln>
        </p:spPr>
        <p:txBody>
          <a:bodyPr wrap="square">
            <a:spAutoFit/>
          </a:bodyPr>
          <a:lstStyle/>
          <a:p>
            <a:r>
              <a:rPr lang="en-US" b="1" dirty="0"/>
              <a:t>What is FinOps?</a:t>
            </a:r>
            <a:endParaRPr lang="en-US" dirty="0"/>
          </a:p>
        </p:txBody>
      </p:sp>
      <p:sp>
        <p:nvSpPr>
          <p:cNvPr id="10" name="TextBox 9">
            <a:extLst>
              <a:ext uri="{FF2B5EF4-FFF2-40B4-BE49-F238E27FC236}">
                <a16:creationId xmlns:a16="http://schemas.microsoft.com/office/drawing/2014/main" id="{9F6E9B38-D00D-C134-2E8F-F6BA05E13F57}"/>
              </a:ext>
            </a:extLst>
          </p:cNvPr>
          <p:cNvSpPr txBox="1"/>
          <p:nvPr/>
        </p:nvSpPr>
        <p:spPr>
          <a:xfrm>
            <a:off x="203201" y="1382762"/>
            <a:ext cx="8566944" cy="646331"/>
          </a:xfrm>
          <a:prstGeom prst="rect">
            <a:avLst/>
          </a:prstGeom>
          <a:solidFill>
            <a:schemeClr val="bg1"/>
          </a:solidFill>
          <a:ln>
            <a:noFill/>
          </a:ln>
        </p:spPr>
        <p:txBody>
          <a:bodyPr wrap="square">
            <a:spAutoFit/>
          </a:bodyPr>
          <a:lstStyle/>
          <a:p>
            <a:r>
              <a:rPr lang="en-US" sz="1200" dirty="0"/>
              <a:t>FinOps (Financial Operations) is a cultural practice that brings financial accountability to cloud spending. It enables teams to make informed trade-offs between speed, cost, and quality by providing visibility, control, and optimization of cloud resources in real-time</a:t>
            </a:r>
          </a:p>
        </p:txBody>
      </p:sp>
      <p:sp>
        <p:nvSpPr>
          <p:cNvPr id="12" name="TextBox 11">
            <a:extLst>
              <a:ext uri="{FF2B5EF4-FFF2-40B4-BE49-F238E27FC236}">
                <a16:creationId xmlns:a16="http://schemas.microsoft.com/office/drawing/2014/main" id="{D4C1FEDC-2FFA-4D54-69A6-6F38CD952CF4}"/>
              </a:ext>
            </a:extLst>
          </p:cNvPr>
          <p:cNvSpPr txBox="1"/>
          <p:nvPr/>
        </p:nvSpPr>
        <p:spPr>
          <a:xfrm>
            <a:off x="203199" y="2041445"/>
            <a:ext cx="3139344" cy="369332"/>
          </a:xfrm>
          <a:prstGeom prst="rect">
            <a:avLst/>
          </a:prstGeom>
          <a:solidFill>
            <a:schemeClr val="bg1"/>
          </a:solidFill>
          <a:ln>
            <a:noFill/>
          </a:ln>
        </p:spPr>
        <p:txBody>
          <a:bodyPr wrap="square">
            <a:spAutoFit/>
          </a:bodyPr>
          <a:lstStyle/>
          <a:p>
            <a:r>
              <a:rPr lang="en-US" dirty="0">
                <a:solidFill>
                  <a:schemeClr val="tx2"/>
                </a:solidFill>
              </a:rPr>
              <a:t>Core FinOps Capabilities</a:t>
            </a:r>
          </a:p>
        </p:txBody>
      </p:sp>
      <p:sp>
        <p:nvSpPr>
          <p:cNvPr id="16" name="TextBox 15">
            <a:extLst>
              <a:ext uri="{FF2B5EF4-FFF2-40B4-BE49-F238E27FC236}">
                <a16:creationId xmlns:a16="http://schemas.microsoft.com/office/drawing/2014/main" id="{AC1B2AB2-0AF8-3EA9-9A49-94465AD7924C}"/>
              </a:ext>
            </a:extLst>
          </p:cNvPr>
          <p:cNvSpPr txBox="1"/>
          <p:nvPr/>
        </p:nvSpPr>
        <p:spPr>
          <a:xfrm>
            <a:off x="203199" y="2454710"/>
            <a:ext cx="8026401" cy="2123658"/>
          </a:xfrm>
          <a:prstGeom prst="rect">
            <a:avLst/>
          </a:prstGeom>
          <a:solidFill>
            <a:schemeClr val="bg1"/>
          </a:solidFill>
          <a:ln>
            <a:noFill/>
          </a:ln>
        </p:spPr>
        <p:txBody>
          <a:bodyPr wrap="square">
            <a:spAutoFit/>
          </a:bodyPr>
          <a:lstStyle/>
          <a:p>
            <a:r>
              <a:rPr lang="en-US" sz="1200" b="1" dirty="0">
                <a:effectLst/>
              </a:rPr>
              <a:t>Cost Visibility &amp; Transparency</a:t>
            </a:r>
            <a:endParaRPr lang="en-US" sz="1200" dirty="0"/>
          </a:p>
          <a:p>
            <a:r>
              <a:rPr lang="en-US" sz="1200" dirty="0">
                <a:effectLst/>
              </a:rPr>
              <a:t>Complete view of Snowflake credit consumption across all teams</a:t>
            </a:r>
          </a:p>
          <a:p>
            <a:endParaRPr lang="en-US" sz="1200" dirty="0"/>
          </a:p>
          <a:p>
            <a:r>
              <a:rPr lang="en-US" sz="1200" b="1" dirty="0">
                <a:effectLst/>
              </a:rPr>
              <a:t>Accountability &amp; Chargeback</a:t>
            </a:r>
            <a:endParaRPr lang="en-US" sz="1200" dirty="0"/>
          </a:p>
          <a:p>
            <a:r>
              <a:rPr lang="en-US" sz="1200" dirty="0">
                <a:effectLst/>
              </a:rPr>
              <a:t>Track costs by warehouse, user, and workload for accurate attribution</a:t>
            </a:r>
          </a:p>
          <a:p>
            <a:endParaRPr lang="en-US" sz="1200" dirty="0"/>
          </a:p>
          <a:p>
            <a:r>
              <a:rPr lang="en-US" sz="1200" b="1" dirty="0">
                <a:effectLst/>
              </a:rPr>
              <a:t>Cost Optimization</a:t>
            </a:r>
            <a:endParaRPr lang="en-US" sz="1200" dirty="0"/>
          </a:p>
          <a:p>
            <a:r>
              <a:rPr lang="en-US" sz="1200" dirty="0">
                <a:effectLst/>
              </a:rPr>
              <a:t>Identify inefficiencies and right-size resources to reduce waste</a:t>
            </a:r>
          </a:p>
          <a:p>
            <a:endParaRPr lang="en-US" sz="1200" dirty="0"/>
          </a:p>
          <a:p>
            <a:r>
              <a:rPr lang="en-US" sz="1200" b="1" dirty="0">
                <a:effectLst/>
              </a:rPr>
              <a:t>Forecasting &amp; Budgeting</a:t>
            </a:r>
            <a:endParaRPr lang="en-US" sz="1200" dirty="0"/>
          </a:p>
          <a:p>
            <a:r>
              <a:rPr lang="en-US" sz="1200" dirty="0">
                <a:effectLst/>
              </a:rPr>
              <a:t>Predict future costs and set budget thresholds with alerts</a:t>
            </a:r>
            <a:endParaRPr lang="en-US" sz="1200" dirty="0"/>
          </a:p>
        </p:txBody>
      </p:sp>
    </p:spTree>
    <p:extLst>
      <p:ext uri="{BB962C8B-B14F-4D97-AF65-F5344CB8AC3E}">
        <p14:creationId xmlns:p14="http://schemas.microsoft.com/office/powerpoint/2010/main" val="1971497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BFD41-B820-E974-B690-7954B460728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09434EE-247D-E5F8-F6B4-9A59692767A0}"/>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5A1F3630-9ABF-7473-C2CE-06F03DA8D4F8}"/>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4</a:t>
            </a:fld>
            <a:endParaRPr lang="en-NZ" altLang="en-US">
              <a:latin typeface="+mj-lt"/>
            </a:endParaRPr>
          </a:p>
        </p:txBody>
      </p:sp>
      <p:sp>
        <p:nvSpPr>
          <p:cNvPr id="78" name="Rectangle 77">
            <a:extLst>
              <a:ext uri="{FF2B5EF4-FFF2-40B4-BE49-F238E27FC236}">
                <a16:creationId xmlns:a16="http://schemas.microsoft.com/office/drawing/2014/main" id="{98189A5C-64DF-22E3-1CBB-009359A6AEF2}"/>
              </a:ext>
            </a:extLst>
          </p:cNvPr>
          <p:cNvSpPr/>
          <p:nvPr/>
        </p:nvSpPr>
        <p:spPr>
          <a:xfrm>
            <a:off x="971550" y="476280"/>
            <a:ext cx="1061357" cy="861774"/>
          </a:xfrm>
          <a:prstGeom prst="rect">
            <a:avLst/>
          </a:prstGeom>
          <a:noFill/>
          <a:ln w="0">
            <a:noFill/>
          </a:ln>
        </p:spPr>
        <p:style>
          <a:lnRef idx="0">
            <a:scrgbClr r="0" g="0" b="0"/>
          </a:lnRef>
          <a:fillRef idx="0">
            <a:scrgbClr r="0" g="0" b="0"/>
          </a:fillRef>
          <a:effectRef idx="0">
            <a:scrgbClr r="0" g="0" b="0"/>
          </a:effectRef>
          <a:fontRef idx="minor"/>
        </p:style>
        <p:txBody>
          <a:bodyPr wrap="square" anchor="t">
            <a:spAutoFit/>
          </a:bodyPr>
          <a:lstStyle/>
          <a:p>
            <a:pPr defTabSz="914400">
              <a:lnSpc>
                <a:spcPct val="100000"/>
              </a:lnSpc>
              <a:tabLst>
                <a:tab pos="0" algn="l"/>
              </a:tabLst>
            </a:pPr>
            <a:r>
              <a:rPr lang="en-US" sz="5000" b="1" u="none" strike="noStrike" dirty="0">
                <a:solidFill>
                  <a:schemeClr val="dk1"/>
                </a:solidFill>
                <a:effectLst/>
                <a:uFillTx/>
                <a:latin typeface="+mj-lt"/>
              </a:rPr>
              <a:t>01</a:t>
            </a:r>
            <a:endParaRPr lang="en-US" sz="5000" b="0" u="none" strike="noStrike" dirty="0">
              <a:solidFill>
                <a:srgbClr val="000000"/>
              </a:solidFill>
              <a:effectLst/>
              <a:uFillTx/>
              <a:latin typeface="+mj-lt"/>
            </a:endParaRPr>
          </a:p>
        </p:txBody>
      </p:sp>
      <p:sp>
        <p:nvSpPr>
          <p:cNvPr id="79" name="Rectangle 78">
            <a:extLst>
              <a:ext uri="{FF2B5EF4-FFF2-40B4-BE49-F238E27FC236}">
                <a16:creationId xmlns:a16="http://schemas.microsoft.com/office/drawing/2014/main" id="{0DDA3576-627D-315B-1C68-F5E8AEC355F4}"/>
              </a:ext>
            </a:extLst>
          </p:cNvPr>
          <p:cNvSpPr/>
          <p:nvPr/>
        </p:nvSpPr>
        <p:spPr>
          <a:xfrm>
            <a:off x="898071" y="1428840"/>
            <a:ext cx="7769289"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a:tabLst>
                <a:tab pos="0" algn="l"/>
              </a:tabLst>
            </a:pPr>
            <a:r>
              <a:rPr lang="en-US" sz="3200" b="1" dirty="0">
                <a:solidFill>
                  <a:schemeClr val="dk1"/>
                </a:solidFill>
                <a:latin typeface="+mj-lt"/>
                <a:ea typeface="Calibri Light" panose="020F0302020204030204" pitchFamily="34" charset="0"/>
                <a:cs typeface="Calibri Light" panose="020F0302020204030204" pitchFamily="34" charset="0"/>
              </a:rPr>
              <a:t>FinOps Dashboard Overview</a:t>
            </a:r>
            <a:endParaRPr lang="en-US" sz="3200" dirty="0">
              <a:solidFill>
                <a:srgbClr val="000000"/>
              </a:solidFill>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012469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BEC0F-2124-ECEA-BD29-8B8CF2D2372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77BD8AA-23AF-F6CB-6131-558D9CB89E47}"/>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41A207EB-C3DA-5676-78E4-1251525CDA1F}"/>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5</a:t>
            </a:fld>
            <a:endParaRPr lang="en-NZ" altLang="en-US">
              <a:latin typeface="+mj-lt"/>
            </a:endParaRPr>
          </a:p>
        </p:txBody>
      </p:sp>
      <p:cxnSp>
        <p:nvCxnSpPr>
          <p:cNvPr id="9" name="Google Shape;141;p28">
            <a:extLst>
              <a:ext uri="{FF2B5EF4-FFF2-40B4-BE49-F238E27FC236}">
                <a16:creationId xmlns:a16="http://schemas.microsoft.com/office/drawing/2014/main" id="{74E29D2D-C63D-788D-55E7-651EBF472475}"/>
              </a:ext>
            </a:extLst>
          </p:cNvPr>
          <p:cNvCxnSpPr>
            <a:cxnSpLocks/>
          </p:cNvCxnSpPr>
          <p:nvPr/>
        </p:nvCxnSpPr>
        <p:spPr>
          <a:xfrm>
            <a:off x="0" y="1005840"/>
            <a:ext cx="9144000" cy="0"/>
          </a:xfrm>
          <a:prstGeom prst="straightConnector1">
            <a:avLst/>
          </a:prstGeom>
          <a:ln w="9525">
            <a:solidFill>
              <a:srgbClr val="083C77"/>
            </a:solidFill>
            <a:round/>
          </a:ln>
        </p:spPr>
      </p:cxnSp>
      <p:sp>
        <p:nvSpPr>
          <p:cNvPr id="98" name="Rectangle 97"/>
          <p:cNvSpPr/>
          <p:nvPr/>
        </p:nvSpPr>
        <p:spPr>
          <a:xfrm>
            <a:off x="476460" y="255642"/>
            <a:ext cx="8191080" cy="610163"/>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tabLst>
                <a:tab pos="0" algn="l"/>
              </a:tabLst>
            </a:pPr>
            <a:r>
              <a:rPr lang="en-US" sz="3200" dirty="0">
                <a:solidFill>
                  <a:schemeClr val="dk1"/>
                </a:solidFill>
                <a:latin typeface="+mj-lt"/>
                <a:ea typeface="Calibri Light" panose="020F0302020204030204" pitchFamily="34" charset="0"/>
                <a:cs typeface="Calibri Light" panose="020F0302020204030204" pitchFamily="34" charset="0"/>
              </a:rPr>
              <a:t>Dashboard Implementation</a:t>
            </a:r>
            <a:endParaRPr lang="en-US" sz="3200" dirty="0">
              <a:solidFill>
                <a:srgbClr val="000000"/>
              </a:solidFill>
              <a:latin typeface="+mj-lt"/>
              <a:ea typeface="Calibri Light" panose="020F0302020204030204" pitchFamily="34" charset="0"/>
              <a:cs typeface="Calibri Light" panose="020F0302020204030204" pitchFamily="34" charset="0"/>
            </a:endParaRPr>
          </a:p>
        </p:txBody>
      </p:sp>
      <p:sp>
        <p:nvSpPr>
          <p:cNvPr id="99" name="Rectangle 98"/>
          <p:cNvSpPr/>
          <p:nvPr/>
        </p:nvSpPr>
        <p:spPr>
          <a:xfrm>
            <a:off x="355600" y="1240202"/>
            <a:ext cx="8665937" cy="1778141"/>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nSpc>
                <a:spcPct val="150000"/>
              </a:lnSpc>
              <a:tabLst>
                <a:tab pos="0" algn="l"/>
              </a:tabLst>
            </a:pPr>
            <a:r>
              <a:rPr lang="en-US" sz="1200" dirty="0">
                <a:solidFill>
                  <a:schemeClr val="dk1"/>
                </a:solidFill>
                <a:latin typeface="+mj-lt"/>
                <a:ea typeface="Calibri Light" panose="020F0302020204030204" pitchFamily="34" charset="0"/>
                <a:cs typeface="Calibri Light" panose="020F0302020204030204" pitchFamily="34" charset="0"/>
              </a:rPr>
              <a:t>Build a user-friendly dashboard to visualize usage, costs, and security policies in one place. Dashboards make tracking easy and help teams quickly spot issues or opportunities for optimization. A good dashboard turns complex data into simple, actionable insights.</a:t>
            </a:r>
          </a:p>
          <a:p>
            <a:pPr>
              <a:lnSpc>
                <a:spcPct val="150000"/>
              </a:lnSpc>
              <a:tabLst>
                <a:tab pos="0" algn="l"/>
              </a:tabLst>
            </a:pPr>
            <a:endParaRPr lang="en-US" sz="1200" b="1" dirty="0">
              <a:solidFill>
                <a:schemeClr val="dk1"/>
              </a:solidFill>
              <a:latin typeface="+mj-lt"/>
              <a:ea typeface="Calibri Light" panose="020F0302020204030204" pitchFamily="34" charset="0"/>
              <a:cs typeface="Calibri Light" panose="020F0302020204030204" pitchFamily="34" charset="0"/>
            </a:endParaRPr>
          </a:p>
          <a:p>
            <a:pPr>
              <a:lnSpc>
                <a:spcPct val="150000"/>
              </a:lnSpc>
              <a:tabLst>
                <a:tab pos="0" algn="l"/>
              </a:tabLst>
            </a:pPr>
            <a:r>
              <a:rPr lang="en-US" sz="1200" b="1" dirty="0">
                <a:solidFill>
                  <a:schemeClr val="dk1"/>
                </a:solidFill>
                <a:latin typeface="+mj-lt"/>
                <a:ea typeface="Calibri Light" panose="020F0302020204030204" pitchFamily="34" charset="0"/>
                <a:cs typeface="Calibri Light" panose="020F0302020204030204" pitchFamily="34" charset="0"/>
              </a:rPr>
              <a:t>Dashboard URL</a:t>
            </a:r>
            <a:r>
              <a:rPr lang="en-US" sz="1200" dirty="0">
                <a:solidFill>
                  <a:schemeClr val="dk1"/>
                </a:solidFill>
                <a:latin typeface="+mj-lt"/>
                <a:ea typeface="Calibri Light" panose="020F0302020204030204" pitchFamily="34" charset="0"/>
                <a:cs typeface="Calibri Light" panose="020F0302020204030204" pitchFamily="34" charset="0"/>
              </a:rPr>
              <a:t xml:space="preserve">: </a:t>
            </a:r>
            <a:r>
              <a:rPr lang="en-US" sz="1200" dirty="0" err="1">
                <a:latin typeface="+mj-lt"/>
                <a:hlinkClick r:id="rId2"/>
              </a:rPr>
              <a:t>Finops</a:t>
            </a:r>
            <a:r>
              <a:rPr lang="en-US" sz="1200" dirty="0">
                <a:latin typeface="+mj-lt"/>
                <a:hlinkClick r:id="rId2"/>
              </a:rPr>
              <a:t>-Dashboard - Snowflake</a:t>
            </a:r>
            <a:endParaRPr lang="en-US" sz="1200" dirty="0">
              <a:solidFill>
                <a:srgbClr val="000000"/>
              </a:solidFill>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987803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1DAE4-68F7-8EB6-9153-8EA77EF378C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7EDC3E0-A5C0-BDED-AB66-78806DA6BAF9}"/>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7C396006-C7BD-D12D-29DD-191935D1EB40}"/>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6</a:t>
            </a:fld>
            <a:endParaRPr lang="en-NZ" altLang="en-US">
              <a:latin typeface="+mj-lt"/>
            </a:endParaRPr>
          </a:p>
        </p:txBody>
      </p:sp>
      <p:sp>
        <p:nvSpPr>
          <p:cNvPr id="98" name="Rectangle 97">
            <a:extLst>
              <a:ext uri="{FF2B5EF4-FFF2-40B4-BE49-F238E27FC236}">
                <a16:creationId xmlns:a16="http://schemas.microsoft.com/office/drawing/2014/main" id="{489EE2E9-F9BB-0B31-5BE3-F63DB9C02D14}"/>
              </a:ext>
            </a:extLst>
          </p:cNvPr>
          <p:cNvSpPr/>
          <p:nvPr/>
        </p:nvSpPr>
        <p:spPr>
          <a:xfrm>
            <a:off x="436500" y="242860"/>
            <a:ext cx="8191080" cy="568366"/>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a:lnSpc>
                <a:spcPct val="100000"/>
              </a:lnSpc>
              <a:tabLst>
                <a:tab pos="0" algn="l"/>
              </a:tabLst>
            </a:pPr>
            <a:r>
              <a:rPr lang="en-US" sz="3200" dirty="0">
                <a:solidFill>
                  <a:schemeClr val="dk1"/>
                </a:solidFill>
                <a:latin typeface="+mj-lt"/>
                <a:ea typeface="Calibri Light" panose="020F0302020204030204" pitchFamily="34" charset="0"/>
                <a:cs typeface="Calibri Light" panose="020F0302020204030204" pitchFamily="34" charset="0"/>
              </a:rPr>
              <a:t>Key Metrics</a:t>
            </a:r>
            <a:endParaRPr lang="fr-FR" sz="3200" dirty="0">
              <a:solidFill>
                <a:schemeClr val="dk1"/>
              </a:solidFill>
              <a:latin typeface="+mj-lt"/>
              <a:ea typeface="Calibri Light" panose="020F0302020204030204" pitchFamily="34" charset="0"/>
              <a:cs typeface="Calibri Light" panose="020F0302020204030204" pitchFamily="34" charset="0"/>
            </a:endParaRPr>
          </a:p>
        </p:txBody>
      </p:sp>
      <p:sp>
        <p:nvSpPr>
          <p:cNvPr id="99" name="Rectangle 98">
            <a:extLst>
              <a:ext uri="{FF2B5EF4-FFF2-40B4-BE49-F238E27FC236}">
                <a16:creationId xmlns:a16="http://schemas.microsoft.com/office/drawing/2014/main" id="{283413F6-8414-7D35-EE3B-22FDA74CC15E}"/>
              </a:ext>
            </a:extLst>
          </p:cNvPr>
          <p:cNvSpPr/>
          <p:nvPr/>
        </p:nvSpPr>
        <p:spPr>
          <a:xfrm>
            <a:off x="93133" y="911402"/>
            <a:ext cx="8309160" cy="521153"/>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marL="457200" indent="-314280">
              <a:lnSpc>
                <a:spcPct val="150000"/>
              </a:lnSpc>
              <a:tabLst>
                <a:tab pos="0" algn="l"/>
              </a:tabLst>
            </a:pPr>
            <a:r>
              <a:rPr lang="en-US" sz="1200" dirty="0">
                <a:solidFill>
                  <a:srgbClr val="000000"/>
                </a:solidFill>
                <a:latin typeface="+mj-lt"/>
                <a:ea typeface="Calibri Light" panose="020F0302020204030204" pitchFamily="34" charset="0"/>
                <a:cs typeface="Calibri Light" panose="020F0302020204030204" pitchFamily="34" charset="0"/>
              </a:rPr>
              <a:t>This covers how to monitor Snowflake usage and control costs effectively. We’ll look at key metrics like storage, warehouses, and query performance. You’ll learn how to track who’s consuming credits and how to optimize warehouse sizing for better cost efficiency</a:t>
            </a:r>
            <a:endParaRPr lang="fr-FR" sz="1200" dirty="0">
              <a:solidFill>
                <a:srgbClr val="000000"/>
              </a:solidFill>
              <a:latin typeface="+mj-lt"/>
              <a:ea typeface="Calibri Light" panose="020F0302020204030204" pitchFamily="34" charset="0"/>
              <a:cs typeface="Calibri Light" panose="020F0302020204030204" pitchFamily="34" charset="0"/>
            </a:endParaRPr>
          </a:p>
        </p:txBody>
      </p:sp>
      <p:cxnSp>
        <p:nvCxnSpPr>
          <p:cNvPr id="2" name="Google Shape;227;p33">
            <a:extLst>
              <a:ext uri="{FF2B5EF4-FFF2-40B4-BE49-F238E27FC236}">
                <a16:creationId xmlns:a16="http://schemas.microsoft.com/office/drawing/2014/main" id="{40CFC903-1993-AD3D-B731-E8C623DED712}"/>
              </a:ext>
            </a:extLst>
          </p:cNvPr>
          <p:cNvCxnSpPr>
            <a:cxnSpLocks/>
          </p:cNvCxnSpPr>
          <p:nvPr/>
        </p:nvCxnSpPr>
        <p:spPr>
          <a:xfrm>
            <a:off x="93133" y="811226"/>
            <a:ext cx="9050867" cy="0"/>
          </a:xfrm>
          <a:prstGeom prst="straightConnector1">
            <a:avLst/>
          </a:prstGeom>
          <a:ln w="9525">
            <a:solidFill>
              <a:srgbClr val="083C77"/>
            </a:solidFill>
            <a:round/>
          </a:ln>
        </p:spPr>
      </p:cxnSp>
      <p:sp>
        <p:nvSpPr>
          <p:cNvPr id="6" name="Shape 1">
            <a:extLst>
              <a:ext uri="{FF2B5EF4-FFF2-40B4-BE49-F238E27FC236}">
                <a16:creationId xmlns:a16="http://schemas.microsoft.com/office/drawing/2014/main" id="{9B88A860-7BE5-8E19-53F8-206489F878A4}"/>
              </a:ext>
            </a:extLst>
          </p:cNvPr>
          <p:cNvSpPr/>
          <p:nvPr/>
        </p:nvSpPr>
        <p:spPr>
          <a:xfrm>
            <a:off x="457200" y="1547037"/>
            <a:ext cx="1600200" cy="1207008"/>
          </a:xfrm>
          <a:prstGeom prst="rect">
            <a:avLst/>
          </a:prstGeom>
          <a:solidFill>
            <a:srgbClr val="F5F5F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8" name="Text 3">
            <a:extLst>
              <a:ext uri="{FF2B5EF4-FFF2-40B4-BE49-F238E27FC236}">
                <a16:creationId xmlns:a16="http://schemas.microsoft.com/office/drawing/2014/main" id="{5198A8E0-16D8-87CA-59E8-03E753421828}"/>
              </a:ext>
            </a:extLst>
          </p:cNvPr>
          <p:cNvSpPr/>
          <p:nvPr/>
        </p:nvSpPr>
        <p:spPr>
          <a:xfrm>
            <a:off x="457200" y="1901618"/>
            <a:ext cx="16002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63636"/>
                </a:solidFill>
                <a:effectLst/>
                <a:uLnTx/>
                <a:uFillTx/>
                <a:latin typeface="+mj-lt"/>
                <a:ea typeface="+mn-ea"/>
                <a:cs typeface="+mn-cs"/>
              </a:rPr>
              <a:t>Total Storage</a:t>
            </a:r>
            <a:endParaRPr kumimoji="0" lang="en-US" sz="1300" b="0" i="0" u="none" strike="noStrike" kern="1200" cap="none" spc="0" normalizeH="0" baseline="0" noProof="0" dirty="0">
              <a:ln>
                <a:noFill/>
              </a:ln>
              <a:solidFill>
                <a:prstClr val="black"/>
              </a:solidFill>
              <a:effectLst/>
              <a:uLnTx/>
              <a:uFillTx/>
              <a:latin typeface="+mj-lt"/>
              <a:ea typeface="+mn-ea"/>
              <a:cs typeface="+mn-cs"/>
            </a:endParaRPr>
          </a:p>
        </p:txBody>
      </p:sp>
      <p:sp>
        <p:nvSpPr>
          <p:cNvPr id="5" name="Text 4">
            <a:extLst>
              <a:ext uri="{FF2B5EF4-FFF2-40B4-BE49-F238E27FC236}">
                <a16:creationId xmlns:a16="http://schemas.microsoft.com/office/drawing/2014/main" id="{7DE50918-B680-5380-D044-81C3DB62041D}"/>
              </a:ext>
            </a:extLst>
          </p:cNvPr>
          <p:cNvSpPr/>
          <p:nvPr/>
        </p:nvSpPr>
        <p:spPr>
          <a:xfrm>
            <a:off x="457200" y="2233514"/>
            <a:ext cx="16002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363636"/>
                </a:solidFill>
                <a:effectLst/>
                <a:uLnTx/>
                <a:uFillTx/>
                <a:latin typeface="+mj-lt"/>
                <a:ea typeface="+mn-ea"/>
                <a:cs typeface="+mn-cs"/>
              </a:rPr>
              <a:t>GB</a:t>
            </a: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10" name="Shape 5">
            <a:extLst>
              <a:ext uri="{FF2B5EF4-FFF2-40B4-BE49-F238E27FC236}">
                <a16:creationId xmlns:a16="http://schemas.microsoft.com/office/drawing/2014/main" id="{315D9758-241F-E43A-4745-12F0AC977A44}"/>
              </a:ext>
            </a:extLst>
          </p:cNvPr>
          <p:cNvSpPr/>
          <p:nvPr/>
        </p:nvSpPr>
        <p:spPr>
          <a:xfrm>
            <a:off x="2148840" y="1576488"/>
            <a:ext cx="1600200" cy="1097280"/>
          </a:xfrm>
          <a:prstGeom prst="rect">
            <a:avLst/>
          </a:prstGeom>
          <a:solidFill>
            <a:srgbClr val="F5F5F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12" name="Text 7">
            <a:extLst>
              <a:ext uri="{FF2B5EF4-FFF2-40B4-BE49-F238E27FC236}">
                <a16:creationId xmlns:a16="http://schemas.microsoft.com/office/drawing/2014/main" id="{00FE1C87-9DF1-71DB-5F7F-091245C956CC}"/>
              </a:ext>
            </a:extLst>
          </p:cNvPr>
          <p:cNvSpPr/>
          <p:nvPr/>
        </p:nvSpPr>
        <p:spPr>
          <a:xfrm>
            <a:off x="2148840" y="1887056"/>
            <a:ext cx="1600200" cy="264495"/>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63636"/>
                </a:solidFill>
                <a:effectLst/>
                <a:uLnTx/>
                <a:uFillTx/>
                <a:latin typeface="+mj-lt"/>
                <a:ea typeface="+mn-ea"/>
                <a:cs typeface="+mn-cs"/>
              </a:rPr>
              <a:t>Warehouses</a:t>
            </a:r>
            <a:endParaRPr kumimoji="0" lang="en-US" sz="1300" b="0" i="0" u="none" strike="noStrike" kern="1200" cap="none" spc="0" normalizeH="0" baseline="0" noProof="0" dirty="0">
              <a:ln>
                <a:noFill/>
              </a:ln>
              <a:solidFill>
                <a:prstClr val="black"/>
              </a:solidFill>
              <a:effectLst/>
              <a:uLnTx/>
              <a:uFillTx/>
              <a:latin typeface="+mj-lt"/>
              <a:ea typeface="+mn-ea"/>
              <a:cs typeface="+mn-cs"/>
            </a:endParaRPr>
          </a:p>
        </p:txBody>
      </p:sp>
      <p:sp>
        <p:nvSpPr>
          <p:cNvPr id="13" name="Text 8">
            <a:extLst>
              <a:ext uri="{FF2B5EF4-FFF2-40B4-BE49-F238E27FC236}">
                <a16:creationId xmlns:a16="http://schemas.microsoft.com/office/drawing/2014/main" id="{3CAC0DB3-B1C4-A44A-4B54-4D6114502B54}"/>
              </a:ext>
            </a:extLst>
          </p:cNvPr>
          <p:cNvSpPr/>
          <p:nvPr/>
        </p:nvSpPr>
        <p:spPr>
          <a:xfrm>
            <a:off x="2148840" y="2248847"/>
            <a:ext cx="1600200" cy="226712"/>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363636"/>
                </a:solidFill>
                <a:effectLst/>
                <a:uLnTx/>
                <a:uFillTx/>
                <a:latin typeface="+mj-lt"/>
                <a:ea typeface="+mn-ea"/>
                <a:cs typeface="+mn-cs"/>
              </a:rPr>
              <a:t>Count</a:t>
            </a: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14" name="Shape 9">
            <a:extLst>
              <a:ext uri="{FF2B5EF4-FFF2-40B4-BE49-F238E27FC236}">
                <a16:creationId xmlns:a16="http://schemas.microsoft.com/office/drawing/2014/main" id="{59DA9ED1-0C0D-8E7E-F3CA-8B459BE85852}"/>
              </a:ext>
            </a:extLst>
          </p:cNvPr>
          <p:cNvSpPr/>
          <p:nvPr/>
        </p:nvSpPr>
        <p:spPr>
          <a:xfrm>
            <a:off x="3840480" y="1559564"/>
            <a:ext cx="1600200" cy="1097280"/>
          </a:xfrm>
          <a:prstGeom prst="rect">
            <a:avLst/>
          </a:prstGeom>
          <a:solidFill>
            <a:srgbClr val="F5F5F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16" name="Text 11">
            <a:extLst>
              <a:ext uri="{FF2B5EF4-FFF2-40B4-BE49-F238E27FC236}">
                <a16:creationId xmlns:a16="http://schemas.microsoft.com/office/drawing/2014/main" id="{A0E3C338-12C3-ED43-A928-5878DDBC1BCE}"/>
              </a:ext>
            </a:extLst>
          </p:cNvPr>
          <p:cNvSpPr/>
          <p:nvPr/>
        </p:nvSpPr>
        <p:spPr>
          <a:xfrm>
            <a:off x="3840480" y="1867753"/>
            <a:ext cx="16002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63636"/>
                </a:solidFill>
                <a:effectLst/>
                <a:uLnTx/>
                <a:uFillTx/>
                <a:latin typeface="+mj-lt"/>
                <a:ea typeface="+mn-ea"/>
                <a:cs typeface="+mn-cs"/>
              </a:rPr>
              <a:t>Databases</a:t>
            </a:r>
            <a:endParaRPr kumimoji="0" lang="en-US" sz="1300" b="0" i="0" u="none" strike="noStrike" kern="1200" cap="none" spc="0" normalizeH="0" baseline="0" noProof="0" dirty="0">
              <a:ln>
                <a:noFill/>
              </a:ln>
              <a:solidFill>
                <a:prstClr val="black"/>
              </a:solidFill>
              <a:effectLst/>
              <a:uLnTx/>
              <a:uFillTx/>
              <a:latin typeface="+mj-lt"/>
              <a:ea typeface="+mn-ea"/>
              <a:cs typeface="+mn-cs"/>
            </a:endParaRPr>
          </a:p>
        </p:txBody>
      </p:sp>
      <p:sp>
        <p:nvSpPr>
          <p:cNvPr id="17" name="Text 12">
            <a:extLst>
              <a:ext uri="{FF2B5EF4-FFF2-40B4-BE49-F238E27FC236}">
                <a16:creationId xmlns:a16="http://schemas.microsoft.com/office/drawing/2014/main" id="{06F25B91-4145-9755-C9AD-AAB7C2275EC6}"/>
              </a:ext>
            </a:extLst>
          </p:cNvPr>
          <p:cNvSpPr/>
          <p:nvPr/>
        </p:nvSpPr>
        <p:spPr>
          <a:xfrm>
            <a:off x="3840480" y="2233513"/>
            <a:ext cx="16002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363636"/>
                </a:solidFill>
                <a:effectLst/>
                <a:uLnTx/>
                <a:uFillTx/>
                <a:latin typeface="+mj-lt"/>
                <a:ea typeface="+mn-ea"/>
                <a:cs typeface="+mn-cs"/>
              </a:rPr>
              <a:t>Count</a:t>
            </a: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18" name="Shape 13">
            <a:extLst>
              <a:ext uri="{FF2B5EF4-FFF2-40B4-BE49-F238E27FC236}">
                <a16:creationId xmlns:a16="http://schemas.microsoft.com/office/drawing/2014/main" id="{30FABCA1-6A57-1911-7C99-724F566F546D}"/>
              </a:ext>
            </a:extLst>
          </p:cNvPr>
          <p:cNvSpPr/>
          <p:nvPr/>
        </p:nvSpPr>
        <p:spPr>
          <a:xfrm>
            <a:off x="5532120" y="1584964"/>
            <a:ext cx="1600200" cy="1097280"/>
          </a:xfrm>
          <a:prstGeom prst="rect">
            <a:avLst/>
          </a:prstGeom>
          <a:solidFill>
            <a:srgbClr val="F5F5F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20" name="Text 15">
            <a:extLst>
              <a:ext uri="{FF2B5EF4-FFF2-40B4-BE49-F238E27FC236}">
                <a16:creationId xmlns:a16="http://schemas.microsoft.com/office/drawing/2014/main" id="{0619F069-C13A-363A-0893-24DCB36C6C3F}"/>
              </a:ext>
            </a:extLst>
          </p:cNvPr>
          <p:cNvSpPr/>
          <p:nvPr/>
        </p:nvSpPr>
        <p:spPr>
          <a:xfrm>
            <a:off x="5532120" y="1842349"/>
            <a:ext cx="16002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63636"/>
                </a:solidFill>
                <a:effectLst/>
                <a:uLnTx/>
                <a:uFillTx/>
                <a:latin typeface="+mj-lt"/>
                <a:ea typeface="+mn-ea"/>
                <a:cs typeface="+mn-cs"/>
              </a:rPr>
              <a:t>Active Users</a:t>
            </a:r>
            <a:endParaRPr kumimoji="0" lang="en-US" sz="1300" b="0" i="0" u="none" strike="noStrike" kern="1200" cap="none" spc="0" normalizeH="0" baseline="0" noProof="0" dirty="0">
              <a:ln>
                <a:noFill/>
              </a:ln>
              <a:solidFill>
                <a:prstClr val="black"/>
              </a:solidFill>
              <a:effectLst/>
              <a:uLnTx/>
              <a:uFillTx/>
              <a:latin typeface="+mj-lt"/>
              <a:ea typeface="+mn-ea"/>
              <a:cs typeface="+mn-cs"/>
            </a:endParaRPr>
          </a:p>
        </p:txBody>
      </p:sp>
      <p:sp>
        <p:nvSpPr>
          <p:cNvPr id="21" name="Text 16">
            <a:extLst>
              <a:ext uri="{FF2B5EF4-FFF2-40B4-BE49-F238E27FC236}">
                <a16:creationId xmlns:a16="http://schemas.microsoft.com/office/drawing/2014/main" id="{04193949-5D2F-A2D4-3242-842EB540C919}"/>
              </a:ext>
            </a:extLst>
          </p:cNvPr>
          <p:cNvSpPr/>
          <p:nvPr/>
        </p:nvSpPr>
        <p:spPr>
          <a:xfrm>
            <a:off x="5532120" y="2208109"/>
            <a:ext cx="16002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363636"/>
                </a:solidFill>
                <a:effectLst/>
                <a:uLnTx/>
                <a:uFillTx/>
                <a:latin typeface="+mj-lt"/>
                <a:ea typeface="+mn-ea"/>
                <a:cs typeface="+mn-cs"/>
              </a:rPr>
              <a:t>Count</a:t>
            </a: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22" name="Shape 17">
            <a:extLst>
              <a:ext uri="{FF2B5EF4-FFF2-40B4-BE49-F238E27FC236}">
                <a16:creationId xmlns:a16="http://schemas.microsoft.com/office/drawing/2014/main" id="{8BF344F6-8416-CBA1-F180-3FEE00B93E57}"/>
              </a:ext>
            </a:extLst>
          </p:cNvPr>
          <p:cNvSpPr/>
          <p:nvPr/>
        </p:nvSpPr>
        <p:spPr>
          <a:xfrm>
            <a:off x="7223760" y="1525700"/>
            <a:ext cx="1600200" cy="1097280"/>
          </a:xfrm>
          <a:prstGeom prst="rect">
            <a:avLst/>
          </a:prstGeom>
          <a:solidFill>
            <a:srgbClr val="F5F5F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24" name="Text 19">
            <a:extLst>
              <a:ext uri="{FF2B5EF4-FFF2-40B4-BE49-F238E27FC236}">
                <a16:creationId xmlns:a16="http://schemas.microsoft.com/office/drawing/2014/main" id="{8E86A651-C3D5-DE82-95D4-F0BC177472AC}"/>
              </a:ext>
            </a:extLst>
          </p:cNvPr>
          <p:cNvSpPr/>
          <p:nvPr/>
        </p:nvSpPr>
        <p:spPr>
          <a:xfrm>
            <a:off x="7223760" y="1884684"/>
            <a:ext cx="160020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363636"/>
                </a:solidFill>
                <a:effectLst/>
                <a:uLnTx/>
                <a:uFillTx/>
                <a:latin typeface="+mj-lt"/>
                <a:ea typeface="+mn-ea"/>
                <a:cs typeface="+mn-cs"/>
              </a:rPr>
              <a:t>Queries Executed</a:t>
            </a:r>
            <a:endParaRPr kumimoji="0" lang="en-US" sz="1300" b="0" i="0" u="none" strike="noStrike" kern="1200" cap="none" spc="0" normalizeH="0" baseline="0" noProof="0" dirty="0">
              <a:ln>
                <a:noFill/>
              </a:ln>
              <a:solidFill>
                <a:prstClr val="black"/>
              </a:solidFill>
              <a:effectLst/>
              <a:uLnTx/>
              <a:uFillTx/>
              <a:latin typeface="+mj-lt"/>
              <a:ea typeface="+mn-ea"/>
              <a:cs typeface="+mn-cs"/>
            </a:endParaRPr>
          </a:p>
        </p:txBody>
      </p:sp>
      <p:sp>
        <p:nvSpPr>
          <p:cNvPr id="25" name="Text 20">
            <a:extLst>
              <a:ext uri="{FF2B5EF4-FFF2-40B4-BE49-F238E27FC236}">
                <a16:creationId xmlns:a16="http://schemas.microsoft.com/office/drawing/2014/main" id="{44C4338E-7AAC-40B7-B688-5C2D8957720C}"/>
              </a:ext>
            </a:extLst>
          </p:cNvPr>
          <p:cNvSpPr/>
          <p:nvPr/>
        </p:nvSpPr>
        <p:spPr>
          <a:xfrm>
            <a:off x="7223760" y="2250444"/>
            <a:ext cx="16002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363636"/>
                </a:solidFill>
                <a:effectLst/>
                <a:uLnTx/>
                <a:uFillTx/>
                <a:latin typeface="+mj-lt"/>
                <a:ea typeface="+mn-ea"/>
                <a:cs typeface="+mn-cs"/>
              </a:rPr>
              <a:t>Total</a:t>
            </a:r>
            <a:endParaRPr kumimoji="0" lang="en-US" sz="1100" b="0" i="0" u="none" strike="noStrike" kern="1200" cap="none" spc="0" normalizeH="0" baseline="0" noProof="0" dirty="0">
              <a:ln>
                <a:noFill/>
              </a:ln>
              <a:solidFill>
                <a:prstClr val="black"/>
              </a:solidFill>
              <a:effectLst/>
              <a:uLnTx/>
              <a:uFillTx/>
              <a:latin typeface="+mj-lt"/>
              <a:ea typeface="+mn-ea"/>
              <a:cs typeface="+mn-cs"/>
            </a:endParaRPr>
          </a:p>
        </p:txBody>
      </p:sp>
      <p:sp>
        <p:nvSpPr>
          <p:cNvPr id="26" name="Text 21">
            <a:extLst>
              <a:ext uri="{FF2B5EF4-FFF2-40B4-BE49-F238E27FC236}">
                <a16:creationId xmlns:a16="http://schemas.microsoft.com/office/drawing/2014/main" id="{AEDA6681-90A0-ADCE-1398-6133E1247909}"/>
              </a:ext>
            </a:extLst>
          </p:cNvPr>
          <p:cNvSpPr/>
          <p:nvPr/>
        </p:nvSpPr>
        <p:spPr>
          <a:xfrm>
            <a:off x="397980" y="2828603"/>
            <a:ext cx="8229600" cy="326693"/>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Monitoring Capabilities</a:t>
            </a:r>
            <a:endParaRPr kumimoji="0" lang="en-US" sz="1200" b="0"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endParaRPr>
          </a:p>
        </p:txBody>
      </p:sp>
      <p:sp>
        <p:nvSpPr>
          <p:cNvPr id="27" name="Text 22">
            <a:extLst>
              <a:ext uri="{FF2B5EF4-FFF2-40B4-BE49-F238E27FC236}">
                <a16:creationId xmlns:a16="http://schemas.microsoft.com/office/drawing/2014/main" id="{A5A66CD9-CE41-23A8-CA74-B60A4BF286A9}"/>
              </a:ext>
            </a:extLst>
          </p:cNvPr>
          <p:cNvSpPr/>
          <p:nvPr/>
        </p:nvSpPr>
        <p:spPr>
          <a:xfrm>
            <a:off x="397980" y="3365688"/>
            <a:ext cx="8229600" cy="1453767"/>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Track storage consumption across all databases and schemas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Monitor warehouse utilization and identify idle 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Analyze user activity patterns and query volumes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Review resource allocation and capacity planning metrics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Identify cost optimization opportunities in real-time</a:t>
            </a:r>
            <a:endParaRPr kumimoji="0" lang="en-US" sz="1200" b="0" i="0" u="none" strike="noStrike" kern="1200" cap="none" spc="0" normalizeH="0" noProof="0" dirty="0">
              <a:ln>
                <a:noFill/>
              </a:ln>
              <a:solidFill>
                <a:prstClr val="black"/>
              </a:solidFill>
              <a:effectLst/>
              <a:uLnTx/>
              <a:uFillTx/>
              <a:latin typeface="+mj-lt"/>
              <a:ea typeface="+mn-ea"/>
              <a:cs typeface="+mn-cs"/>
            </a:endParaRPr>
          </a:p>
        </p:txBody>
      </p:sp>
    </p:spTree>
    <p:extLst>
      <p:ext uri="{BB962C8B-B14F-4D97-AF65-F5344CB8AC3E}">
        <p14:creationId xmlns:p14="http://schemas.microsoft.com/office/powerpoint/2010/main" val="2934852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95949-A899-BEE5-727D-D37AF7A3CB4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C33040C-FCAF-53D1-8E88-CF45C645A77C}"/>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569B59F5-A725-1C61-7D07-07391D2DEF89}"/>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7</a:t>
            </a:fld>
            <a:endParaRPr lang="en-NZ" altLang="en-US">
              <a:latin typeface="+mj-lt"/>
            </a:endParaRPr>
          </a:p>
        </p:txBody>
      </p:sp>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dirty="0">
                <a:latin typeface="+mj-lt"/>
                <a:ea typeface="Calibri Light" panose="020F0302020204030204" pitchFamily="34" charset="0"/>
                <a:cs typeface="Calibri Light" panose="020F0302020204030204" pitchFamily="34" charset="0"/>
              </a:rPr>
              <a:t>Dashboard Data Sources</a:t>
            </a:r>
          </a:p>
        </p:txBody>
      </p:sp>
      <p:sp>
        <p:nvSpPr>
          <p:cNvPr id="5" name="Text 1"/>
          <p:cNvSpPr/>
          <p:nvPr/>
        </p:nvSpPr>
        <p:spPr>
          <a:xfrm>
            <a:off x="457200" y="914400"/>
            <a:ext cx="8229600" cy="274320"/>
          </a:xfrm>
          <a:prstGeom prst="rect">
            <a:avLst/>
          </a:prstGeom>
          <a:noFill/>
          <a:ln/>
        </p:spPr>
        <p:txBody>
          <a:bodyPr wrap="square" rtlCol="0" anchor="ctr"/>
          <a:lstStyle/>
          <a:p>
            <a:pPr marL="0" indent="0">
              <a:buNone/>
            </a:pPr>
            <a:r>
              <a:rPr lang="en-US" sz="1400" i="1" dirty="0">
                <a:solidFill>
                  <a:srgbClr val="363636"/>
                </a:solidFill>
                <a:latin typeface="+mj-lt"/>
                <a:ea typeface="Calibri Light" panose="020F0302020204030204" pitchFamily="34" charset="0"/>
                <a:cs typeface="Calibri Light" panose="020F0302020204030204" pitchFamily="34" charset="0"/>
              </a:rPr>
              <a:t>Where the data comes from and how it flows into the dashboard</a:t>
            </a:r>
            <a:endParaRPr lang="en-US" sz="1400" dirty="0">
              <a:latin typeface="+mj-lt"/>
              <a:ea typeface="Calibri Light" panose="020F0302020204030204" pitchFamily="34" charset="0"/>
              <a:cs typeface="Calibri Light" panose="020F0302020204030204" pitchFamily="34" charset="0"/>
            </a:endParaRPr>
          </a:p>
        </p:txBody>
      </p:sp>
      <p:sp>
        <p:nvSpPr>
          <p:cNvPr id="6" name="Shape 2"/>
          <p:cNvSpPr/>
          <p:nvPr/>
        </p:nvSpPr>
        <p:spPr>
          <a:xfrm>
            <a:off x="95251" y="1371600"/>
            <a:ext cx="2922270" cy="2926080"/>
          </a:xfrm>
          <a:prstGeom prst="rect">
            <a:avLst/>
          </a:prstGeom>
          <a:solidFill>
            <a:srgbClr val="F5F5F5"/>
          </a:solidFill>
          <a:ln/>
        </p:spPr>
        <p:txBody>
          <a:bodyPr/>
          <a:lstStyle/>
          <a:p>
            <a:endParaRPr lang="en-US">
              <a:latin typeface="+mj-lt"/>
              <a:ea typeface="Calibri Light" panose="020F0302020204030204" pitchFamily="34" charset="0"/>
              <a:cs typeface="Calibri Light" panose="020F0302020204030204" pitchFamily="34" charset="0"/>
            </a:endParaRPr>
          </a:p>
        </p:txBody>
      </p:sp>
      <p:sp>
        <p:nvSpPr>
          <p:cNvPr id="7" name="Text 4"/>
          <p:cNvSpPr/>
          <p:nvPr/>
        </p:nvSpPr>
        <p:spPr>
          <a:xfrm>
            <a:off x="457200" y="1371600"/>
            <a:ext cx="2560320" cy="411480"/>
          </a:xfrm>
          <a:prstGeom prst="rect">
            <a:avLst/>
          </a:prstGeom>
          <a:noFill/>
          <a:ln/>
        </p:spPr>
        <p:txBody>
          <a:bodyPr wrap="square" rtlCol="0" anchor="ctr"/>
          <a:lstStyle/>
          <a:p>
            <a:pPr marL="0" indent="0">
              <a:buNone/>
            </a:pPr>
            <a:r>
              <a:rPr lang="en-US" sz="1400" b="1" dirty="0">
                <a:latin typeface="+mj-lt"/>
                <a:ea typeface="Calibri Light" panose="020F0302020204030204" pitchFamily="34" charset="0"/>
                <a:cs typeface="Calibri Light" panose="020F0302020204030204" pitchFamily="34" charset="0"/>
              </a:rPr>
              <a:t>Source Systems</a:t>
            </a:r>
            <a:endParaRPr lang="en-US" sz="1400" dirty="0">
              <a:latin typeface="+mj-lt"/>
              <a:ea typeface="Calibri Light" panose="020F0302020204030204" pitchFamily="34" charset="0"/>
              <a:cs typeface="Calibri Light" panose="020F0302020204030204" pitchFamily="34" charset="0"/>
            </a:endParaRPr>
          </a:p>
        </p:txBody>
      </p:sp>
      <p:sp>
        <p:nvSpPr>
          <p:cNvPr id="8" name="Text 5"/>
          <p:cNvSpPr/>
          <p:nvPr/>
        </p:nvSpPr>
        <p:spPr>
          <a:xfrm>
            <a:off x="95250" y="1783081"/>
            <a:ext cx="2922270" cy="2103120"/>
          </a:xfrm>
          <a:prstGeom prst="rect">
            <a:avLst/>
          </a:prstGeom>
          <a:noFill/>
          <a:ln/>
        </p:spPr>
        <p:txBody>
          <a:bodyPr wrap="square" rtlCol="0" anchor="ctr"/>
          <a:lstStyle/>
          <a:p>
            <a:pPr marL="0" indent="0">
              <a:buNone/>
            </a:pPr>
            <a:r>
              <a:rPr lang="en-US" sz="1000" b="1" dirty="0">
                <a:latin typeface="+mj-lt"/>
                <a:ea typeface="Calibri Light" panose="020F0302020204030204" pitchFamily="34" charset="0"/>
                <a:cs typeface="Calibri Light" panose="020F0302020204030204" pitchFamily="34" charset="0"/>
              </a:rPr>
              <a:t>Snowflake Account Usage Views: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latin typeface="+mj-lt"/>
                <a:ea typeface="Calibri Light" panose="020F0302020204030204" pitchFamily="34" charset="0"/>
                <a:cs typeface="Calibri Light" panose="020F0302020204030204" pitchFamily="34" charset="0"/>
              </a:rPr>
              <a:t>• QUERY_HISTORY</a:t>
            </a:r>
          </a:p>
          <a:p>
            <a:pPr marL="0" indent="0">
              <a:buNone/>
            </a:pPr>
            <a:r>
              <a:rPr lang="en-US" sz="1000" dirty="0">
                <a:latin typeface="+mj-lt"/>
                <a:ea typeface="Calibri Light" panose="020F0302020204030204" pitchFamily="34" charset="0"/>
                <a:cs typeface="Calibri Light" panose="020F0302020204030204" pitchFamily="34" charset="0"/>
              </a:rPr>
              <a:t>• WAREHOUSE_METERING_HISTORY</a:t>
            </a:r>
          </a:p>
          <a:p>
            <a:pPr marL="0" indent="0">
              <a:buNone/>
            </a:pPr>
            <a:r>
              <a:rPr lang="en-US" sz="1000" dirty="0">
                <a:latin typeface="+mj-lt"/>
                <a:ea typeface="Calibri Light" panose="020F0302020204030204" pitchFamily="34" charset="0"/>
                <a:cs typeface="Calibri Light" panose="020F0302020204030204" pitchFamily="34" charset="0"/>
              </a:rPr>
              <a:t>• DATABASE_STORAGE_USAGE_HISTORY</a:t>
            </a:r>
          </a:p>
          <a:p>
            <a:pPr marL="0" indent="0">
              <a:buNone/>
            </a:pPr>
            <a:r>
              <a:rPr lang="en-US" sz="1000" dirty="0">
                <a:latin typeface="+mj-lt"/>
                <a:ea typeface="Calibri Light" panose="020F0302020204030204" pitchFamily="34" charset="0"/>
                <a:cs typeface="Calibri Light" panose="020F0302020204030204" pitchFamily="34" charset="0"/>
              </a:rPr>
              <a:t>• ACCESS_HISTORY</a:t>
            </a:r>
          </a:p>
          <a:p>
            <a:pPr marL="0" indent="0">
              <a:buNone/>
            </a:pPr>
            <a:r>
              <a:rPr lang="en-US" sz="1000" dirty="0">
                <a:latin typeface="+mj-lt"/>
                <a:ea typeface="Calibri Light" panose="020F0302020204030204" pitchFamily="34" charset="0"/>
                <a:cs typeface="Calibri Light" panose="020F0302020204030204" pitchFamily="34" charset="0"/>
              </a:rPr>
              <a:t>• WAREHOUSE_EVENTS_HISTORY</a:t>
            </a:r>
          </a:p>
          <a:p>
            <a:pPr marL="0" indent="0">
              <a:buNone/>
            </a:pPr>
            <a:r>
              <a:rPr lang="en-US" sz="1000" dirty="0">
                <a:latin typeface="+mj-lt"/>
                <a:ea typeface="Calibri Light" panose="020F0302020204030204" pitchFamily="34" charset="0"/>
                <a:cs typeface="Calibri Light" panose="020F0302020204030204" pitchFamily="34" charset="0"/>
              </a:rPr>
              <a:t>• TABLE_STORAGE_METRICS</a:t>
            </a:r>
          </a:p>
          <a:p>
            <a:pPr marL="0" indent="0">
              <a:buNone/>
            </a:pPr>
            <a:r>
              <a:rPr lang="en-US" sz="1000" dirty="0">
                <a:latin typeface="+mj-lt"/>
                <a:ea typeface="Calibri Light" panose="020F0302020204030204" pitchFamily="34" charset="0"/>
                <a:cs typeface="Calibri Light" panose="020F0302020204030204" pitchFamily="34" charset="0"/>
              </a:rPr>
              <a:t>• GRANTS_TO_ROLES</a:t>
            </a:r>
          </a:p>
          <a:p>
            <a:pPr marL="0" indent="0">
              <a:buNone/>
            </a:pPr>
            <a:r>
              <a:rPr lang="en-US" sz="1000" dirty="0">
                <a:latin typeface="+mj-lt"/>
                <a:ea typeface="Calibri Light" panose="020F0302020204030204" pitchFamily="34" charset="0"/>
                <a:cs typeface="Calibri Light" panose="020F0302020204030204" pitchFamily="34" charset="0"/>
              </a:rPr>
              <a:t>• GRANTS_TO_USERS</a:t>
            </a:r>
          </a:p>
          <a:p>
            <a:pPr marL="0" indent="0">
              <a:buNone/>
            </a:pPr>
            <a:r>
              <a:rPr lang="en-US" sz="1000" dirty="0">
                <a:latin typeface="+mj-lt"/>
                <a:ea typeface="Calibri Light" panose="020F0302020204030204" pitchFamily="34" charset="0"/>
                <a:cs typeface="Calibri Light" panose="020F0302020204030204" pitchFamily="34" charset="0"/>
              </a:rPr>
              <a:t>• USERS, TABLES, COLUMNS</a:t>
            </a:r>
          </a:p>
        </p:txBody>
      </p:sp>
      <p:sp>
        <p:nvSpPr>
          <p:cNvPr id="9" name="Shape 6"/>
          <p:cNvSpPr/>
          <p:nvPr/>
        </p:nvSpPr>
        <p:spPr>
          <a:xfrm>
            <a:off x="3291840" y="1371600"/>
            <a:ext cx="2560320" cy="2926080"/>
          </a:xfrm>
          <a:prstGeom prst="rect">
            <a:avLst/>
          </a:prstGeom>
          <a:solidFill>
            <a:srgbClr val="F5F5F5"/>
          </a:solidFill>
          <a:ln/>
        </p:spPr>
        <p:txBody>
          <a:bodyPr/>
          <a:lstStyle/>
          <a:p>
            <a:endParaRPr lang="en-US">
              <a:latin typeface="+mj-lt"/>
              <a:ea typeface="Calibri Light" panose="020F0302020204030204" pitchFamily="34" charset="0"/>
              <a:cs typeface="Calibri Light" panose="020F0302020204030204" pitchFamily="34" charset="0"/>
            </a:endParaRPr>
          </a:p>
        </p:txBody>
      </p:sp>
      <p:sp>
        <p:nvSpPr>
          <p:cNvPr id="10" name="Text 8"/>
          <p:cNvSpPr/>
          <p:nvPr/>
        </p:nvSpPr>
        <p:spPr>
          <a:xfrm>
            <a:off x="3291840" y="1371600"/>
            <a:ext cx="2560320" cy="411480"/>
          </a:xfrm>
          <a:prstGeom prst="rect">
            <a:avLst/>
          </a:prstGeom>
          <a:noFill/>
          <a:ln/>
        </p:spPr>
        <p:txBody>
          <a:bodyPr wrap="square" rtlCol="0" anchor="ctr"/>
          <a:lstStyle/>
          <a:p>
            <a:pPr marL="0" indent="0">
              <a:buNone/>
            </a:pPr>
            <a:r>
              <a:rPr lang="en-US" sz="1400" b="1" dirty="0">
                <a:latin typeface="+mj-lt"/>
                <a:ea typeface="Calibri Light" panose="020F0302020204030204" pitchFamily="34" charset="0"/>
                <a:cs typeface="Calibri Light" panose="020F0302020204030204" pitchFamily="34" charset="0"/>
              </a:rPr>
              <a:t>Processing</a:t>
            </a:r>
            <a:r>
              <a:rPr lang="en-US" sz="1400" b="1" dirty="0">
                <a:solidFill>
                  <a:srgbClr val="FFFFFF"/>
                </a:solidFill>
                <a:latin typeface="+mj-lt"/>
                <a:ea typeface="Calibri Light" panose="020F0302020204030204" pitchFamily="34" charset="0"/>
                <a:cs typeface="Calibri Light" panose="020F0302020204030204" pitchFamily="34" charset="0"/>
              </a:rPr>
              <a:t xml:space="preserve"> </a:t>
            </a:r>
            <a:r>
              <a:rPr lang="en-US" sz="1400" b="1" dirty="0">
                <a:latin typeface="+mj-lt"/>
                <a:ea typeface="Calibri Light" panose="020F0302020204030204" pitchFamily="34" charset="0"/>
                <a:cs typeface="Calibri Light" panose="020F0302020204030204" pitchFamily="34" charset="0"/>
              </a:rPr>
              <a:t>Layer</a:t>
            </a:r>
          </a:p>
        </p:txBody>
      </p:sp>
      <p:sp>
        <p:nvSpPr>
          <p:cNvPr id="11" name="Text 9"/>
          <p:cNvSpPr/>
          <p:nvPr/>
        </p:nvSpPr>
        <p:spPr>
          <a:xfrm>
            <a:off x="3429000" y="1920240"/>
            <a:ext cx="2377440" cy="2194560"/>
          </a:xfrm>
          <a:prstGeom prst="rect">
            <a:avLst/>
          </a:prstGeom>
          <a:noFill/>
          <a:ln/>
        </p:spPr>
        <p:txBody>
          <a:bodyPr wrap="square" rtlCol="0" anchor="ctr"/>
          <a:lstStyle/>
          <a:p>
            <a:pPr marL="0" indent="0">
              <a:buNone/>
            </a:pPr>
            <a:r>
              <a:rPr lang="en-US" sz="1000" b="1" dirty="0">
                <a:solidFill>
                  <a:srgbClr val="363636"/>
                </a:solidFill>
                <a:latin typeface="+mj-lt"/>
                <a:ea typeface="Calibri Light" panose="020F0302020204030204" pitchFamily="34" charset="0"/>
                <a:cs typeface="Calibri Light" panose="020F0302020204030204" pitchFamily="34" charset="0"/>
              </a:rPr>
              <a:t>DBT Models: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Transform raw metadata</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Aggregate credit consumption</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Calculate storage metrics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xml:space="preserve"> </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b="1" dirty="0">
                <a:solidFill>
                  <a:srgbClr val="363636"/>
                </a:solidFill>
                <a:latin typeface="+mj-lt"/>
                <a:ea typeface="Calibri Light" panose="020F0302020204030204" pitchFamily="34" charset="0"/>
                <a:cs typeface="Calibri Light" panose="020F0302020204030204" pitchFamily="34" charset="0"/>
              </a:rPr>
              <a:t>Airflow DAGs: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Scheduled execution of DBT models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Daily/hourly refresh cycles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xml:space="preserve"> </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b="1" dirty="0">
                <a:solidFill>
                  <a:srgbClr val="363636"/>
                </a:solidFill>
                <a:latin typeface="+mj-lt"/>
                <a:ea typeface="Calibri Light" panose="020F0302020204030204" pitchFamily="34" charset="0"/>
                <a:cs typeface="Calibri Light" panose="020F0302020204030204" pitchFamily="34" charset="0"/>
              </a:rPr>
              <a:t>Target Database:</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PLATFORM__AUDIT__PREPROD</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Schema: FINOPS_CURATED</a:t>
            </a:r>
            <a:endParaRPr lang="en-US" sz="1000" dirty="0">
              <a:latin typeface="+mj-lt"/>
              <a:ea typeface="Calibri Light" panose="020F0302020204030204" pitchFamily="34" charset="0"/>
              <a:cs typeface="Calibri Light" panose="020F0302020204030204" pitchFamily="34" charset="0"/>
            </a:endParaRPr>
          </a:p>
        </p:txBody>
      </p:sp>
      <p:sp>
        <p:nvSpPr>
          <p:cNvPr id="12" name="Shape 10"/>
          <p:cNvSpPr/>
          <p:nvPr/>
        </p:nvSpPr>
        <p:spPr>
          <a:xfrm>
            <a:off x="6126480" y="1371600"/>
            <a:ext cx="2560320" cy="2926080"/>
          </a:xfrm>
          <a:prstGeom prst="rect">
            <a:avLst/>
          </a:prstGeom>
          <a:solidFill>
            <a:srgbClr val="F5F5F5"/>
          </a:solidFill>
          <a:ln/>
        </p:spPr>
        <p:txBody>
          <a:bodyPr/>
          <a:lstStyle/>
          <a:p>
            <a:endParaRPr lang="en-US">
              <a:latin typeface="+mj-lt"/>
              <a:ea typeface="Calibri Light" panose="020F0302020204030204" pitchFamily="34" charset="0"/>
              <a:cs typeface="Calibri Light" panose="020F0302020204030204" pitchFamily="34" charset="0"/>
            </a:endParaRPr>
          </a:p>
        </p:txBody>
      </p:sp>
      <p:sp>
        <p:nvSpPr>
          <p:cNvPr id="14" name="Text 12"/>
          <p:cNvSpPr/>
          <p:nvPr/>
        </p:nvSpPr>
        <p:spPr>
          <a:xfrm>
            <a:off x="6126480" y="1371600"/>
            <a:ext cx="2560320" cy="411480"/>
          </a:xfrm>
          <a:prstGeom prst="rect">
            <a:avLst/>
          </a:prstGeom>
          <a:noFill/>
          <a:ln/>
        </p:spPr>
        <p:txBody>
          <a:bodyPr wrap="square" rtlCol="0" anchor="ctr"/>
          <a:lstStyle/>
          <a:p>
            <a:pPr marL="0" indent="0">
              <a:buNone/>
            </a:pPr>
            <a:r>
              <a:rPr lang="en-US" sz="1400" b="1" dirty="0">
                <a:latin typeface="+mj-lt"/>
                <a:ea typeface="Calibri Light" panose="020F0302020204030204" pitchFamily="34" charset="0"/>
                <a:cs typeface="Calibri Light" panose="020F0302020204030204" pitchFamily="34" charset="0"/>
              </a:rPr>
              <a:t>Dashboard</a:t>
            </a:r>
            <a:r>
              <a:rPr lang="en-US" sz="1400" b="1" dirty="0">
                <a:solidFill>
                  <a:srgbClr val="FFFFFF"/>
                </a:solidFill>
                <a:latin typeface="+mj-lt"/>
                <a:ea typeface="Calibri Light" panose="020F0302020204030204" pitchFamily="34" charset="0"/>
                <a:cs typeface="Calibri Light" panose="020F0302020204030204" pitchFamily="34" charset="0"/>
              </a:rPr>
              <a:t xml:space="preserve"> </a:t>
            </a:r>
            <a:r>
              <a:rPr lang="en-US" sz="1400" b="1" dirty="0">
                <a:latin typeface="+mj-lt"/>
                <a:ea typeface="Calibri Light" panose="020F0302020204030204" pitchFamily="34" charset="0"/>
                <a:cs typeface="Calibri Light" panose="020F0302020204030204" pitchFamily="34" charset="0"/>
              </a:rPr>
              <a:t>Layer</a:t>
            </a:r>
          </a:p>
        </p:txBody>
      </p:sp>
      <p:sp>
        <p:nvSpPr>
          <p:cNvPr id="15" name="Text 13"/>
          <p:cNvSpPr/>
          <p:nvPr/>
        </p:nvSpPr>
        <p:spPr>
          <a:xfrm>
            <a:off x="6263640" y="1920240"/>
            <a:ext cx="2286000" cy="2194560"/>
          </a:xfrm>
          <a:prstGeom prst="rect">
            <a:avLst/>
          </a:prstGeom>
          <a:noFill/>
          <a:ln/>
        </p:spPr>
        <p:txBody>
          <a:bodyPr wrap="square" rtlCol="0" anchor="ctr"/>
          <a:lstStyle/>
          <a:p>
            <a:pPr marL="0" indent="0">
              <a:buNone/>
            </a:pPr>
            <a:r>
              <a:rPr lang="en-US" sz="1000" b="1" dirty="0">
                <a:solidFill>
                  <a:srgbClr val="363636"/>
                </a:solidFill>
                <a:latin typeface="+mj-lt"/>
                <a:ea typeface="Calibri Light" panose="020F0302020204030204" pitchFamily="34" charset="0"/>
                <a:cs typeface="Calibri Light" panose="020F0302020204030204" pitchFamily="34" charset="0"/>
              </a:rPr>
              <a:t>Curated Tables: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CREDIT_USAGE</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STORAGE_USAGE</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WAREHOUSE_RECOMMENDER</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BATCH_JOB_OPTIMIZATION</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USER_ACCESS_BY_TAG</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QUERY_COST_RATIO</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xml:space="preserve"> </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b="1" dirty="0">
                <a:solidFill>
                  <a:srgbClr val="363636"/>
                </a:solidFill>
                <a:latin typeface="+mj-lt"/>
                <a:ea typeface="Calibri Light" panose="020F0302020204030204" pitchFamily="34" charset="0"/>
                <a:cs typeface="Calibri Light" panose="020F0302020204030204" pitchFamily="34" charset="0"/>
              </a:rPr>
              <a:t>Snowflake Dashboard:</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Interactive visualizations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Real-time metrics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Drill-down capabilities</a:t>
            </a:r>
            <a:endParaRPr lang="en-US" sz="1000" dirty="0">
              <a:latin typeface="+mj-lt"/>
              <a:ea typeface="Calibri Light" panose="020F0302020204030204" pitchFamily="34" charset="0"/>
              <a:cs typeface="Calibri Light" panose="020F0302020204030204" pitchFamily="34" charset="0"/>
            </a:endParaRPr>
          </a:p>
        </p:txBody>
      </p:sp>
      <p:sp>
        <p:nvSpPr>
          <p:cNvPr id="16" name="Shape 14"/>
          <p:cNvSpPr/>
          <p:nvPr/>
        </p:nvSpPr>
        <p:spPr>
          <a:xfrm>
            <a:off x="3108960" y="2743200"/>
            <a:ext cx="137160" cy="274320"/>
          </a:xfrm>
          <a:prstGeom prst="rightArrow">
            <a:avLst/>
          </a:prstGeom>
          <a:solidFill>
            <a:srgbClr val="065A82"/>
          </a:solidFill>
          <a:ln/>
        </p:spPr>
        <p:txBody>
          <a:bodyPr/>
          <a:lstStyle/>
          <a:p>
            <a:endParaRPr lang="en-US">
              <a:latin typeface="+mj-lt"/>
              <a:ea typeface="Calibri Light" panose="020F0302020204030204" pitchFamily="34" charset="0"/>
              <a:cs typeface="Calibri Light" panose="020F0302020204030204" pitchFamily="34" charset="0"/>
            </a:endParaRPr>
          </a:p>
        </p:txBody>
      </p:sp>
      <p:sp>
        <p:nvSpPr>
          <p:cNvPr id="17" name="Shape 15"/>
          <p:cNvSpPr/>
          <p:nvPr/>
        </p:nvSpPr>
        <p:spPr>
          <a:xfrm>
            <a:off x="5943600" y="2743200"/>
            <a:ext cx="137160" cy="274320"/>
          </a:xfrm>
          <a:prstGeom prst="rightArrow">
            <a:avLst/>
          </a:prstGeom>
          <a:solidFill>
            <a:srgbClr val="1C7293"/>
          </a:solidFill>
          <a:ln/>
        </p:spPr>
        <p:txBody>
          <a:bodyPr/>
          <a:lstStyle/>
          <a:p>
            <a:endParaRPr lang="en-US">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424780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33B94-E269-BA62-8A27-22D08087C71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AEAEF59-39F9-D946-483A-BE7A371B632E}"/>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046DFF48-A035-9DE2-DC73-39312EF7C3C1}"/>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8</a:t>
            </a:fld>
            <a:endParaRPr lang="en-NZ" altLang="en-US">
              <a:latin typeface="+mj-lt"/>
            </a:endParaRPr>
          </a:p>
        </p:txBody>
      </p:sp>
      <p:sp>
        <p:nvSpPr>
          <p:cNvPr id="2" name="Text 0">
            <a:extLst>
              <a:ext uri="{FF2B5EF4-FFF2-40B4-BE49-F238E27FC236}">
                <a16:creationId xmlns:a16="http://schemas.microsoft.com/office/drawing/2014/main" id="{B603F8E8-F16F-E87A-70FB-65512DDE3120}"/>
              </a:ext>
            </a:extLst>
          </p:cNvPr>
          <p:cNvSpPr/>
          <p:nvPr/>
        </p:nvSpPr>
        <p:spPr>
          <a:xfrm>
            <a:off x="457200" y="365760"/>
            <a:ext cx="82296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u="none" strike="noStrike" kern="1200" cap="none" spc="0" normalizeH="0" noProof="0" dirty="0">
                <a:ln>
                  <a:noFill/>
                </a:ln>
                <a:effectLst/>
                <a:uLnTx/>
                <a:uFillTx/>
                <a:latin typeface="+mj-lt"/>
                <a:ea typeface="+mn-ea"/>
                <a:cs typeface="+mn-cs"/>
              </a:rPr>
              <a:t>FinOps Details</a:t>
            </a:r>
          </a:p>
        </p:txBody>
      </p:sp>
      <p:sp>
        <p:nvSpPr>
          <p:cNvPr id="5" name="Shape 1">
            <a:extLst>
              <a:ext uri="{FF2B5EF4-FFF2-40B4-BE49-F238E27FC236}">
                <a16:creationId xmlns:a16="http://schemas.microsoft.com/office/drawing/2014/main" id="{934BFB7C-0141-1A9E-8E5D-0F16980B29C9}"/>
              </a:ext>
            </a:extLst>
          </p:cNvPr>
          <p:cNvSpPr/>
          <p:nvPr/>
        </p:nvSpPr>
        <p:spPr>
          <a:xfrm>
            <a:off x="457200" y="1097280"/>
            <a:ext cx="4114800" cy="347472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6" name="Shape 2">
            <a:extLst>
              <a:ext uri="{FF2B5EF4-FFF2-40B4-BE49-F238E27FC236}">
                <a16:creationId xmlns:a16="http://schemas.microsoft.com/office/drawing/2014/main" id="{B2369C59-E3AD-812E-58C3-239F5B0A7CBA}"/>
              </a:ext>
            </a:extLst>
          </p:cNvPr>
          <p:cNvSpPr/>
          <p:nvPr/>
        </p:nvSpPr>
        <p:spPr>
          <a:xfrm>
            <a:off x="457200" y="1097280"/>
            <a:ext cx="4114800" cy="457200"/>
          </a:xfrm>
          <a:prstGeom prst="rect">
            <a:avLst/>
          </a:prstGeom>
          <a:noFill/>
          <a:ln/>
        </p:spPr>
        <p:txBody>
          <a:bodyPr/>
          <a:lstStyle/>
          <a:p>
            <a:pPr>
              <a:defRPr/>
            </a:pPr>
            <a:r>
              <a:rPr lang="en-US" sz="1200" b="1" dirty="0">
                <a:latin typeface="+mj-lt"/>
                <a:ea typeface="Calibri Light" panose="020F0302020204030204" pitchFamily="34" charset="0"/>
                <a:cs typeface="Calibri Light" panose="020F0302020204030204" pitchFamily="34" charset="0"/>
              </a:rPr>
              <a:t>Database</a:t>
            </a:r>
            <a:r>
              <a:rPr lang="en-US" sz="1200" b="1" dirty="0">
                <a:solidFill>
                  <a:srgbClr val="FFFFFF"/>
                </a:solidFill>
                <a:latin typeface="+mj-lt"/>
                <a:ea typeface="Calibri Light" panose="020F0302020204030204" pitchFamily="34" charset="0"/>
                <a:cs typeface="Calibri Light" panose="020F0302020204030204" pitchFamily="34" charset="0"/>
              </a:rPr>
              <a:t xml:space="preserve"> </a:t>
            </a:r>
            <a:r>
              <a:rPr lang="en-US" sz="1200" b="1" dirty="0">
                <a:latin typeface="+mj-lt"/>
                <a:ea typeface="Calibri Light" panose="020F0302020204030204" pitchFamily="34" charset="0"/>
                <a:cs typeface="Calibri Light" panose="020F0302020204030204" pitchFamily="34" charset="0"/>
              </a:rPr>
              <a:t>Structure</a:t>
            </a:r>
            <a:endParaRPr lang="en-US" sz="1200" dirty="0">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n-ea"/>
              <a:cs typeface="+mn-cs"/>
            </a:endParaRPr>
          </a:p>
        </p:txBody>
      </p:sp>
      <p:sp>
        <p:nvSpPr>
          <p:cNvPr id="7" name="Text 4">
            <a:extLst>
              <a:ext uri="{FF2B5EF4-FFF2-40B4-BE49-F238E27FC236}">
                <a16:creationId xmlns:a16="http://schemas.microsoft.com/office/drawing/2014/main" id="{38CB48E8-94CA-89AD-DA64-867515DD9B93}"/>
              </a:ext>
            </a:extLst>
          </p:cNvPr>
          <p:cNvSpPr/>
          <p:nvPr/>
        </p:nvSpPr>
        <p:spPr>
          <a:xfrm>
            <a:off x="457200" y="1508760"/>
            <a:ext cx="3749040" cy="2651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Database:</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PLATFORM__AUDIT__PREPROD</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xml:space="preserve"> </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Schemas: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FINOPS_CURATED</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xml:space="preserve">  - Credit usage tracking</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xml:space="preserve">  - Storage usage metrics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xml:space="preserve">  - Warehouse recommendations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xml:space="preserve"> </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SNOWFLAKE</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xml:space="preserve">  - Audit metadata</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xml:space="preserve">  - Query history</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xml:space="preserve">  - Access logs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sp>
        <p:nvSpPr>
          <p:cNvPr id="8" name="Shape 5">
            <a:extLst>
              <a:ext uri="{FF2B5EF4-FFF2-40B4-BE49-F238E27FC236}">
                <a16:creationId xmlns:a16="http://schemas.microsoft.com/office/drawing/2014/main" id="{E741116C-2F94-48AD-F67E-3A81CEA29121}"/>
              </a:ext>
            </a:extLst>
          </p:cNvPr>
          <p:cNvSpPr/>
          <p:nvPr/>
        </p:nvSpPr>
        <p:spPr>
          <a:xfrm>
            <a:off x="4754880" y="1097280"/>
            <a:ext cx="4114800" cy="347472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9" name="Shape 6">
            <a:extLst>
              <a:ext uri="{FF2B5EF4-FFF2-40B4-BE49-F238E27FC236}">
                <a16:creationId xmlns:a16="http://schemas.microsoft.com/office/drawing/2014/main" id="{A2D1C84E-CAF3-E2B5-335F-87BBA80301B0}"/>
              </a:ext>
            </a:extLst>
          </p:cNvPr>
          <p:cNvSpPr/>
          <p:nvPr/>
        </p:nvSpPr>
        <p:spPr>
          <a:xfrm>
            <a:off x="4754880" y="1097280"/>
            <a:ext cx="4114800" cy="457200"/>
          </a:xfrm>
          <a:prstGeom prst="rect">
            <a:avLst/>
          </a:prstGeom>
          <a:noFill/>
          <a:ln/>
        </p:spPr>
        <p:txBody>
          <a:bodyPr/>
          <a:lstStyle/>
          <a:p>
            <a:pPr>
              <a:defRPr/>
            </a:pPr>
            <a:r>
              <a:rPr lang="en-US" sz="1200" b="1" dirty="0">
                <a:latin typeface="+mj-lt"/>
                <a:ea typeface="Calibri Light" panose="020F0302020204030204" pitchFamily="34" charset="0"/>
                <a:cs typeface="Calibri Light" panose="020F0302020204030204" pitchFamily="34" charset="0"/>
              </a:rPr>
              <a:t>Key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n-ea"/>
              <a:cs typeface="+mn-cs"/>
            </a:endParaRPr>
          </a:p>
        </p:txBody>
      </p:sp>
      <p:sp>
        <p:nvSpPr>
          <p:cNvPr id="10" name="Text 8">
            <a:extLst>
              <a:ext uri="{FF2B5EF4-FFF2-40B4-BE49-F238E27FC236}">
                <a16:creationId xmlns:a16="http://schemas.microsoft.com/office/drawing/2014/main" id="{1C9A3923-E748-ED4A-0AB5-F9BBB4F63E70}"/>
              </a:ext>
            </a:extLst>
          </p:cNvPr>
          <p:cNvSpPr/>
          <p:nvPr/>
        </p:nvSpPr>
        <p:spPr>
          <a:xfrm>
            <a:off x="4754880" y="1508760"/>
            <a:ext cx="3749040" cy="2651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Warehouses &amp; Resource Monitors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Zone-specific warehouses with credit thresholds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xml:space="preserve"> </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Row Access Policies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Fine-grained access control at row level</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xml:space="preserve"> </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Audit &amp; Logging</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Centralized metadata in platform DB</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Zone-level execution logs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xml:space="preserve"> </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Splunk Integration</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Real-time monitoring and analytics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cxnSp>
        <p:nvCxnSpPr>
          <p:cNvPr id="11" name="Google Shape;227;p33">
            <a:extLst>
              <a:ext uri="{FF2B5EF4-FFF2-40B4-BE49-F238E27FC236}">
                <a16:creationId xmlns:a16="http://schemas.microsoft.com/office/drawing/2014/main" id="{CB95C61C-4C21-B00D-102C-D2F105ED257E}"/>
              </a:ext>
            </a:extLst>
          </p:cNvPr>
          <p:cNvCxnSpPr>
            <a:cxnSpLocks/>
          </p:cNvCxnSpPr>
          <p:nvPr/>
        </p:nvCxnSpPr>
        <p:spPr>
          <a:xfrm>
            <a:off x="63500" y="920480"/>
            <a:ext cx="9017000" cy="0"/>
          </a:xfrm>
          <a:prstGeom prst="straightConnector1">
            <a:avLst/>
          </a:prstGeom>
          <a:ln w="9525">
            <a:solidFill>
              <a:srgbClr val="083C77"/>
            </a:solidFill>
            <a:round/>
          </a:ln>
        </p:spPr>
      </p:cxnSp>
    </p:spTree>
    <p:extLst>
      <p:ext uri="{BB962C8B-B14F-4D97-AF65-F5344CB8AC3E}">
        <p14:creationId xmlns:p14="http://schemas.microsoft.com/office/powerpoint/2010/main" val="55880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67FF8-2B5E-E6C3-9EA6-D9B15C9886A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56FD7A-E41D-A0A2-FFF6-1E0E3FB13483}"/>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0AACB9BC-DD0A-92F3-F858-26927D7E94A5}"/>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9</a:t>
            </a:fld>
            <a:endParaRPr lang="en-NZ" altLang="en-US">
              <a:latin typeface="+mj-lt"/>
            </a:endParaRPr>
          </a:p>
        </p:txBody>
      </p:sp>
      <p:sp>
        <p:nvSpPr>
          <p:cNvPr id="2" name="Text 0">
            <a:extLst>
              <a:ext uri="{FF2B5EF4-FFF2-40B4-BE49-F238E27FC236}">
                <a16:creationId xmlns:a16="http://schemas.microsoft.com/office/drawing/2014/main" id="{FD2B7D37-3900-60DA-12F8-4F98BDDBCA08}"/>
              </a:ext>
            </a:extLst>
          </p:cNvPr>
          <p:cNvSpPr/>
          <p:nvPr/>
        </p:nvSpPr>
        <p:spPr>
          <a:xfrm>
            <a:off x="161926" y="365760"/>
            <a:ext cx="7334250" cy="481641"/>
          </a:xfrm>
          <a:prstGeom prst="rect">
            <a:avLst/>
          </a:prstGeom>
          <a:noFill/>
          <a:ln/>
        </p:spPr>
        <p:txBody>
          <a:bodyPr wrap="square" rtlCol="0" anchor="ctr"/>
          <a:lstStyle/>
          <a:p>
            <a:pPr lvl="0">
              <a:defRPr/>
            </a:pPr>
            <a:r>
              <a:rPr lang="en-US" sz="2400" dirty="0">
                <a:latin typeface="+mj-lt"/>
                <a:ea typeface="Calibri Light" panose="020F0302020204030204" pitchFamily="34" charset="0"/>
                <a:cs typeface="Calibri Light" panose="020F0302020204030204" pitchFamily="34" charset="0"/>
              </a:rPr>
              <a:t>Dashboard Implementation (What you can see)</a:t>
            </a:r>
            <a:endParaRPr kumimoji="0" lang="en-US" sz="2400"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endParaRPr>
          </a:p>
        </p:txBody>
      </p:sp>
      <p:sp>
        <p:nvSpPr>
          <p:cNvPr id="5" name="Text 1">
            <a:extLst>
              <a:ext uri="{FF2B5EF4-FFF2-40B4-BE49-F238E27FC236}">
                <a16:creationId xmlns:a16="http://schemas.microsoft.com/office/drawing/2014/main" id="{B821DBEB-9C7B-6720-6B78-DAC4489A58DF}"/>
              </a:ext>
            </a:extLst>
          </p:cNvPr>
          <p:cNvSpPr/>
          <p:nvPr/>
        </p:nvSpPr>
        <p:spPr>
          <a:xfrm>
            <a:off x="386080" y="1098864"/>
            <a:ext cx="8046720" cy="222739"/>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Centralized visibility for cost governance and optimization</a:t>
            </a:r>
            <a:endParaRPr kumimoji="0" lang="en-US" sz="1200" b="1"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sp>
        <p:nvSpPr>
          <p:cNvPr id="8" name="Text 4">
            <a:extLst>
              <a:ext uri="{FF2B5EF4-FFF2-40B4-BE49-F238E27FC236}">
                <a16:creationId xmlns:a16="http://schemas.microsoft.com/office/drawing/2014/main" id="{094D930A-FD5E-FF66-0CBD-9B68221393AE}"/>
              </a:ext>
            </a:extLst>
          </p:cNvPr>
          <p:cNvSpPr/>
          <p:nvPr/>
        </p:nvSpPr>
        <p:spPr>
          <a:xfrm>
            <a:off x="286870" y="4116705"/>
            <a:ext cx="6418729" cy="363855"/>
          </a:xfrm>
          <a:prstGeom prst="rect">
            <a:avLst/>
          </a:prstGeom>
          <a:noFill/>
          <a:ln/>
        </p:spPr>
        <p:txBody>
          <a:bodyPr wrap="square"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100" b="0" u="none" strike="noStrike" kern="1200" cap="none" spc="0" normalizeH="0" baseline="0" noProof="0" dirty="0">
                <a:ln>
                  <a:noFill/>
                </a:ln>
                <a:solidFill>
                  <a:srgbClr val="363636"/>
                </a:solidFill>
                <a:effectLst/>
                <a:uLnTx/>
                <a:uFillTx/>
                <a:latin typeface="+mj-lt"/>
                <a:ea typeface="+mn-ea"/>
                <a:cs typeface="+mn-cs"/>
              </a:rPr>
              <a:t>Access Required: A_BDH_sf_fg_plat_dev_developer AD group</a:t>
            </a:r>
            <a:endParaRPr kumimoji="0" lang="en-US" sz="1100" b="0" u="none" strike="noStrike" kern="1200" cap="none" spc="0" normalizeH="0" baseline="0" noProof="0" dirty="0">
              <a:ln>
                <a:noFill/>
              </a:ln>
              <a:solidFill>
                <a:prstClr val="black"/>
              </a:solidFill>
              <a:effectLst/>
              <a:uLnTx/>
              <a:uFillTx/>
              <a:latin typeface="+mj-lt"/>
              <a:ea typeface="+mn-ea"/>
              <a:cs typeface="+mn-cs"/>
            </a:endParaRPr>
          </a:p>
        </p:txBody>
      </p:sp>
      <p:sp>
        <p:nvSpPr>
          <p:cNvPr id="10" name="Text 6">
            <a:extLst>
              <a:ext uri="{FF2B5EF4-FFF2-40B4-BE49-F238E27FC236}">
                <a16:creationId xmlns:a16="http://schemas.microsoft.com/office/drawing/2014/main" id="{6A070EEA-0A02-3B50-A45C-47BD268B915B}"/>
              </a:ext>
            </a:extLst>
          </p:cNvPr>
          <p:cNvSpPr/>
          <p:nvPr/>
        </p:nvSpPr>
        <p:spPr>
          <a:xfrm>
            <a:off x="411480" y="1485900"/>
            <a:ext cx="37490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Key Metrics</a:t>
            </a:r>
            <a:endParaRPr kumimoji="0" lang="en-US" sz="1200" b="0"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endParaRPr>
          </a:p>
        </p:txBody>
      </p:sp>
      <p:sp>
        <p:nvSpPr>
          <p:cNvPr id="11" name="Text 7">
            <a:extLst>
              <a:ext uri="{FF2B5EF4-FFF2-40B4-BE49-F238E27FC236}">
                <a16:creationId xmlns:a16="http://schemas.microsoft.com/office/drawing/2014/main" id="{D5556FB6-4A87-904D-F358-B01A7012B0DB}"/>
              </a:ext>
            </a:extLst>
          </p:cNvPr>
          <p:cNvSpPr/>
          <p:nvPr/>
        </p:nvSpPr>
        <p:spPr>
          <a:xfrm>
            <a:off x="386080" y="1737360"/>
            <a:ext cx="3749040" cy="2491740"/>
          </a:xfrm>
          <a:prstGeom prst="rect">
            <a:avLst/>
          </a:prstGeom>
          <a:noFill/>
          <a:ln/>
        </p:spPr>
        <p:txBody>
          <a:bodyPr wrap="square"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u="none" strike="noStrike" kern="1200" cap="none" spc="0" normalizeH="0" baseline="0" noProof="0" dirty="0">
                <a:ln>
                  <a:noFill/>
                </a:ln>
                <a:solidFill>
                  <a:srgbClr val="363636"/>
                </a:solidFill>
                <a:effectLst/>
                <a:uLnTx/>
                <a:uFillTx/>
                <a:latin typeface="+mj-lt"/>
                <a:ea typeface="+mn-ea"/>
                <a:cs typeface="+mn-cs"/>
              </a:rPr>
              <a:t>Total Storage (GB)</a:t>
            </a:r>
            <a:endParaRPr kumimoji="0" lang="en-US" sz="1200" u="none" strike="noStrike" kern="1200" cap="none" spc="0" normalizeH="0" baseline="0" noProof="0" dirty="0">
              <a:ln>
                <a:noFill/>
              </a:ln>
              <a:solidFill>
                <a:prstClr val="black"/>
              </a:solidFill>
              <a:effectLst/>
              <a:uLnTx/>
              <a:uFillTx/>
              <a:latin typeface="+mj-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u="none" strike="noStrike" kern="1200" cap="none" spc="0" normalizeH="0" baseline="0" noProof="0" dirty="0">
                <a:ln>
                  <a:noFill/>
                </a:ln>
                <a:solidFill>
                  <a:srgbClr val="363636"/>
                </a:solidFill>
                <a:effectLst/>
                <a:uLnTx/>
                <a:uFillTx/>
                <a:latin typeface="+mj-lt"/>
                <a:ea typeface="+mn-ea"/>
                <a:cs typeface="+mn-cs"/>
              </a:rPr>
              <a:t>Total Warehouses</a:t>
            </a:r>
            <a:endParaRPr kumimoji="0" lang="en-US" sz="1200" u="none" strike="noStrike" kern="1200" cap="none" spc="0" normalizeH="0" baseline="0" noProof="0" dirty="0">
              <a:ln>
                <a:noFill/>
              </a:ln>
              <a:solidFill>
                <a:prstClr val="black"/>
              </a:solidFill>
              <a:effectLst/>
              <a:uLnTx/>
              <a:uFillTx/>
              <a:latin typeface="+mj-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u="none" strike="noStrike" kern="1200" cap="none" spc="0" normalizeH="0" baseline="0" noProof="0" dirty="0">
                <a:ln>
                  <a:noFill/>
                </a:ln>
                <a:solidFill>
                  <a:srgbClr val="363636"/>
                </a:solidFill>
                <a:effectLst/>
                <a:uLnTx/>
                <a:uFillTx/>
                <a:latin typeface="+mj-lt"/>
                <a:ea typeface="+mn-ea"/>
                <a:cs typeface="+mn-cs"/>
              </a:rPr>
              <a:t>Total Databases</a:t>
            </a:r>
            <a:endParaRPr kumimoji="0" lang="en-US" sz="1200" u="none" strike="noStrike" kern="1200" cap="none" spc="0" normalizeH="0" baseline="0" noProof="0" dirty="0">
              <a:ln>
                <a:noFill/>
              </a:ln>
              <a:solidFill>
                <a:prstClr val="black"/>
              </a:solidFill>
              <a:effectLst/>
              <a:uLnTx/>
              <a:uFillTx/>
              <a:latin typeface="+mj-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u="none" strike="noStrike" kern="1200" cap="none" spc="0" normalizeH="0" baseline="0" noProof="0" dirty="0">
                <a:ln>
                  <a:noFill/>
                </a:ln>
                <a:solidFill>
                  <a:srgbClr val="363636"/>
                </a:solidFill>
                <a:effectLst/>
                <a:uLnTx/>
                <a:uFillTx/>
                <a:latin typeface="+mj-lt"/>
                <a:ea typeface="+mn-ea"/>
                <a:cs typeface="+mn-cs"/>
              </a:rPr>
              <a:t>Total Number of Users</a:t>
            </a:r>
            <a:endParaRPr kumimoji="0" lang="en-US" sz="1200" u="none" strike="noStrike" kern="1200" cap="none" spc="0" normalizeH="0" baseline="0" noProof="0" dirty="0">
              <a:ln>
                <a:noFill/>
              </a:ln>
              <a:solidFill>
                <a:prstClr val="black"/>
              </a:solidFill>
              <a:effectLst/>
              <a:uLnTx/>
              <a:uFillTx/>
              <a:latin typeface="+mj-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u="none" strike="noStrike" kern="1200" cap="none" spc="0" normalizeH="0" baseline="0" noProof="0" dirty="0">
                <a:ln>
                  <a:noFill/>
                </a:ln>
                <a:solidFill>
                  <a:srgbClr val="363636"/>
                </a:solidFill>
                <a:effectLst/>
                <a:uLnTx/>
                <a:uFillTx/>
                <a:latin typeface="+mj-lt"/>
                <a:ea typeface="+mn-ea"/>
                <a:cs typeface="+mn-cs"/>
              </a:rPr>
              <a:t xml:space="preserve">Total </a:t>
            </a:r>
            <a:r>
              <a:rPr kumimoji="0" lang="en-US" sz="1200" u="none" strike="noStrike" kern="1200" cap="none" spc="0" normalizeH="0" baseline="0" noProof="0" dirty="0">
                <a:ln>
                  <a:noFill/>
                </a:ln>
                <a:effectLst/>
                <a:uLnTx/>
                <a:uFillTx/>
                <a:latin typeface="+mj-lt"/>
                <a:ea typeface="+mn-ea"/>
                <a:cs typeface="+mn-cs"/>
              </a:rPr>
              <a:t>Number</a:t>
            </a:r>
            <a:r>
              <a:rPr kumimoji="0" lang="en-US" sz="1200" u="none" strike="noStrike" kern="1200" cap="none" spc="0" normalizeH="0" baseline="0" noProof="0" dirty="0">
                <a:ln>
                  <a:noFill/>
                </a:ln>
                <a:solidFill>
                  <a:srgbClr val="363636"/>
                </a:solidFill>
                <a:effectLst/>
                <a:uLnTx/>
                <a:uFillTx/>
                <a:latin typeface="+mj-lt"/>
                <a:ea typeface="+mn-ea"/>
                <a:cs typeface="+mn-cs"/>
              </a:rPr>
              <a:t xml:space="preserve"> of Queries Executed</a:t>
            </a:r>
            <a:endParaRPr kumimoji="0" lang="en-US" sz="1200" u="none" strike="noStrike" kern="1200" cap="none" spc="0" normalizeH="0" baseline="0" noProof="0" dirty="0">
              <a:ln>
                <a:noFill/>
              </a:ln>
              <a:solidFill>
                <a:prstClr val="black"/>
              </a:solidFill>
              <a:effectLst/>
              <a:uLnTx/>
              <a:uFillTx/>
              <a:latin typeface="+mj-lt"/>
              <a:ea typeface="+mn-ea"/>
              <a:cs typeface="+mn-cs"/>
            </a:endParaRPr>
          </a:p>
          <a:p>
            <a:pPr marL="171450" lvl="0" indent="-171450">
              <a:buFont typeface="Arial" panose="020B0604020202020204" pitchFamily="34" charset="0"/>
              <a:buChar char="•"/>
              <a:defRPr/>
            </a:pPr>
            <a:r>
              <a:rPr kumimoji="0" lang="en-US" sz="1200" u="none" strike="noStrike" kern="1200" cap="none" spc="0" normalizeH="0" baseline="0" noProof="0" dirty="0">
                <a:ln>
                  <a:noFill/>
                </a:ln>
                <a:solidFill>
                  <a:srgbClr val="363636"/>
                </a:solidFill>
                <a:effectLst/>
                <a:uLnTx/>
                <a:uFillTx/>
                <a:latin typeface="+mj-lt"/>
                <a:ea typeface="+mn-ea"/>
                <a:cs typeface="+mn-cs"/>
              </a:rPr>
              <a:t>Credit Consumption by Warehouse (Last 30 days)</a:t>
            </a:r>
          </a:p>
          <a:p>
            <a:pPr marL="171450" lvl="0" indent="-171450">
              <a:buFont typeface="Arial" panose="020B0604020202020204" pitchFamily="34" charset="0"/>
              <a:buChar char="•"/>
              <a:defRPr/>
            </a:pPr>
            <a:r>
              <a:rPr lang="en-US" sz="1200" dirty="0">
                <a:solidFill>
                  <a:srgbClr val="363636"/>
                </a:solidFill>
                <a:latin typeface="+mj-lt"/>
              </a:rPr>
              <a:t>Credit Consumption by User (Last 30 days)</a:t>
            </a:r>
            <a:endParaRPr lang="en-US" sz="1200" dirty="0">
              <a:solidFill>
                <a:prstClr val="black"/>
              </a:solidFill>
              <a:latin typeface="+mj-lt"/>
            </a:endParaRPr>
          </a:p>
          <a:p>
            <a:pPr marL="171450" lvl="0" indent="-171450">
              <a:buFont typeface="Arial" panose="020B0604020202020204" pitchFamily="34" charset="0"/>
              <a:buChar char="•"/>
              <a:defRPr/>
            </a:pPr>
            <a:r>
              <a:rPr lang="en-US" sz="1200" dirty="0">
                <a:solidFill>
                  <a:srgbClr val="363636"/>
                </a:solidFill>
                <a:latin typeface="+mj-lt"/>
              </a:rPr>
              <a:t>Average Hour by Hour Consumption (Past 30 Days)</a:t>
            </a:r>
            <a:endParaRPr lang="en-US" sz="1200" dirty="0">
              <a:solidFill>
                <a:prstClr val="black"/>
              </a:solidFill>
              <a:latin typeface="+mj-lt"/>
            </a:endParaRPr>
          </a:p>
          <a:p>
            <a:pPr marL="171450" lvl="0" indent="-171450">
              <a:buFont typeface="Arial" panose="020B0604020202020204" pitchFamily="34" charset="0"/>
              <a:buChar char="•"/>
              <a:defRPr/>
            </a:pPr>
            <a:r>
              <a:rPr lang="en-US" sz="1200" dirty="0">
                <a:solidFill>
                  <a:srgbClr val="363636"/>
                </a:solidFill>
                <a:latin typeface="+mj-lt"/>
              </a:rPr>
              <a:t>Average Query Volume by Hour (Past 30 Days)</a:t>
            </a:r>
            <a:endParaRPr lang="en-US" sz="1200" dirty="0">
              <a:solidFill>
                <a:prstClr val="black"/>
              </a:solidFill>
              <a:latin typeface="+mj-lt"/>
            </a:endParaRPr>
          </a:p>
          <a:p>
            <a:pPr marL="171450" lvl="0" indent="-171450">
              <a:buFont typeface="Arial" panose="020B0604020202020204" pitchFamily="34" charset="0"/>
              <a:buChar char="•"/>
              <a:defRPr/>
            </a:pPr>
            <a:r>
              <a:rPr lang="en-US" sz="1200" dirty="0">
                <a:solidFill>
                  <a:srgbClr val="363636"/>
                </a:solidFill>
                <a:latin typeface="+mj-lt"/>
              </a:rPr>
              <a:t>Top 50 Longest Running Queries</a:t>
            </a:r>
            <a:endParaRPr lang="en-US" sz="1200" dirty="0">
              <a:solidFill>
                <a:prstClr val="black"/>
              </a:solidFill>
              <a:latin typeface="+mj-lt"/>
            </a:endParaRPr>
          </a:p>
          <a:p>
            <a:pPr marL="171450" lvl="0" indent="-171450">
              <a:buFont typeface="Arial" panose="020B0604020202020204" pitchFamily="34" charset="0"/>
              <a:buChar char="•"/>
              <a:defRPr/>
            </a:pPr>
            <a:r>
              <a:rPr lang="en-US" sz="1200" dirty="0">
                <a:solidFill>
                  <a:srgbClr val="363636"/>
                </a:solidFill>
                <a:latin typeface="+mj-lt"/>
              </a:rPr>
              <a:t>Warehouse Recommendations</a:t>
            </a:r>
            <a:endParaRPr lang="en-US" sz="1200" dirty="0">
              <a:solidFill>
                <a:prstClr val="black"/>
              </a:solidFill>
              <a:latin typeface="+mj-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dirty="0">
              <a:ln>
                <a:noFill/>
              </a:ln>
              <a:solidFill>
                <a:prstClr val="black"/>
              </a:solidFill>
              <a:effectLst/>
              <a:uLnTx/>
              <a:uFillTx/>
              <a:latin typeface="+mj-lt"/>
              <a:ea typeface="+mn-ea"/>
              <a:cs typeface="+mn-cs"/>
            </a:endParaRPr>
          </a:p>
        </p:txBody>
      </p:sp>
      <p:cxnSp>
        <p:nvCxnSpPr>
          <p:cNvPr id="15" name="Google Shape;227;p33">
            <a:extLst>
              <a:ext uri="{FF2B5EF4-FFF2-40B4-BE49-F238E27FC236}">
                <a16:creationId xmlns:a16="http://schemas.microsoft.com/office/drawing/2014/main" id="{495D25BD-BB11-0D53-8415-F01FEB763DC1}"/>
              </a:ext>
            </a:extLst>
          </p:cNvPr>
          <p:cNvCxnSpPr>
            <a:cxnSpLocks/>
          </p:cNvCxnSpPr>
          <p:nvPr/>
        </p:nvCxnSpPr>
        <p:spPr>
          <a:xfrm>
            <a:off x="46566" y="894231"/>
            <a:ext cx="9050867" cy="0"/>
          </a:xfrm>
          <a:prstGeom prst="straightConnector1">
            <a:avLst/>
          </a:prstGeom>
          <a:ln w="9525">
            <a:solidFill>
              <a:srgbClr val="083C77"/>
            </a:solidFill>
            <a:round/>
          </a:ln>
        </p:spPr>
      </p:cxnSp>
    </p:spTree>
    <p:extLst>
      <p:ext uri="{BB962C8B-B14F-4D97-AF65-F5344CB8AC3E}">
        <p14:creationId xmlns:p14="http://schemas.microsoft.com/office/powerpoint/2010/main" val="1664394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B549D-619F-6AC3-28C4-ECA795112BF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498DB75-B2E1-A148-2767-FCA0E3AEE197}"/>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A4F63316-2DD2-4767-C39F-A2A4D4D50288}"/>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10</a:t>
            </a:fld>
            <a:endParaRPr lang="en-NZ" altLang="en-US">
              <a:latin typeface="+mj-lt"/>
            </a:endParaRPr>
          </a:p>
        </p:txBody>
      </p:sp>
      <p:sp>
        <p:nvSpPr>
          <p:cNvPr id="78" name="Rectangle 77">
            <a:extLst>
              <a:ext uri="{FF2B5EF4-FFF2-40B4-BE49-F238E27FC236}">
                <a16:creationId xmlns:a16="http://schemas.microsoft.com/office/drawing/2014/main" id="{53FCEB9E-3129-C532-7D48-85A824060529}"/>
              </a:ext>
            </a:extLst>
          </p:cNvPr>
          <p:cNvSpPr/>
          <p:nvPr/>
        </p:nvSpPr>
        <p:spPr>
          <a:xfrm>
            <a:off x="971550" y="476280"/>
            <a:ext cx="1061357" cy="1631216"/>
          </a:xfrm>
          <a:prstGeom prst="rect">
            <a:avLst/>
          </a:prstGeom>
          <a:noFill/>
          <a:ln w="0">
            <a:noFill/>
          </a:ln>
        </p:spPr>
        <p:style>
          <a:lnRef idx="0">
            <a:scrgbClr r="0" g="0" b="0"/>
          </a:lnRef>
          <a:fillRef idx="0">
            <a:scrgbClr r="0" g="0" b="0"/>
          </a:fillRef>
          <a:effectRef idx="0">
            <a:scrgbClr r="0" g="0" b="0"/>
          </a:effectRef>
          <a:fontRef idx="minor"/>
        </p:style>
        <p:txBody>
          <a:bodyPr wrap="square" anchor="t">
            <a:spAutoFit/>
          </a:bodyPr>
          <a:lstStyle/>
          <a:p>
            <a:pPr defTabSz="914400">
              <a:lnSpc>
                <a:spcPct val="100000"/>
              </a:lnSpc>
              <a:tabLst>
                <a:tab pos="0" algn="l"/>
              </a:tabLst>
            </a:pPr>
            <a:r>
              <a:rPr lang="en-US" sz="5000" b="1" u="none" strike="noStrike" dirty="0">
                <a:solidFill>
                  <a:schemeClr val="dk1"/>
                </a:solidFill>
                <a:effectLst/>
                <a:uFillTx/>
                <a:latin typeface="+mj-lt"/>
              </a:rPr>
              <a:t>0</a:t>
            </a:r>
            <a:r>
              <a:rPr lang="en-US" sz="5000" b="1" dirty="0">
                <a:solidFill>
                  <a:schemeClr val="dk1"/>
                </a:solidFill>
                <a:latin typeface="+mj-lt"/>
              </a:rPr>
              <a:t>2</a:t>
            </a:r>
          </a:p>
          <a:p>
            <a:pPr defTabSz="914400">
              <a:lnSpc>
                <a:spcPct val="100000"/>
              </a:lnSpc>
              <a:tabLst>
                <a:tab pos="0" algn="l"/>
              </a:tabLst>
            </a:pPr>
            <a:endParaRPr lang="en-US" sz="5000" b="0" u="none" strike="noStrike" dirty="0">
              <a:solidFill>
                <a:srgbClr val="000000"/>
              </a:solidFill>
              <a:effectLst/>
              <a:uFillTx/>
              <a:latin typeface="+mj-lt"/>
            </a:endParaRPr>
          </a:p>
        </p:txBody>
      </p:sp>
      <p:sp>
        <p:nvSpPr>
          <p:cNvPr id="79" name="Rectangle 78">
            <a:extLst>
              <a:ext uri="{FF2B5EF4-FFF2-40B4-BE49-F238E27FC236}">
                <a16:creationId xmlns:a16="http://schemas.microsoft.com/office/drawing/2014/main" id="{86D6C20F-77D6-6A10-9D56-1BA75AD2C2B5}"/>
              </a:ext>
            </a:extLst>
          </p:cNvPr>
          <p:cNvSpPr/>
          <p:nvPr/>
        </p:nvSpPr>
        <p:spPr>
          <a:xfrm>
            <a:off x="898071" y="1428840"/>
            <a:ext cx="7769289"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a:tabLst>
                <a:tab pos="0" algn="l"/>
              </a:tabLst>
            </a:pPr>
            <a:r>
              <a:rPr lang="en-US" sz="3200" b="1" dirty="0">
                <a:solidFill>
                  <a:schemeClr val="dk1"/>
                </a:solidFill>
                <a:latin typeface="+mj-lt"/>
                <a:ea typeface="Calibri Light" panose="020F0302020204030204" pitchFamily="34" charset="0"/>
                <a:cs typeface="Calibri Light" panose="020F0302020204030204" pitchFamily="34" charset="0"/>
              </a:rPr>
              <a:t>Snowflake Security</a:t>
            </a:r>
            <a:endParaRPr lang="en-US" sz="3200" dirty="0">
              <a:solidFill>
                <a:srgbClr val="000000"/>
              </a:solidFill>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041822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79ACC-6368-3450-6A2C-C1856C1907B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593D381-196A-7394-5978-A9BB5AF7D57C}"/>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0E0A90BA-E2AA-958F-8F5F-C2A8FFAB6461}"/>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11</a:t>
            </a:fld>
            <a:endParaRPr lang="en-NZ" altLang="en-US">
              <a:latin typeface="+mj-lt"/>
            </a:endParaRPr>
          </a:p>
        </p:txBody>
      </p:sp>
      <p:sp>
        <p:nvSpPr>
          <p:cNvPr id="92" name="Rectangle 91"/>
          <p:cNvSpPr/>
          <p:nvPr/>
        </p:nvSpPr>
        <p:spPr>
          <a:xfrm>
            <a:off x="476280" y="476280"/>
            <a:ext cx="7353270" cy="565120"/>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00000"/>
              </a:lnSpc>
              <a:tabLst>
                <a:tab pos="0" algn="l"/>
              </a:tabLst>
            </a:pPr>
            <a:r>
              <a:rPr lang="en-US" sz="3200" b="0" u="none" strike="noStrike" dirty="0">
                <a:solidFill>
                  <a:schemeClr val="dk1"/>
                </a:solidFill>
                <a:effectLst/>
                <a:uFillTx/>
                <a:latin typeface="+mj-lt"/>
                <a:ea typeface="Calibri Light" panose="020F0302020204030204" pitchFamily="34" charset="0"/>
                <a:cs typeface="Calibri Light" panose="020F0302020204030204" pitchFamily="34" charset="0"/>
              </a:rPr>
              <a:t>Role-Based Access and Data Privacy</a:t>
            </a:r>
            <a:endParaRPr lang="en-US" sz="3200" b="0" u="none" strike="noStrike" dirty="0">
              <a:solidFill>
                <a:srgbClr val="000000"/>
              </a:solidFill>
              <a:effectLst/>
              <a:uFillTx/>
              <a:latin typeface="+mj-lt"/>
              <a:ea typeface="Calibri Light" panose="020F0302020204030204" pitchFamily="34" charset="0"/>
              <a:cs typeface="Calibri Light" panose="020F0302020204030204" pitchFamily="34" charset="0"/>
            </a:endParaRPr>
          </a:p>
        </p:txBody>
      </p:sp>
      <p:sp>
        <p:nvSpPr>
          <p:cNvPr id="93" name="Rectangle 92"/>
          <p:cNvSpPr/>
          <p:nvPr/>
        </p:nvSpPr>
        <p:spPr>
          <a:xfrm>
            <a:off x="114300" y="1273539"/>
            <a:ext cx="8718082" cy="3688984"/>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r>
              <a:rPr lang="en-US" sz="1200" dirty="0">
                <a:solidFill>
                  <a:schemeClr val="dk1"/>
                </a:solidFill>
                <a:latin typeface="+mj-lt"/>
                <a:ea typeface="Calibri Light" panose="020F0302020204030204" pitchFamily="34" charset="0"/>
                <a:cs typeface="Calibri Light" panose="020F0302020204030204" pitchFamily="34" charset="0"/>
              </a:rPr>
              <a:t>Our security design includes strict role-based filtering to maintain data privacy while providing comprehensive cost visibility. The FinOps team accesses aggregated consumption, trends, and anomalies without sensitive details, while application teams view only their own workload metrics. This balance ensures complete cost transparency without compromising security.</a:t>
            </a:r>
          </a:p>
          <a:p>
            <a:endParaRPr lang="en-US" sz="1200" dirty="0">
              <a:solidFill>
                <a:schemeClr val="dk1"/>
              </a:solidFill>
              <a:latin typeface="+mj-lt"/>
              <a:ea typeface="Calibri Light" panose="020F0302020204030204" pitchFamily="34" charset="0"/>
              <a:cs typeface="Calibri Light" panose="020F0302020204030204" pitchFamily="34" charset="0"/>
            </a:endParaRPr>
          </a:p>
          <a:p>
            <a:r>
              <a:rPr lang="en-US" sz="1200" b="1" dirty="0">
                <a:solidFill>
                  <a:schemeClr val="dk1"/>
                </a:solidFill>
                <a:latin typeface="+mj-lt"/>
                <a:ea typeface="Calibri Light" panose="020F0302020204030204" pitchFamily="34" charset="0"/>
                <a:cs typeface="Calibri Light" panose="020F0302020204030204" pitchFamily="34" charset="0"/>
              </a:rPr>
              <a:t>Simple Access Flow</a:t>
            </a:r>
          </a:p>
          <a:p>
            <a:r>
              <a:rPr lang="en-US" sz="1200" dirty="0">
                <a:solidFill>
                  <a:schemeClr val="dk1"/>
                </a:solidFill>
                <a:latin typeface="+mj-lt"/>
                <a:ea typeface="Calibri Light" panose="020F0302020204030204" pitchFamily="34" charset="0"/>
                <a:cs typeface="Calibri Light" panose="020F0302020204030204" pitchFamily="34" charset="0"/>
              </a:rPr>
              <a:t>User → Role → Row Access Policy → Filtered FinOps Data</a:t>
            </a:r>
          </a:p>
          <a:p>
            <a:endParaRPr lang="en-US" sz="1200" dirty="0">
              <a:solidFill>
                <a:schemeClr val="dk1"/>
              </a:solidFill>
              <a:latin typeface="+mj-lt"/>
              <a:ea typeface="Calibri Light" panose="020F0302020204030204" pitchFamily="34" charset="0"/>
              <a:cs typeface="Calibri Light" panose="020F0302020204030204" pitchFamily="34" charset="0"/>
            </a:endParaRPr>
          </a:p>
          <a:p>
            <a:br>
              <a:rPr lang="en-US" sz="1200" dirty="0">
                <a:solidFill>
                  <a:schemeClr val="dk1"/>
                </a:solidFill>
                <a:latin typeface="+mj-lt"/>
                <a:ea typeface="Calibri Light" panose="020F0302020204030204" pitchFamily="34" charset="0"/>
                <a:cs typeface="Calibri Light" panose="020F0302020204030204" pitchFamily="34" charset="0"/>
              </a:rPr>
            </a:br>
            <a:r>
              <a:rPr lang="en-US" sz="1200" b="1" dirty="0">
                <a:solidFill>
                  <a:schemeClr val="dk1"/>
                </a:solidFill>
                <a:latin typeface="+mj-lt"/>
                <a:ea typeface="Calibri Light" panose="020F0302020204030204" pitchFamily="34" charset="0"/>
                <a:cs typeface="Calibri Light" panose="020F0302020204030204" pitchFamily="34" charset="0"/>
              </a:rPr>
              <a:t>Role-Based Access Implementation</a:t>
            </a:r>
          </a:p>
          <a:p>
            <a:pPr marL="171450" indent="-171450">
              <a:buFont typeface="Arial" panose="020B0604020202020204" pitchFamily="34" charset="0"/>
              <a:buChar char="•"/>
            </a:pPr>
            <a:r>
              <a:rPr lang="en-US" sz="1200" dirty="0">
                <a:solidFill>
                  <a:schemeClr val="dk1"/>
                </a:solidFill>
                <a:latin typeface="+mj-lt"/>
                <a:ea typeface="Calibri Light" panose="020F0302020204030204" pitchFamily="34" charset="0"/>
                <a:cs typeface="Calibri Light" panose="020F0302020204030204" pitchFamily="34" charset="0"/>
              </a:rPr>
              <a:t>Access is controlled using zone-based Snowflake roles — users only see data for their assigned zone.</a:t>
            </a:r>
          </a:p>
          <a:p>
            <a:pPr marL="171450" indent="-171450">
              <a:buFont typeface="Arial" panose="020B0604020202020204" pitchFamily="34" charset="0"/>
              <a:buChar char="•"/>
            </a:pPr>
            <a:r>
              <a:rPr lang="en-US" sz="1200" dirty="0">
                <a:solidFill>
                  <a:schemeClr val="dk1"/>
                </a:solidFill>
                <a:latin typeface="+mj-lt"/>
                <a:ea typeface="Calibri Light" panose="020F0302020204030204" pitchFamily="34" charset="0"/>
                <a:cs typeface="Calibri Light" panose="020F0302020204030204" pitchFamily="34" charset="0"/>
              </a:rPr>
              <a:t>FinOps platform admins have multi-zone visibility; application teams see only their own workloads.</a:t>
            </a:r>
          </a:p>
          <a:p>
            <a:pPr marL="171450" indent="-171450">
              <a:buFont typeface="Arial" panose="020B0604020202020204" pitchFamily="34" charset="0"/>
              <a:buChar char="•"/>
            </a:pPr>
            <a:r>
              <a:rPr lang="en-US" sz="1200" dirty="0">
                <a:solidFill>
                  <a:schemeClr val="dk1"/>
                </a:solidFill>
                <a:latin typeface="+mj-lt"/>
                <a:ea typeface="Calibri Light" panose="020F0302020204030204" pitchFamily="34" charset="0"/>
                <a:cs typeface="Calibri Light" panose="020F0302020204030204" pitchFamily="34" charset="0"/>
              </a:rPr>
              <a:t>System admin roles retain full access for governance and support.</a:t>
            </a:r>
          </a:p>
          <a:p>
            <a:br>
              <a:rPr lang="en-US" sz="1200" dirty="0">
                <a:solidFill>
                  <a:schemeClr val="dk1"/>
                </a:solidFill>
                <a:latin typeface="+mj-lt"/>
                <a:ea typeface="Calibri Light" panose="020F0302020204030204" pitchFamily="34" charset="0"/>
                <a:cs typeface="Calibri Light" panose="020F0302020204030204" pitchFamily="34" charset="0"/>
              </a:rPr>
            </a:br>
            <a:r>
              <a:rPr lang="en-US" sz="1200" b="1" dirty="0">
                <a:solidFill>
                  <a:schemeClr val="tx2"/>
                </a:solidFill>
              </a:rPr>
              <a:t>Examples</a:t>
            </a:r>
          </a:p>
          <a:p>
            <a:endParaRPr lang="en-US" sz="1200" dirty="0">
              <a:solidFill>
                <a:schemeClr val="dk1"/>
              </a:solidFill>
              <a:latin typeface="+mj-lt"/>
              <a:ea typeface="Calibri Light" panose="020F0302020204030204" pitchFamily="34" charset="0"/>
              <a:cs typeface="Calibri Light" panose="020F0302020204030204" pitchFamily="34" charset="0"/>
            </a:endParaRPr>
          </a:p>
        </p:txBody>
      </p:sp>
      <p:cxnSp>
        <p:nvCxnSpPr>
          <p:cNvPr id="2" name="Google Shape;227;p33">
            <a:extLst>
              <a:ext uri="{FF2B5EF4-FFF2-40B4-BE49-F238E27FC236}">
                <a16:creationId xmlns:a16="http://schemas.microsoft.com/office/drawing/2014/main" id="{D4E0D3CE-2024-130B-BD65-9ED664CF6C96}"/>
              </a:ext>
            </a:extLst>
          </p:cNvPr>
          <p:cNvCxnSpPr>
            <a:cxnSpLocks/>
          </p:cNvCxnSpPr>
          <p:nvPr/>
        </p:nvCxnSpPr>
        <p:spPr>
          <a:xfrm>
            <a:off x="311618" y="1106747"/>
            <a:ext cx="9017000" cy="0"/>
          </a:xfrm>
          <a:prstGeom prst="straightConnector1">
            <a:avLst/>
          </a:prstGeom>
          <a:ln w="9525">
            <a:solidFill>
              <a:srgbClr val="083C77"/>
            </a:solidFill>
            <a:round/>
          </a:ln>
        </p:spPr>
      </p:cxnSp>
      <p:sp>
        <p:nvSpPr>
          <p:cNvPr id="5" name="TextBox 4">
            <a:extLst>
              <a:ext uri="{FF2B5EF4-FFF2-40B4-BE49-F238E27FC236}">
                <a16:creationId xmlns:a16="http://schemas.microsoft.com/office/drawing/2014/main" id="{E46E3B8B-B12A-1232-E174-ECCB373D72AB}"/>
              </a:ext>
            </a:extLst>
          </p:cNvPr>
          <p:cNvSpPr txBox="1"/>
          <p:nvPr/>
        </p:nvSpPr>
        <p:spPr>
          <a:xfrm>
            <a:off x="4572000" y="3938081"/>
            <a:ext cx="4356100" cy="707886"/>
          </a:xfrm>
          <a:prstGeom prst="rect">
            <a:avLst/>
          </a:prstGeom>
          <a:solidFill>
            <a:schemeClr val="bg1"/>
          </a:solidFill>
          <a:ln>
            <a:noFill/>
          </a:ln>
        </p:spPr>
        <p:txBody>
          <a:bodyPr wrap="square">
            <a:spAutoFit/>
          </a:bodyPr>
          <a:lstStyle/>
          <a:p>
            <a:pPr>
              <a:buNone/>
            </a:pPr>
            <a:r>
              <a:rPr lang="en-US" sz="1000" b="1" dirty="0">
                <a:effectLst/>
              </a:rPr>
              <a:t>Scenario 2: Platform FinOps Administrator</a:t>
            </a:r>
            <a:endParaRPr lang="en-US" sz="1000" dirty="0"/>
          </a:p>
          <a:p>
            <a:pPr>
              <a:buNone/>
            </a:pPr>
            <a:r>
              <a:rPr lang="en-US" sz="1000" dirty="0">
                <a:effectLst/>
              </a:rPr>
              <a:t>Role: BDH_SF_FR_PLATFRM_PREPROD_ADMIN</a:t>
            </a:r>
            <a:endParaRPr lang="en-US" sz="1000" dirty="0"/>
          </a:p>
          <a:p>
            <a:pPr>
              <a:buNone/>
            </a:pPr>
            <a:r>
              <a:rPr lang="en-US" sz="1000" dirty="0">
                <a:effectLst/>
              </a:rPr>
              <a:t>Access: Multi-zone visibility across CUST, PTP, and LOANS zones</a:t>
            </a:r>
            <a:endParaRPr lang="en-US" sz="1000" dirty="0"/>
          </a:p>
          <a:p>
            <a:pPr>
              <a:buNone/>
            </a:pPr>
            <a:r>
              <a:rPr lang="en-US" sz="1000" i="1" dirty="0">
                <a:effectLst/>
              </a:rPr>
              <a:t>Purpose: Comprehensive cost analysis and optimization across all zones</a:t>
            </a:r>
            <a:endParaRPr lang="en-US" sz="1000" dirty="0"/>
          </a:p>
        </p:txBody>
      </p:sp>
      <p:sp>
        <p:nvSpPr>
          <p:cNvPr id="6" name="TextBox 5">
            <a:extLst>
              <a:ext uri="{FF2B5EF4-FFF2-40B4-BE49-F238E27FC236}">
                <a16:creationId xmlns:a16="http://schemas.microsoft.com/office/drawing/2014/main" id="{7476BDE7-8D52-7780-0F33-C8AB2A1E90AA}"/>
              </a:ext>
            </a:extLst>
          </p:cNvPr>
          <p:cNvSpPr txBox="1"/>
          <p:nvPr/>
        </p:nvSpPr>
        <p:spPr>
          <a:xfrm>
            <a:off x="210018" y="3938081"/>
            <a:ext cx="4356100" cy="707886"/>
          </a:xfrm>
          <a:prstGeom prst="rect">
            <a:avLst/>
          </a:prstGeom>
          <a:solidFill>
            <a:schemeClr val="bg1"/>
          </a:solidFill>
          <a:ln>
            <a:noFill/>
          </a:ln>
        </p:spPr>
        <p:txBody>
          <a:bodyPr wrap="square">
            <a:spAutoFit/>
          </a:bodyPr>
          <a:lstStyle/>
          <a:p>
            <a:r>
              <a:rPr lang="en-US" sz="1000" b="1" dirty="0"/>
              <a:t>Scenario 1: CUST Zone Developer</a:t>
            </a:r>
            <a:endParaRPr lang="en-US" sz="1000" dirty="0"/>
          </a:p>
          <a:p>
            <a:r>
              <a:rPr lang="en-US" sz="1000" dirty="0"/>
              <a:t>Role: BDH_SF_FR_CUST_DEV_SUPPORTADMIN</a:t>
            </a:r>
          </a:p>
          <a:p>
            <a:r>
              <a:rPr lang="en-US" sz="1000" dirty="0"/>
              <a:t>Access: Sees only CUST zone credit usage, storage, and query metrics</a:t>
            </a:r>
          </a:p>
          <a:p>
            <a:r>
              <a:rPr lang="en-US" sz="1000" i="1" dirty="0"/>
              <a:t>Restricted: Cannot view PTP or LOANS zone data</a:t>
            </a:r>
            <a:endParaRPr lang="en-US" sz="1000" dirty="0"/>
          </a:p>
        </p:txBody>
      </p:sp>
    </p:spTree>
    <p:extLst>
      <p:ext uri="{BB962C8B-B14F-4D97-AF65-F5344CB8AC3E}">
        <p14:creationId xmlns:p14="http://schemas.microsoft.com/office/powerpoint/2010/main" val="176028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DAFDB-983C-1B13-1EAC-C6933E591A6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020296-7709-3631-BCB4-5342D860A268}"/>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D477ACED-622C-8A27-D292-9E4A300D71DC}"/>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12</a:t>
            </a:fld>
            <a:endParaRPr lang="en-NZ" altLang="en-US">
              <a:latin typeface="+mj-lt"/>
            </a:endParaRPr>
          </a:p>
        </p:txBody>
      </p:sp>
      <p:sp>
        <p:nvSpPr>
          <p:cNvPr id="92" name="Rectangle 91">
            <a:extLst>
              <a:ext uri="{FF2B5EF4-FFF2-40B4-BE49-F238E27FC236}">
                <a16:creationId xmlns:a16="http://schemas.microsoft.com/office/drawing/2014/main" id="{E67D4374-CDDC-5289-0A65-EE1C2E19E9D9}"/>
              </a:ext>
            </a:extLst>
          </p:cNvPr>
          <p:cNvSpPr/>
          <p:nvPr/>
        </p:nvSpPr>
        <p:spPr>
          <a:xfrm>
            <a:off x="476280" y="476280"/>
            <a:ext cx="7353270" cy="6410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a:tabLst>
                <a:tab pos="0" algn="l"/>
              </a:tabLst>
            </a:pPr>
            <a:r>
              <a:rPr lang="en-US" sz="3200" dirty="0">
                <a:solidFill>
                  <a:schemeClr val="dk1"/>
                </a:solidFill>
                <a:latin typeface="+mj-lt"/>
                <a:ea typeface="Calibri Light" panose="020F0302020204030204" pitchFamily="34" charset="0"/>
                <a:cs typeface="Calibri Light" panose="020F0302020204030204" pitchFamily="34" charset="0"/>
              </a:rPr>
              <a:t>Designing Row Access Policy - Implementation</a:t>
            </a:r>
            <a:endParaRPr lang="en-US" sz="3200" b="0" u="none" strike="noStrike" dirty="0">
              <a:solidFill>
                <a:srgbClr val="000000"/>
              </a:solidFill>
              <a:effectLst/>
              <a:uFillTx/>
              <a:latin typeface="+mj-lt"/>
              <a:ea typeface="Calibri Light" panose="020F0302020204030204" pitchFamily="34" charset="0"/>
              <a:cs typeface="Calibri Light" panose="020F0302020204030204" pitchFamily="34" charset="0"/>
            </a:endParaRPr>
          </a:p>
        </p:txBody>
      </p:sp>
      <p:sp>
        <p:nvSpPr>
          <p:cNvPr id="93" name="Rectangle 92">
            <a:extLst>
              <a:ext uri="{FF2B5EF4-FFF2-40B4-BE49-F238E27FC236}">
                <a16:creationId xmlns:a16="http://schemas.microsoft.com/office/drawing/2014/main" id="{2BC9E197-154A-44D3-C4FD-079C5B97BF72}"/>
              </a:ext>
            </a:extLst>
          </p:cNvPr>
          <p:cNvSpPr/>
          <p:nvPr/>
        </p:nvSpPr>
        <p:spPr>
          <a:xfrm>
            <a:off x="0" y="1212040"/>
            <a:ext cx="9144000" cy="3673565"/>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marL="457200" indent="-314280">
              <a:lnSpc>
                <a:spcPct val="150000"/>
              </a:lnSpc>
              <a:buNone/>
              <a:tabLst>
                <a:tab pos="0" algn="l"/>
              </a:tabLst>
            </a:pPr>
            <a:r>
              <a:rPr lang="en-US" sz="1200" dirty="0">
                <a:solidFill>
                  <a:srgbClr val="000000"/>
                </a:solidFill>
                <a:latin typeface="+mj-lt"/>
                <a:ea typeface="Calibri Light" panose="020F0302020204030204" pitchFamily="34" charset="0"/>
                <a:cs typeface="Calibri Light" panose="020F0302020204030204" pitchFamily="34" charset="0"/>
              </a:rPr>
              <a:t xml:space="preserve">Row access policies help protect sensitive data while keeping it visible to the right people. </a:t>
            </a:r>
          </a:p>
          <a:p>
            <a:pPr marL="457200" indent="-314280">
              <a:lnSpc>
                <a:spcPct val="150000"/>
              </a:lnSpc>
              <a:buNone/>
              <a:tabLst>
                <a:tab pos="0" algn="l"/>
              </a:tabLst>
            </a:pPr>
            <a:r>
              <a:rPr lang="en-US" sz="1200" dirty="0">
                <a:solidFill>
                  <a:srgbClr val="000000"/>
                </a:solidFill>
                <a:latin typeface="+mj-lt"/>
                <a:ea typeface="Calibri Light" panose="020F0302020204030204" pitchFamily="34" charset="0"/>
                <a:cs typeface="Calibri Light" panose="020F0302020204030204" pitchFamily="34" charset="0"/>
              </a:rPr>
              <a:t xml:space="preserve">Designing these policies carefully ensures data privacy for FinOps teams and application teams, making sure everyone sees only what they need. </a:t>
            </a:r>
          </a:p>
          <a:p>
            <a:pPr marL="457200" indent="-314280">
              <a:lnSpc>
                <a:spcPct val="150000"/>
              </a:lnSpc>
              <a:buNone/>
              <a:tabLst>
                <a:tab pos="0" algn="l"/>
              </a:tabLst>
            </a:pPr>
            <a:r>
              <a:rPr lang="en-US" sz="1200" dirty="0">
                <a:solidFill>
                  <a:srgbClr val="000000"/>
                </a:solidFill>
                <a:latin typeface="+mj-lt"/>
                <a:ea typeface="Calibri Light" panose="020F0302020204030204" pitchFamily="34" charset="0"/>
                <a:cs typeface="Calibri Light" panose="020F0302020204030204" pitchFamily="34" charset="0"/>
              </a:rPr>
              <a:t>This balance improves security without slowing workflow.</a:t>
            </a:r>
            <a:endParaRPr lang="fr-FR" sz="1200" dirty="0">
              <a:solidFill>
                <a:srgbClr val="000000"/>
              </a:solidFill>
              <a:latin typeface="+mj-lt"/>
              <a:ea typeface="Calibri Light" panose="020F0302020204030204" pitchFamily="34" charset="0"/>
              <a:cs typeface="Calibri Light" panose="020F0302020204030204" pitchFamily="34" charset="0"/>
            </a:endParaRPr>
          </a:p>
        </p:txBody>
      </p:sp>
      <p:cxnSp>
        <p:nvCxnSpPr>
          <p:cNvPr id="2" name="Google Shape;227;p33">
            <a:extLst>
              <a:ext uri="{FF2B5EF4-FFF2-40B4-BE49-F238E27FC236}">
                <a16:creationId xmlns:a16="http://schemas.microsoft.com/office/drawing/2014/main" id="{D77DCD36-AB62-8DED-074F-863000BF1C20}"/>
              </a:ext>
            </a:extLst>
          </p:cNvPr>
          <p:cNvCxnSpPr/>
          <p:nvPr/>
        </p:nvCxnSpPr>
        <p:spPr>
          <a:xfrm>
            <a:off x="0" y="1164520"/>
            <a:ext cx="9302040" cy="360"/>
          </a:xfrm>
          <a:prstGeom prst="straightConnector1">
            <a:avLst/>
          </a:prstGeom>
          <a:ln w="9525">
            <a:solidFill>
              <a:srgbClr val="083C77"/>
            </a:solidFill>
            <a:round/>
          </a:ln>
        </p:spPr>
      </p:cxnSp>
      <p:pic>
        <p:nvPicPr>
          <p:cNvPr id="5" name="Picture 4">
            <a:extLst>
              <a:ext uri="{FF2B5EF4-FFF2-40B4-BE49-F238E27FC236}">
                <a16:creationId xmlns:a16="http://schemas.microsoft.com/office/drawing/2014/main" id="{DC7183C2-C13E-9B9E-4730-D343E7E624CA}"/>
              </a:ext>
            </a:extLst>
          </p:cNvPr>
          <p:cNvPicPr>
            <a:picLocks noChangeAspect="1"/>
          </p:cNvPicPr>
          <p:nvPr/>
        </p:nvPicPr>
        <p:blipFill>
          <a:blip r:embed="rId2"/>
          <a:stretch>
            <a:fillRect/>
          </a:stretch>
        </p:blipFill>
        <p:spPr>
          <a:xfrm>
            <a:off x="387825" y="2571750"/>
            <a:ext cx="8368350" cy="1578531"/>
          </a:xfrm>
          <a:prstGeom prst="rect">
            <a:avLst/>
          </a:prstGeom>
        </p:spPr>
      </p:pic>
    </p:spTree>
    <p:extLst>
      <p:ext uri="{BB962C8B-B14F-4D97-AF65-F5344CB8AC3E}">
        <p14:creationId xmlns:p14="http://schemas.microsoft.com/office/powerpoint/2010/main" val="3914217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32587-F9D6-1BD5-05FC-BEF586B5847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7A2DC9F-0A98-D824-7604-C7BE265E5423}"/>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A14CB9A2-FF96-63F0-4EA1-CBD47D40C5DD}"/>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13</a:t>
            </a:fld>
            <a:endParaRPr lang="en-NZ" altLang="en-US">
              <a:latin typeface="+mj-lt"/>
            </a:endParaRPr>
          </a:p>
        </p:txBody>
      </p:sp>
      <p:sp>
        <p:nvSpPr>
          <p:cNvPr id="5" name="Text 1">
            <a:extLst>
              <a:ext uri="{FF2B5EF4-FFF2-40B4-BE49-F238E27FC236}">
                <a16:creationId xmlns:a16="http://schemas.microsoft.com/office/drawing/2014/main" id="{3FC0961F-8A5A-25E0-C321-EB1BDB25B5DA}"/>
              </a:ext>
            </a:extLst>
          </p:cNvPr>
          <p:cNvSpPr/>
          <p:nvPr/>
        </p:nvSpPr>
        <p:spPr>
          <a:xfrm>
            <a:off x="457200" y="914400"/>
            <a:ext cx="82296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363636"/>
                </a:solidFill>
                <a:effectLst/>
                <a:uLnTx/>
                <a:uFillTx/>
                <a:latin typeface="+mj-lt"/>
                <a:ea typeface="+mn-ea"/>
                <a:cs typeface="+mn-cs"/>
              </a:rPr>
              <a:t>Ensuring zone-based data segregation with fine-grained security</a:t>
            </a:r>
            <a:endParaRPr kumimoji="0" lang="en-US" sz="1400" b="0" i="0" u="none" strike="noStrike" kern="1200" cap="none" spc="0" normalizeH="0" baseline="0" noProof="0" dirty="0">
              <a:ln>
                <a:noFill/>
              </a:ln>
              <a:solidFill>
                <a:prstClr val="black"/>
              </a:solidFill>
              <a:effectLst/>
              <a:uLnTx/>
              <a:uFillTx/>
              <a:latin typeface="+mj-lt"/>
              <a:ea typeface="+mn-ea"/>
              <a:cs typeface="+mn-cs"/>
            </a:endParaRPr>
          </a:p>
        </p:txBody>
      </p:sp>
      <p:sp>
        <p:nvSpPr>
          <p:cNvPr id="6" name="Shape 2">
            <a:extLst>
              <a:ext uri="{FF2B5EF4-FFF2-40B4-BE49-F238E27FC236}">
                <a16:creationId xmlns:a16="http://schemas.microsoft.com/office/drawing/2014/main" id="{3E8E3BFD-5B08-432F-46F5-0473B1AACE1C}"/>
              </a:ext>
            </a:extLst>
          </p:cNvPr>
          <p:cNvSpPr/>
          <p:nvPr/>
        </p:nvSpPr>
        <p:spPr>
          <a:xfrm>
            <a:off x="457200" y="1371599"/>
            <a:ext cx="3931920" cy="1699803"/>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7" name="Text 3">
            <a:extLst>
              <a:ext uri="{FF2B5EF4-FFF2-40B4-BE49-F238E27FC236}">
                <a16:creationId xmlns:a16="http://schemas.microsoft.com/office/drawing/2014/main" id="{8D48689F-32D8-74E4-868D-8DB10771B40A}"/>
              </a:ext>
            </a:extLst>
          </p:cNvPr>
          <p:cNvSpPr/>
          <p:nvPr/>
        </p:nvSpPr>
        <p:spPr>
          <a:xfrm>
            <a:off x="640080" y="1420705"/>
            <a:ext cx="2882053"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Protected Objects</a:t>
            </a:r>
            <a:endParaRPr kumimoji="0" lang="en-US" sz="1200" b="0"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endParaRPr>
          </a:p>
        </p:txBody>
      </p:sp>
      <p:sp>
        <p:nvSpPr>
          <p:cNvPr id="8" name="Text 4">
            <a:extLst>
              <a:ext uri="{FF2B5EF4-FFF2-40B4-BE49-F238E27FC236}">
                <a16:creationId xmlns:a16="http://schemas.microsoft.com/office/drawing/2014/main" id="{25160E51-0890-06EC-7DED-4380EBF52634}"/>
              </a:ext>
            </a:extLst>
          </p:cNvPr>
          <p:cNvSpPr/>
          <p:nvPr/>
        </p:nvSpPr>
        <p:spPr>
          <a:xfrm>
            <a:off x="640080" y="1828800"/>
            <a:ext cx="3566160" cy="74295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Tables: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credit_usage</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xml:space="preserve">• storage usage </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sp>
        <p:nvSpPr>
          <p:cNvPr id="9" name="Shape 5">
            <a:extLst>
              <a:ext uri="{FF2B5EF4-FFF2-40B4-BE49-F238E27FC236}">
                <a16:creationId xmlns:a16="http://schemas.microsoft.com/office/drawing/2014/main" id="{92058D4B-4756-9CD3-24D9-FA830103E4C9}"/>
              </a:ext>
            </a:extLst>
          </p:cNvPr>
          <p:cNvSpPr/>
          <p:nvPr/>
        </p:nvSpPr>
        <p:spPr>
          <a:xfrm>
            <a:off x="4572000" y="1371600"/>
            <a:ext cx="4297680" cy="164592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10" name="Text 6">
            <a:extLst>
              <a:ext uri="{FF2B5EF4-FFF2-40B4-BE49-F238E27FC236}">
                <a16:creationId xmlns:a16="http://schemas.microsoft.com/office/drawing/2014/main" id="{183B1ACA-7530-6F09-183F-6A7D3E9A287A}"/>
              </a:ext>
            </a:extLst>
          </p:cNvPr>
          <p:cNvSpPr/>
          <p:nvPr/>
        </p:nvSpPr>
        <p:spPr>
          <a:xfrm>
            <a:off x="4754880" y="1463040"/>
            <a:ext cx="39319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Access Control Logic</a:t>
            </a:r>
            <a:endParaRPr kumimoji="0" lang="en-US" sz="1200" b="0"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endParaRPr>
          </a:p>
        </p:txBody>
      </p:sp>
      <p:sp>
        <p:nvSpPr>
          <p:cNvPr id="11" name="Text 7">
            <a:extLst>
              <a:ext uri="{FF2B5EF4-FFF2-40B4-BE49-F238E27FC236}">
                <a16:creationId xmlns:a16="http://schemas.microsoft.com/office/drawing/2014/main" id="{AFC5FBB2-8F13-B380-1B63-28CD3A61202C}"/>
              </a:ext>
            </a:extLst>
          </p:cNvPr>
          <p:cNvSpPr/>
          <p:nvPr/>
        </p:nvSpPr>
        <p:spPr>
          <a:xfrm>
            <a:off x="4754880" y="1828800"/>
            <a:ext cx="3931920" cy="124260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noProof="0" dirty="0">
                <a:ln>
                  <a:noFill/>
                </a:ln>
                <a:solidFill>
                  <a:srgbClr val="363636"/>
                </a:solidFill>
                <a:effectLst/>
                <a:uLnTx/>
                <a:uFillTx/>
                <a:latin typeface="+mj-lt"/>
                <a:ea typeface="+mn-ea"/>
                <a:cs typeface="+mn-cs"/>
              </a:rPr>
              <a:t>Policy evaluates:</a:t>
            </a: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CURRENT_ROLE() against zone mapping</a:t>
            </a: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Multi-zone roles (PLATFRM_*_DEVELOPER/ADMIN)</a:t>
            </a: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Single-zone roles (FR_{ZONE}_*_SUPPORT)</a:t>
            </a: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System admins bypass RAP</a:t>
            </a:r>
            <a:endParaRPr kumimoji="0" lang="en-US" sz="1200" b="0" i="0" u="none" strike="noStrike" kern="1200" cap="none" spc="0" normalizeH="0" noProof="0" dirty="0">
              <a:ln>
                <a:noFill/>
              </a:ln>
              <a:solidFill>
                <a:prstClr val="black"/>
              </a:solidFill>
              <a:effectLst/>
              <a:uLnTx/>
              <a:uFillTx/>
              <a:latin typeface="+mj-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noProof="0" dirty="0">
                <a:ln>
                  <a:noFill/>
                </a:ln>
                <a:solidFill>
                  <a:srgbClr val="363636"/>
                </a:solidFill>
                <a:effectLst/>
                <a:uLnTx/>
                <a:uFillTx/>
                <a:latin typeface="+mj-lt"/>
                <a:ea typeface="+mn-ea"/>
                <a:cs typeface="+mn-cs"/>
              </a:rPr>
              <a:t>• Secondary roles via IS_ROLE_IN_SESSION()</a:t>
            </a:r>
            <a:endParaRPr kumimoji="0" lang="en-US" sz="1200" b="0" i="0" u="none" strike="noStrike" kern="1200" cap="none" spc="0" normalizeH="0" noProof="0" dirty="0">
              <a:ln>
                <a:noFill/>
              </a:ln>
              <a:solidFill>
                <a:prstClr val="black"/>
              </a:solidFill>
              <a:effectLst/>
              <a:uLnTx/>
              <a:uFillTx/>
              <a:latin typeface="+mj-lt"/>
              <a:ea typeface="+mn-ea"/>
              <a:cs typeface="+mn-cs"/>
            </a:endParaRPr>
          </a:p>
        </p:txBody>
      </p:sp>
      <p:sp>
        <p:nvSpPr>
          <p:cNvPr id="12" name="Shape 8">
            <a:extLst>
              <a:ext uri="{FF2B5EF4-FFF2-40B4-BE49-F238E27FC236}">
                <a16:creationId xmlns:a16="http://schemas.microsoft.com/office/drawing/2014/main" id="{B5642F3F-DCDB-FE69-566F-F12026DB7E5E}"/>
              </a:ext>
            </a:extLst>
          </p:cNvPr>
          <p:cNvSpPr/>
          <p:nvPr/>
        </p:nvSpPr>
        <p:spPr>
          <a:xfrm>
            <a:off x="457200" y="3291840"/>
            <a:ext cx="8412480" cy="1706336"/>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j-lt"/>
              <a:ea typeface="+mn-ea"/>
              <a:cs typeface="+mn-cs"/>
            </a:endParaRPr>
          </a:p>
        </p:txBody>
      </p:sp>
      <p:sp>
        <p:nvSpPr>
          <p:cNvPr id="13" name="Text 9">
            <a:extLst>
              <a:ext uri="{FF2B5EF4-FFF2-40B4-BE49-F238E27FC236}">
                <a16:creationId xmlns:a16="http://schemas.microsoft.com/office/drawing/2014/main" id="{ABB740B5-776A-2BF6-B8C1-14D118225D1B}"/>
              </a:ext>
            </a:extLst>
          </p:cNvPr>
          <p:cNvSpPr/>
          <p:nvPr/>
        </p:nvSpPr>
        <p:spPr>
          <a:xfrm>
            <a:off x="640080" y="3350622"/>
            <a:ext cx="804672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 xml:space="preserve">Key </a:t>
            </a:r>
            <a:r>
              <a:rPr kumimoji="0" lang="en-US" sz="1200" b="1"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Benefits</a:t>
            </a:r>
          </a:p>
        </p:txBody>
      </p:sp>
      <p:sp>
        <p:nvSpPr>
          <p:cNvPr id="14" name="Text 10">
            <a:extLst>
              <a:ext uri="{FF2B5EF4-FFF2-40B4-BE49-F238E27FC236}">
                <a16:creationId xmlns:a16="http://schemas.microsoft.com/office/drawing/2014/main" id="{155030E4-8CC2-AFD9-26EC-6DAEF6D01AB2}"/>
              </a:ext>
            </a:extLst>
          </p:cNvPr>
          <p:cNvSpPr/>
          <p:nvPr/>
        </p:nvSpPr>
        <p:spPr>
          <a:xfrm>
            <a:off x="640080" y="3624942"/>
            <a:ext cx="8046720" cy="1152797"/>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Data Privacy: Users see only authorized zone data</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Compliance: Meets regulatory requirements for data segregation</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Centralized Control: Single policy manages all access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Audit Trail: All access attempts fully logged</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36"/>
                </a:solidFill>
                <a:effectLst/>
                <a:uLnTx/>
                <a:uFillTx/>
                <a:latin typeface="+mj-lt"/>
                <a:ea typeface="Calibri Light" panose="020F0302020204030204" pitchFamily="34" charset="0"/>
                <a:cs typeface="Calibri Light" panose="020F0302020204030204" pitchFamily="34" charset="0"/>
              </a:rPr>
              <a:t>• Scalability: Easy to add new zones and roles</a:t>
            </a: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Calibri Light" panose="020F0302020204030204" pitchFamily="34" charset="0"/>
            </a:endParaRPr>
          </a:p>
        </p:txBody>
      </p:sp>
      <p:cxnSp>
        <p:nvCxnSpPr>
          <p:cNvPr id="15" name="Google Shape;227;p33">
            <a:extLst>
              <a:ext uri="{FF2B5EF4-FFF2-40B4-BE49-F238E27FC236}">
                <a16:creationId xmlns:a16="http://schemas.microsoft.com/office/drawing/2014/main" id="{332A965A-077C-A845-1D7F-D3DBDBEB136F}"/>
              </a:ext>
            </a:extLst>
          </p:cNvPr>
          <p:cNvCxnSpPr>
            <a:cxnSpLocks/>
          </p:cNvCxnSpPr>
          <p:nvPr/>
        </p:nvCxnSpPr>
        <p:spPr>
          <a:xfrm>
            <a:off x="93133" y="811226"/>
            <a:ext cx="9050867" cy="0"/>
          </a:xfrm>
          <a:prstGeom prst="straightConnector1">
            <a:avLst/>
          </a:prstGeom>
          <a:ln w="9525">
            <a:solidFill>
              <a:srgbClr val="083C77"/>
            </a:solidFill>
            <a:round/>
          </a:ln>
        </p:spPr>
      </p:cxnSp>
      <p:sp>
        <p:nvSpPr>
          <p:cNvPr id="16" name="Rectangle 15">
            <a:extLst>
              <a:ext uri="{FF2B5EF4-FFF2-40B4-BE49-F238E27FC236}">
                <a16:creationId xmlns:a16="http://schemas.microsoft.com/office/drawing/2014/main" id="{B0545852-7AA8-E1B4-F42D-296C92A96C9C}"/>
              </a:ext>
            </a:extLst>
          </p:cNvPr>
          <p:cNvSpPr/>
          <p:nvPr/>
        </p:nvSpPr>
        <p:spPr>
          <a:xfrm>
            <a:off x="457200" y="279973"/>
            <a:ext cx="7353270" cy="6410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a:tabLst>
                <a:tab pos="0" algn="l"/>
              </a:tabLst>
            </a:pPr>
            <a:r>
              <a:rPr lang="en-US" sz="3200" dirty="0">
                <a:solidFill>
                  <a:schemeClr val="dk1"/>
                </a:solidFill>
                <a:latin typeface="+mj-lt"/>
                <a:ea typeface="Calibri Light" panose="020F0302020204030204" pitchFamily="34" charset="0"/>
                <a:cs typeface="Calibri Light" panose="020F0302020204030204" pitchFamily="34" charset="0"/>
              </a:rPr>
              <a:t>Designing Row Access Policy - Implementation</a:t>
            </a:r>
            <a:endParaRPr lang="en-US" sz="3200" b="0" u="none" strike="noStrike" dirty="0">
              <a:solidFill>
                <a:srgbClr val="000000"/>
              </a:solidFill>
              <a:effectLst/>
              <a:uFillTx/>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205621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3064A-3BBE-E570-2001-07479E4C8A0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2321A7-8025-58DB-F138-813861932D8D}"/>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9A441473-FE67-0F79-B251-B94643340A5F}"/>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14</a:t>
            </a:fld>
            <a:endParaRPr lang="en-NZ" altLang="en-US">
              <a:latin typeface="+mj-lt"/>
            </a:endParaRPr>
          </a:p>
        </p:txBody>
      </p:sp>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dirty="0">
                <a:latin typeface="+mj-lt"/>
                <a:ea typeface="Calibri Light" panose="020F0302020204030204" pitchFamily="34" charset="0"/>
                <a:cs typeface="Calibri Light" panose="020F0302020204030204" pitchFamily="34" charset="0"/>
              </a:rPr>
              <a:t>Row Access</a:t>
            </a:r>
            <a:r>
              <a:rPr lang="en-US" sz="4000" dirty="0">
                <a:latin typeface="+mj-lt"/>
                <a:ea typeface="Calibri Light" panose="020F0302020204030204" pitchFamily="34" charset="0"/>
                <a:cs typeface="Calibri Light" panose="020F0302020204030204" pitchFamily="34" charset="0"/>
              </a:rPr>
              <a:t xml:space="preserve"> </a:t>
            </a:r>
            <a:r>
              <a:rPr lang="en-US" sz="3200" dirty="0">
                <a:latin typeface="+mj-lt"/>
                <a:ea typeface="Calibri Light" panose="020F0302020204030204" pitchFamily="34" charset="0"/>
                <a:cs typeface="Calibri Light" panose="020F0302020204030204" pitchFamily="34" charset="0"/>
              </a:rPr>
              <a:t>Policies</a:t>
            </a:r>
          </a:p>
        </p:txBody>
      </p:sp>
      <p:sp>
        <p:nvSpPr>
          <p:cNvPr id="5" name="Text 1"/>
          <p:cNvSpPr/>
          <p:nvPr/>
        </p:nvSpPr>
        <p:spPr>
          <a:xfrm>
            <a:off x="457200" y="914400"/>
            <a:ext cx="8229600" cy="274320"/>
          </a:xfrm>
          <a:prstGeom prst="rect">
            <a:avLst/>
          </a:prstGeom>
          <a:noFill/>
          <a:ln/>
        </p:spPr>
        <p:txBody>
          <a:bodyPr wrap="square" rtlCol="0" anchor="ctr"/>
          <a:lstStyle/>
          <a:p>
            <a:r>
              <a:rPr lang="en-US" sz="1400" i="1" dirty="0">
                <a:solidFill>
                  <a:srgbClr val="363636"/>
                </a:solidFill>
                <a:latin typeface="+mj-lt"/>
                <a:ea typeface="Calibri Light" panose="020F0302020204030204" pitchFamily="34" charset="0"/>
                <a:cs typeface="Calibri Light" panose="020F0302020204030204" pitchFamily="34" charset="0"/>
              </a:rPr>
              <a:t>Protecting sensitive data while enabling FinOps visibility</a:t>
            </a:r>
            <a:endParaRPr lang="en-US" sz="1400" dirty="0">
              <a:latin typeface="+mj-lt"/>
              <a:ea typeface="Calibri Light" panose="020F0302020204030204" pitchFamily="34" charset="0"/>
              <a:cs typeface="Calibri Light" panose="020F0302020204030204" pitchFamily="34" charset="0"/>
            </a:endParaRPr>
          </a:p>
        </p:txBody>
      </p:sp>
      <p:sp>
        <p:nvSpPr>
          <p:cNvPr id="6" name="Shape 2"/>
          <p:cNvSpPr/>
          <p:nvPr/>
        </p:nvSpPr>
        <p:spPr>
          <a:xfrm>
            <a:off x="457200" y="1371600"/>
            <a:ext cx="8229600" cy="548640"/>
          </a:xfrm>
          <a:prstGeom prst="rect">
            <a:avLst/>
          </a:prstGeom>
          <a:solidFill>
            <a:schemeClr val="bg1"/>
          </a:solidFill>
          <a:ln/>
        </p:spPr>
        <p:txBody>
          <a:bodyPr/>
          <a:lstStyle/>
          <a:p>
            <a:endParaRPr lang="en-US" dirty="0">
              <a:latin typeface="+mj-lt"/>
              <a:ea typeface="Calibri Light" panose="020F0302020204030204" pitchFamily="34" charset="0"/>
              <a:cs typeface="Calibri Light" panose="020F0302020204030204" pitchFamily="34" charset="0"/>
            </a:endParaRPr>
          </a:p>
        </p:txBody>
      </p:sp>
      <p:sp>
        <p:nvSpPr>
          <p:cNvPr id="7" name="Text 3"/>
          <p:cNvSpPr/>
          <p:nvPr/>
        </p:nvSpPr>
        <p:spPr>
          <a:xfrm>
            <a:off x="457200" y="1371600"/>
            <a:ext cx="8229600" cy="548640"/>
          </a:xfrm>
          <a:prstGeom prst="rect">
            <a:avLst/>
          </a:prstGeom>
          <a:noFill/>
          <a:ln/>
        </p:spPr>
        <p:txBody>
          <a:bodyPr wrap="square" rtlCol="0" anchor="ctr"/>
          <a:lstStyle/>
          <a:p>
            <a:pPr marL="0" indent="0">
              <a:buNone/>
            </a:pPr>
            <a:r>
              <a:rPr lang="en-US" sz="1600" b="1" dirty="0">
                <a:latin typeface="+mj-lt"/>
                <a:ea typeface="Calibri Light" panose="020F0302020204030204" pitchFamily="34" charset="0"/>
                <a:cs typeface="Calibri Light" panose="020F0302020204030204" pitchFamily="34" charset="0"/>
              </a:rPr>
              <a:t>Row Access Policy (RAP) Implementation</a:t>
            </a:r>
            <a:endParaRPr lang="en-US" sz="1600" dirty="0">
              <a:latin typeface="+mj-lt"/>
              <a:ea typeface="Calibri Light" panose="020F0302020204030204" pitchFamily="34" charset="0"/>
              <a:cs typeface="Calibri Light" panose="020F0302020204030204" pitchFamily="34" charset="0"/>
            </a:endParaRPr>
          </a:p>
        </p:txBody>
      </p:sp>
      <p:sp>
        <p:nvSpPr>
          <p:cNvPr id="8" name="Text 5"/>
          <p:cNvSpPr/>
          <p:nvPr/>
        </p:nvSpPr>
        <p:spPr>
          <a:xfrm>
            <a:off x="640080" y="1920240"/>
            <a:ext cx="3749040" cy="346710"/>
          </a:xfrm>
          <a:prstGeom prst="rect">
            <a:avLst/>
          </a:prstGeom>
          <a:noFill/>
          <a:ln/>
        </p:spPr>
        <p:txBody>
          <a:bodyPr wrap="square" rtlCol="0" anchor="ctr"/>
          <a:lstStyle/>
          <a:p>
            <a:pPr marL="0" indent="0">
              <a:buNone/>
            </a:pPr>
            <a:r>
              <a:rPr lang="en-US" sz="1400" b="1" dirty="0">
                <a:latin typeface="+mj-lt"/>
                <a:ea typeface="Calibri Light" panose="020F0302020204030204" pitchFamily="34" charset="0"/>
                <a:cs typeface="Calibri Light" panose="020F0302020204030204" pitchFamily="34" charset="0"/>
              </a:rPr>
              <a:t>Policy Mechanism</a:t>
            </a:r>
            <a:endParaRPr lang="en-US" sz="1400" dirty="0">
              <a:latin typeface="+mj-lt"/>
              <a:ea typeface="Calibri Light" panose="020F0302020204030204" pitchFamily="34" charset="0"/>
              <a:cs typeface="Calibri Light" panose="020F0302020204030204" pitchFamily="34" charset="0"/>
            </a:endParaRPr>
          </a:p>
        </p:txBody>
      </p:sp>
      <p:sp>
        <p:nvSpPr>
          <p:cNvPr id="9" name="Text 6"/>
          <p:cNvSpPr/>
          <p:nvPr/>
        </p:nvSpPr>
        <p:spPr>
          <a:xfrm>
            <a:off x="640080" y="2606040"/>
            <a:ext cx="3749040" cy="1554480"/>
          </a:xfrm>
          <a:prstGeom prst="rect">
            <a:avLst/>
          </a:prstGeom>
          <a:noFill/>
          <a:ln/>
        </p:spPr>
        <p:txBody>
          <a:bodyPr wrap="square" rtlCol="0" anchor="ctr"/>
          <a:lstStyle/>
          <a:p>
            <a:pPr marL="0" indent="0">
              <a:buNone/>
            </a:pPr>
            <a:r>
              <a:rPr lang="en-US" sz="1100" b="1" dirty="0">
                <a:solidFill>
                  <a:srgbClr val="363636"/>
                </a:solidFill>
                <a:latin typeface="+mj-lt"/>
                <a:ea typeface="Calibri Light" panose="020F0302020204030204" pitchFamily="34" charset="0"/>
                <a:cs typeface="Calibri Light" panose="020F0302020204030204" pitchFamily="34" charset="0"/>
              </a:rPr>
              <a:t>Policy Name:</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zone_data_policy</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xml:space="preserve"> </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b="1" dirty="0">
                <a:solidFill>
                  <a:srgbClr val="363636"/>
                </a:solidFill>
                <a:latin typeface="+mj-lt"/>
                <a:ea typeface="Calibri Light" panose="020F0302020204030204" pitchFamily="34" charset="0"/>
                <a:cs typeface="Calibri Light" panose="020F0302020204030204" pitchFamily="34" charset="0"/>
              </a:rPr>
              <a:t>How it works:</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Filters rows based on 'zone' column</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Evaluates CURRENT_ROLE() function</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Uses REGEXP pattern matching</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Checks IS_ROLE_IN_SESSION() for secondary roles</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xml:space="preserve"> </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b="1" dirty="0">
                <a:solidFill>
                  <a:srgbClr val="363636"/>
                </a:solidFill>
                <a:latin typeface="+mj-lt"/>
                <a:ea typeface="Calibri Light" panose="020F0302020204030204" pitchFamily="34" charset="0"/>
                <a:cs typeface="Calibri Light" panose="020F0302020204030204" pitchFamily="34" charset="0"/>
              </a:rPr>
              <a:t>Result:</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Returns TRUE: User sees the row</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Returns FALSE: Row is hidden from user</a:t>
            </a:r>
            <a:endParaRPr lang="en-US" sz="1100" dirty="0">
              <a:latin typeface="+mj-lt"/>
              <a:ea typeface="Calibri Light" panose="020F0302020204030204" pitchFamily="34" charset="0"/>
              <a:cs typeface="Calibri Light" panose="020F0302020204030204" pitchFamily="34" charset="0"/>
            </a:endParaRPr>
          </a:p>
        </p:txBody>
      </p:sp>
      <p:sp>
        <p:nvSpPr>
          <p:cNvPr id="10" name="Text 8"/>
          <p:cNvSpPr/>
          <p:nvPr/>
        </p:nvSpPr>
        <p:spPr>
          <a:xfrm>
            <a:off x="4937760" y="1920240"/>
            <a:ext cx="3749040" cy="413385"/>
          </a:xfrm>
          <a:prstGeom prst="rect">
            <a:avLst/>
          </a:prstGeom>
          <a:noFill/>
          <a:ln/>
        </p:spPr>
        <p:txBody>
          <a:bodyPr wrap="square" rtlCol="0" anchor="ctr"/>
          <a:lstStyle/>
          <a:p>
            <a:pPr marL="0" indent="0">
              <a:buNone/>
            </a:pPr>
            <a:r>
              <a:rPr lang="en-US" sz="1400" b="1" dirty="0">
                <a:latin typeface="+mj-lt"/>
                <a:ea typeface="Calibri Light" panose="020F0302020204030204" pitchFamily="34" charset="0"/>
                <a:cs typeface="Calibri Light" panose="020F0302020204030204" pitchFamily="34" charset="0"/>
              </a:rPr>
              <a:t>Security Benefits</a:t>
            </a:r>
            <a:endParaRPr lang="en-US" sz="1400" dirty="0">
              <a:latin typeface="+mj-lt"/>
              <a:ea typeface="Calibri Light" panose="020F0302020204030204" pitchFamily="34" charset="0"/>
              <a:cs typeface="Calibri Light" panose="020F0302020204030204" pitchFamily="34" charset="0"/>
            </a:endParaRPr>
          </a:p>
        </p:txBody>
      </p:sp>
      <p:sp>
        <p:nvSpPr>
          <p:cNvPr id="11" name="Text 9"/>
          <p:cNvSpPr/>
          <p:nvPr/>
        </p:nvSpPr>
        <p:spPr>
          <a:xfrm>
            <a:off x="4937760" y="2606040"/>
            <a:ext cx="3749040" cy="1554480"/>
          </a:xfrm>
          <a:prstGeom prst="rect">
            <a:avLst/>
          </a:prstGeom>
          <a:noFill/>
          <a:ln/>
        </p:spPr>
        <p:txBody>
          <a:bodyPr wrap="square" rtlCol="0" anchor="ctr"/>
          <a:lstStyle/>
          <a:p>
            <a:pPr marL="0" indent="0">
              <a:buNone/>
            </a:pPr>
            <a:r>
              <a:rPr lang="en-US" sz="1100" b="1" dirty="0">
                <a:solidFill>
                  <a:srgbClr val="363636"/>
                </a:solidFill>
                <a:latin typeface="+mj-lt"/>
                <a:ea typeface="Calibri Light" panose="020F0302020204030204" pitchFamily="34" charset="0"/>
                <a:cs typeface="Calibri Light" panose="020F0302020204030204" pitchFamily="34" charset="0"/>
              </a:rPr>
              <a:t>Zone-based Segregation:</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CUST zone users see only CUST data</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PTP zone users see only PTP data</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LOANS zone users see only LOANS data</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xml:space="preserve"> </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b="1" dirty="0">
                <a:solidFill>
                  <a:srgbClr val="363636"/>
                </a:solidFill>
                <a:latin typeface="+mj-lt"/>
                <a:ea typeface="Calibri Light" panose="020F0302020204030204" pitchFamily="34" charset="0"/>
                <a:cs typeface="Calibri Light" panose="020F0302020204030204" pitchFamily="34" charset="0"/>
              </a:rPr>
              <a:t>Platform Team Access:</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PLATFRM roles see all zones (multi-zone)</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Required for comprehensive FinOps oversight</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xml:space="preserve"> </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b="1" dirty="0">
                <a:solidFill>
                  <a:srgbClr val="363636"/>
                </a:solidFill>
                <a:latin typeface="+mj-lt"/>
                <a:ea typeface="Calibri Light" panose="020F0302020204030204" pitchFamily="34" charset="0"/>
                <a:cs typeface="Calibri Light" panose="020F0302020204030204" pitchFamily="34" charset="0"/>
              </a:rPr>
              <a:t>Performance:</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Negligible performance overhead</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No lookup tables required</a:t>
            </a:r>
            <a:endParaRPr lang="en-US" sz="1100" dirty="0">
              <a:latin typeface="+mj-lt"/>
              <a:ea typeface="Calibri Light" panose="020F0302020204030204" pitchFamily="34" charset="0"/>
              <a:cs typeface="Calibri Light" panose="020F0302020204030204" pitchFamily="34" charset="0"/>
            </a:endParaRPr>
          </a:p>
          <a:p>
            <a:pPr marL="0" indent="0">
              <a:buNone/>
            </a:pPr>
            <a:r>
              <a:rPr lang="en-US" sz="1100" dirty="0">
                <a:solidFill>
                  <a:srgbClr val="363636"/>
                </a:solidFill>
                <a:latin typeface="+mj-lt"/>
                <a:ea typeface="Calibri Light" panose="020F0302020204030204" pitchFamily="34" charset="0"/>
                <a:cs typeface="Calibri Light" panose="020F0302020204030204" pitchFamily="34" charset="0"/>
              </a:rPr>
              <a:t>• Native Snowflake feature</a:t>
            </a:r>
            <a:endParaRPr lang="en-US" sz="1100" dirty="0">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83877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A3873-2FB1-ACC8-11CB-2276A0F8C8F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198FE3D-CDB6-91A3-26EE-8931295F1E8C}"/>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8C8C05A8-3636-E4C8-EB40-1CE5515C5326}"/>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15</a:t>
            </a:fld>
            <a:endParaRPr lang="en-NZ" altLang="en-US">
              <a:latin typeface="+mj-lt"/>
            </a:endParaRPr>
          </a:p>
        </p:txBody>
      </p:sp>
      <p:graphicFrame>
        <p:nvGraphicFramePr>
          <p:cNvPr id="6" name="Table 0">
            <a:extLst>
              <a:ext uri="{FF2B5EF4-FFF2-40B4-BE49-F238E27FC236}">
                <a16:creationId xmlns:a16="http://schemas.microsoft.com/office/drawing/2014/main" id="{0C8C5920-987D-D154-9A61-196C6532366B}"/>
              </a:ext>
            </a:extLst>
          </p:cNvPr>
          <p:cNvGraphicFramePr>
            <a:graphicFrameLocks noGrp="1"/>
          </p:cNvGraphicFramePr>
          <p:nvPr>
            <p:extLst>
              <p:ext uri="{D42A27DB-BD31-4B8C-83A1-F6EECF244321}">
                <p14:modId xmlns:p14="http://schemas.microsoft.com/office/powerpoint/2010/main" val="1594184714"/>
              </p:ext>
            </p:extLst>
          </p:nvPr>
        </p:nvGraphicFramePr>
        <p:xfrm>
          <a:off x="396815" y="1393568"/>
          <a:ext cx="8229600" cy="3575606"/>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26626">
                <a:tc>
                  <a:txBody>
                    <a:bodyPr/>
                    <a:lstStyle/>
                    <a:p>
                      <a:pPr marL="0" indent="0" algn="ctr">
                        <a:buNone/>
                      </a:pPr>
                      <a:r>
                        <a:rPr lang="en-US" sz="1200" b="1" baseline="0" dirty="0">
                          <a:solidFill>
                            <a:schemeClr val="tx1"/>
                          </a:solidFill>
                          <a:latin typeface="Calibri Light" panose="020F0302020204030204" pitchFamily="34" charset="0"/>
                        </a:rPr>
                        <a:t>User Role</a:t>
                      </a:r>
                      <a:endParaRPr lang="en-US" sz="1200" baseline="0" dirty="0">
                        <a:solidFill>
                          <a:schemeClr val="tx1"/>
                        </a:solidFill>
                        <a:latin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0" indent="0" algn="ctr">
                        <a:buNone/>
                      </a:pPr>
                      <a:r>
                        <a:rPr lang="en-US" sz="1200" b="1" baseline="0" dirty="0">
                          <a:solidFill>
                            <a:schemeClr val="tx1"/>
                          </a:solidFill>
                          <a:latin typeface="Calibri Light" panose="020F0302020204030204" pitchFamily="34" charset="0"/>
                        </a:rPr>
                        <a:t>Zone-CUST</a:t>
                      </a:r>
                      <a:endParaRPr lang="en-US" sz="1200" baseline="0" dirty="0">
                        <a:solidFill>
                          <a:schemeClr val="tx1"/>
                        </a:solidFill>
                        <a:latin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0" indent="0" algn="ctr">
                        <a:buNone/>
                      </a:pPr>
                      <a:r>
                        <a:rPr lang="en-US" sz="1200" b="1" baseline="0" dirty="0">
                          <a:solidFill>
                            <a:schemeClr val="tx1"/>
                          </a:solidFill>
                          <a:latin typeface="Calibri Light" panose="020F0302020204030204" pitchFamily="34" charset="0"/>
                        </a:rPr>
                        <a:t>Zone-PTP</a:t>
                      </a:r>
                      <a:endParaRPr lang="en-US" sz="1200" baseline="0" dirty="0">
                        <a:solidFill>
                          <a:schemeClr val="tx1"/>
                        </a:solidFill>
                        <a:latin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0" indent="0" algn="ctr">
                        <a:buNone/>
                      </a:pPr>
                      <a:r>
                        <a:rPr lang="en-US" sz="1200" b="1" baseline="0" dirty="0">
                          <a:solidFill>
                            <a:schemeClr val="tx1"/>
                          </a:solidFill>
                          <a:latin typeface="Calibri Light" panose="020F0302020204030204" pitchFamily="34" charset="0"/>
                        </a:rPr>
                        <a:t>Zone-LOANS</a:t>
                      </a:r>
                      <a:endParaRPr lang="en-US" sz="1200" baseline="0" dirty="0">
                        <a:solidFill>
                          <a:schemeClr val="tx1"/>
                        </a:solidFill>
                        <a:latin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L="0" indent="0" algn="ctr">
                        <a:buNone/>
                      </a:pPr>
                      <a:r>
                        <a:rPr lang="en-US" sz="1200" b="1" baseline="0" dirty="0">
                          <a:solidFill>
                            <a:schemeClr val="tx1"/>
                          </a:solidFill>
                          <a:latin typeface="Calibri Light" panose="020F0302020204030204" pitchFamily="34" charset="0"/>
                        </a:rPr>
                        <a:t>All Zones</a:t>
                      </a:r>
                      <a:endParaRPr lang="en-US" sz="1200" baseline="0" dirty="0">
                        <a:solidFill>
                          <a:schemeClr val="tx1"/>
                        </a:solidFill>
                        <a:latin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0000"/>
                  </a:ext>
                </a:extLst>
              </a:tr>
              <a:tr h="326626">
                <a:tc>
                  <a:txBody>
                    <a:bodyPr/>
                    <a:lstStyle/>
                    <a:p>
                      <a:pPr marL="0" indent="0" algn="ctr">
                        <a:buNone/>
                      </a:pPr>
                      <a:r>
                        <a:rPr lang="en-US" sz="1000" dirty="0">
                          <a:solidFill>
                            <a:srgbClr val="000000"/>
                          </a:solidFill>
                          <a:latin typeface="+mn-lt"/>
                          <a:ea typeface="Calibri Light" panose="020F0302020204030204" pitchFamily="34" charset="0"/>
                          <a:cs typeface="Calibri Light" panose="020F0302020204030204" pitchFamily="34" charset="0"/>
                        </a:rPr>
                        <a:t>ACCOUNTADMIN</a:t>
                      </a:r>
                      <a:endParaRPr lang="en-US" sz="1000" dirty="0">
                        <a:latin typeface="+mn-lt"/>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6626">
                <a:tc>
                  <a:txBody>
                    <a:bodyPr/>
                    <a:lstStyle/>
                    <a:p>
                      <a:pPr marL="0" indent="0" algn="ctr">
                        <a:buNone/>
                      </a:pPr>
                      <a:r>
                        <a:rPr lang="en-US" sz="1000" dirty="0">
                          <a:solidFill>
                            <a:srgbClr val="000000"/>
                          </a:solidFill>
                          <a:latin typeface="+mn-lt"/>
                          <a:ea typeface="Calibri Light" panose="020F0302020204030204" pitchFamily="34" charset="0"/>
                          <a:cs typeface="Calibri Light" panose="020F0302020204030204" pitchFamily="34" charset="0"/>
                        </a:rPr>
                        <a:t>SYSADMIN</a:t>
                      </a:r>
                      <a:endParaRPr lang="en-US" sz="1000" dirty="0">
                        <a:latin typeface="+mn-lt"/>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0912">
                <a:tc>
                  <a:txBody>
                    <a:bodyPr/>
                    <a:lstStyle/>
                    <a:p>
                      <a:pPr marL="0" indent="0" algn="ctr">
                        <a:buNone/>
                      </a:pPr>
                      <a:r>
                        <a:rPr lang="en-US" sz="1000" dirty="0">
                          <a:solidFill>
                            <a:srgbClr val="000000"/>
                          </a:solidFill>
                          <a:latin typeface="+mn-lt"/>
                          <a:ea typeface="Calibri Light" panose="020F0302020204030204" pitchFamily="34" charset="0"/>
                          <a:cs typeface="Calibri Light" panose="020F0302020204030204" pitchFamily="34" charset="0"/>
                        </a:rPr>
                        <a:t>BDH_SF_</a:t>
                      </a:r>
                      <a:r>
                        <a:rPr lang="en-US" sz="1000" kern="1200" dirty="0">
                          <a:solidFill>
                            <a:srgbClr val="000000"/>
                          </a:solidFill>
                          <a:latin typeface="+mn-lt"/>
                          <a:ea typeface="Calibri Light" panose="020F0302020204030204" pitchFamily="34" charset="0"/>
                          <a:cs typeface="Calibri Light" panose="020F0302020204030204" pitchFamily="34" charset="0"/>
                        </a:rPr>
                        <a:t>FR</a:t>
                      </a:r>
                      <a:r>
                        <a:rPr lang="en-US" sz="1000" dirty="0">
                          <a:solidFill>
                            <a:srgbClr val="000000"/>
                          </a:solidFill>
                          <a:latin typeface="+mn-lt"/>
                          <a:ea typeface="Calibri Light" panose="020F0302020204030204" pitchFamily="34" charset="0"/>
                          <a:cs typeface="Calibri Light" panose="020F0302020204030204" pitchFamily="34" charset="0"/>
                        </a:rPr>
                        <a:t>_PLATFRM_</a:t>
                      </a:r>
                      <a:r>
                        <a:rPr lang="en-US" sz="1000" kern="1200" dirty="0">
                          <a:solidFill>
                            <a:srgbClr val="000000"/>
                          </a:solidFill>
                          <a:latin typeface="+mn-lt"/>
                          <a:ea typeface="Calibri Light" panose="020F0302020204030204" pitchFamily="34" charset="0"/>
                          <a:cs typeface="Calibri Light" panose="020F0302020204030204" pitchFamily="34" charset="0"/>
                        </a:rPr>
                        <a:t>PREPROD</a:t>
                      </a:r>
                      <a:r>
                        <a:rPr lang="en-US" sz="1000" dirty="0">
                          <a:solidFill>
                            <a:srgbClr val="000000"/>
                          </a:solidFill>
                          <a:latin typeface="+mn-lt"/>
                          <a:ea typeface="Calibri Light" panose="020F0302020204030204" pitchFamily="34" charset="0"/>
                          <a:cs typeface="Calibri Light" panose="020F0302020204030204" pitchFamily="34" charset="0"/>
                        </a:rPr>
                        <a:t>_SUPPORTADMIN</a:t>
                      </a:r>
                      <a:endParaRPr lang="en-US" sz="1000" dirty="0">
                        <a:latin typeface="+mn-lt"/>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0912">
                <a:tc>
                  <a:txBody>
                    <a:bodyPr/>
                    <a:lstStyle/>
                    <a:p>
                      <a:pPr marL="0" indent="0" algn="ctr">
                        <a:buNone/>
                      </a:pPr>
                      <a:r>
                        <a:rPr lang="en-US" sz="1000" dirty="0">
                          <a:solidFill>
                            <a:srgbClr val="000000"/>
                          </a:solidFill>
                          <a:latin typeface="+mn-lt"/>
                          <a:ea typeface="Calibri Light" panose="020F0302020204030204" pitchFamily="34" charset="0"/>
                          <a:cs typeface="Calibri Light" panose="020F0302020204030204" pitchFamily="34" charset="0"/>
                        </a:rPr>
                        <a:t>BDH_SF_FR_LOANS_DEV_</a:t>
                      </a:r>
                      <a:r>
                        <a:rPr lang="en-US" sz="1000" kern="1200" dirty="0">
                          <a:solidFill>
                            <a:srgbClr val="000000"/>
                          </a:solidFill>
                          <a:latin typeface="+mn-lt"/>
                          <a:ea typeface="Calibri Light" panose="020F0302020204030204" pitchFamily="34" charset="0"/>
                          <a:cs typeface="Calibri Light" panose="020F0302020204030204" pitchFamily="34" charset="0"/>
                        </a:rPr>
                        <a:t>SUPPORTADMIN</a:t>
                      </a: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6366">
                <a:tc>
                  <a:txBody>
                    <a:bodyPr/>
                    <a:lstStyle/>
                    <a:p>
                      <a:pPr marL="0" indent="0" algn="ctr">
                        <a:buNone/>
                      </a:pPr>
                      <a:r>
                        <a:rPr lang="en-US" sz="1000" dirty="0">
                          <a:solidFill>
                            <a:srgbClr val="000000"/>
                          </a:solidFill>
                          <a:latin typeface="+mn-lt"/>
                          <a:ea typeface="Calibri Light" panose="020F0302020204030204" pitchFamily="34" charset="0"/>
                          <a:cs typeface="Calibri Light" panose="020F0302020204030204" pitchFamily="34" charset="0"/>
                        </a:rPr>
                        <a:t>BDH_SF_FR_PTP_DEV_SUPPORT</a:t>
                      </a:r>
                      <a:endParaRPr lang="en-US" sz="1000" dirty="0">
                        <a:latin typeface="+mn-lt"/>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10912">
                <a:tc>
                  <a:txBody>
                    <a:bodyPr/>
                    <a:lstStyle/>
                    <a:p>
                      <a:pPr marL="0" indent="0" algn="ctr">
                        <a:buNone/>
                      </a:pPr>
                      <a:r>
                        <a:rPr lang="en-US" sz="1000" kern="1200" dirty="0">
                          <a:solidFill>
                            <a:srgbClr val="000000"/>
                          </a:solidFill>
                          <a:latin typeface="+mn-lt"/>
                          <a:ea typeface="Calibri Light" panose="020F0302020204030204" pitchFamily="34" charset="0"/>
                          <a:cs typeface="Calibri Light" panose="020F0302020204030204" pitchFamily="34" charset="0"/>
                        </a:rPr>
                        <a:t>BDH</a:t>
                      </a:r>
                      <a:r>
                        <a:rPr lang="en-US" sz="1000" dirty="0">
                          <a:solidFill>
                            <a:srgbClr val="000000"/>
                          </a:solidFill>
                          <a:latin typeface="+mn-lt"/>
                          <a:ea typeface="Calibri Light" panose="020F0302020204030204" pitchFamily="34" charset="0"/>
                          <a:cs typeface="Calibri Light" panose="020F0302020204030204" pitchFamily="34" charset="0"/>
                        </a:rPr>
                        <a:t>_SF_</a:t>
                      </a:r>
                      <a:r>
                        <a:rPr lang="en-US" sz="1000" kern="1200" dirty="0">
                          <a:solidFill>
                            <a:srgbClr val="000000"/>
                          </a:solidFill>
                          <a:latin typeface="+mn-lt"/>
                          <a:ea typeface="Calibri Light" panose="020F0302020204030204" pitchFamily="34" charset="0"/>
                          <a:cs typeface="Calibri Light" panose="020F0302020204030204" pitchFamily="34" charset="0"/>
                        </a:rPr>
                        <a:t>FR</a:t>
                      </a:r>
                      <a:r>
                        <a:rPr lang="en-US" sz="1000" dirty="0">
                          <a:solidFill>
                            <a:srgbClr val="000000"/>
                          </a:solidFill>
                          <a:latin typeface="+mn-lt"/>
                          <a:ea typeface="Calibri Light" panose="020F0302020204030204" pitchFamily="34" charset="0"/>
                          <a:cs typeface="Calibri Light" panose="020F0302020204030204" pitchFamily="34" charset="0"/>
                        </a:rPr>
                        <a:t>_CUST_DEV_</a:t>
                      </a:r>
                      <a:r>
                        <a:rPr lang="en-US" sz="1000" kern="1200" dirty="0">
                          <a:solidFill>
                            <a:srgbClr val="000000"/>
                          </a:solidFill>
                          <a:latin typeface="+mn-lt"/>
                          <a:ea typeface="Calibri Light" panose="020F0302020204030204" pitchFamily="34" charset="0"/>
                          <a:cs typeface="Calibri Light" panose="020F0302020204030204" pitchFamily="34" charset="0"/>
                        </a:rPr>
                        <a:t>SUPPORTADMIN</a:t>
                      </a: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a:t>
                      </a: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6626">
                <a:tc>
                  <a:txBody>
                    <a:bodyPr/>
                    <a:lstStyle/>
                    <a:p>
                      <a:pPr marL="0" indent="0" algn="ctr">
                        <a:buNone/>
                      </a:pPr>
                      <a:r>
                        <a:rPr lang="en-US" sz="1000" kern="1200" dirty="0">
                          <a:solidFill>
                            <a:srgbClr val="000000"/>
                          </a:solidFill>
                          <a:latin typeface="+mn-lt"/>
                          <a:ea typeface="Calibri Light" panose="020F0302020204030204" pitchFamily="34" charset="0"/>
                          <a:cs typeface="Calibri Light" panose="020F0302020204030204" pitchFamily="34" charset="0"/>
                        </a:rPr>
                        <a:t>Unmapped</a:t>
                      </a:r>
                      <a:r>
                        <a:rPr lang="en-US" sz="1000" dirty="0">
                          <a:solidFill>
                            <a:srgbClr val="000000"/>
                          </a:solidFill>
                          <a:latin typeface="+mn-lt"/>
                          <a:ea typeface="Calibri Light" panose="020F0302020204030204" pitchFamily="34" charset="0"/>
                          <a:cs typeface="Calibri Light" panose="020F0302020204030204" pitchFamily="34" charset="0"/>
                        </a:rPr>
                        <a:t xml:space="preserve"> Role</a:t>
                      </a:r>
                      <a:endParaRPr lang="en-US" sz="1000" dirty="0">
                        <a:latin typeface="+mn-lt"/>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Light" panose="020F0302020204030204" pitchFamily="34" charset="0"/>
                        <a:ea typeface="Calibri Light" panose="020F0302020204030204" pitchFamily="34" charset="0"/>
                        <a:cs typeface="Calibri Light" panose="020F0302020204030204" pitchFamily="34" charset="0"/>
                      </a:endParaRPr>
                    </a:p>
                  </a:txBody>
                  <a:tcPr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cxnSp>
        <p:nvCxnSpPr>
          <p:cNvPr id="7" name="Google Shape;227;p33">
            <a:extLst>
              <a:ext uri="{FF2B5EF4-FFF2-40B4-BE49-F238E27FC236}">
                <a16:creationId xmlns:a16="http://schemas.microsoft.com/office/drawing/2014/main" id="{399BAF8A-16CF-FE91-1FB1-CB1BAD4DEFCC}"/>
              </a:ext>
            </a:extLst>
          </p:cNvPr>
          <p:cNvCxnSpPr>
            <a:cxnSpLocks/>
          </p:cNvCxnSpPr>
          <p:nvPr/>
        </p:nvCxnSpPr>
        <p:spPr>
          <a:xfrm>
            <a:off x="93133" y="914400"/>
            <a:ext cx="9050867" cy="0"/>
          </a:xfrm>
          <a:prstGeom prst="straightConnector1">
            <a:avLst/>
          </a:prstGeom>
          <a:ln w="9525">
            <a:solidFill>
              <a:srgbClr val="083C77"/>
            </a:solidFill>
            <a:round/>
          </a:ln>
        </p:spPr>
      </p:cxnSp>
      <p:sp>
        <p:nvSpPr>
          <p:cNvPr id="9" name="TextBox 8">
            <a:extLst>
              <a:ext uri="{FF2B5EF4-FFF2-40B4-BE49-F238E27FC236}">
                <a16:creationId xmlns:a16="http://schemas.microsoft.com/office/drawing/2014/main" id="{ED6D97B4-F9AD-B8C3-93B7-B83F098C5F7B}"/>
              </a:ext>
            </a:extLst>
          </p:cNvPr>
          <p:cNvSpPr txBox="1"/>
          <p:nvPr/>
        </p:nvSpPr>
        <p:spPr>
          <a:xfrm>
            <a:off x="323490" y="1116567"/>
            <a:ext cx="4580626"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noProof="0" dirty="0">
                <a:ln>
                  <a:noFill/>
                </a:ln>
                <a:effectLst/>
                <a:uLnTx/>
                <a:uFillTx/>
                <a:latin typeface="+mj-lt"/>
                <a:ea typeface="+mn-ea"/>
                <a:cs typeface="+mn-cs"/>
              </a:rPr>
              <a:t>Authorization Matrix</a:t>
            </a:r>
          </a:p>
        </p:txBody>
      </p:sp>
      <p:sp>
        <p:nvSpPr>
          <p:cNvPr id="10" name="Rectangle 9">
            <a:extLst>
              <a:ext uri="{FF2B5EF4-FFF2-40B4-BE49-F238E27FC236}">
                <a16:creationId xmlns:a16="http://schemas.microsoft.com/office/drawing/2014/main" id="{77EA9CB9-64CA-91D2-8AB9-94962594FE47}"/>
              </a:ext>
            </a:extLst>
          </p:cNvPr>
          <p:cNvSpPr/>
          <p:nvPr/>
        </p:nvSpPr>
        <p:spPr>
          <a:xfrm>
            <a:off x="457200" y="279973"/>
            <a:ext cx="7353270" cy="6410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10000"/>
          </a:bodyPr>
          <a:lstStyle/>
          <a:p>
            <a:pPr>
              <a:tabLst>
                <a:tab pos="0" algn="l"/>
              </a:tabLst>
            </a:pPr>
            <a:r>
              <a:rPr lang="en-US" sz="3200" dirty="0">
                <a:solidFill>
                  <a:schemeClr val="dk1"/>
                </a:solidFill>
                <a:latin typeface="+mj-lt"/>
                <a:ea typeface="Calibri Light" panose="020F0302020204030204" pitchFamily="34" charset="0"/>
                <a:cs typeface="Calibri Light" panose="020F0302020204030204" pitchFamily="34" charset="0"/>
              </a:rPr>
              <a:t>Designing Row Access Policy - Implementation</a:t>
            </a:r>
            <a:endParaRPr lang="en-US" sz="3200" b="0" u="none" strike="noStrike" dirty="0">
              <a:solidFill>
                <a:srgbClr val="000000"/>
              </a:solidFill>
              <a:effectLst/>
              <a:uFillTx/>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121679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0BB59-C6DD-469E-CD09-8FE5E024087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EFBD969-2D90-03C6-225F-413CCE51A72F}"/>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C46C36CB-C1A8-363F-9516-10854AF89A97}"/>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16</a:t>
            </a:fld>
            <a:endParaRPr lang="en-NZ" altLang="en-US">
              <a:latin typeface="+mj-lt"/>
            </a:endParaRPr>
          </a:p>
        </p:txBody>
      </p:sp>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dirty="0">
                <a:latin typeface="+mj-lt"/>
                <a:ea typeface="Calibri Light" panose="020F0302020204030204" pitchFamily="34" charset="0"/>
                <a:cs typeface="Calibri Light" panose="020F0302020204030204" pitchFamily="34" charset="0"/>
              </a:rPr>
              <a:t>Dashboard Sharing &amp; Access</a:t>
            </a:r>
          </a:p>
        </p:txBody>
      </p:sp>
      <p:sp>
        <p:nvSpPr>
          <p:cNvPr id="5" name="Text 1"/>
          <p:cNvSpPr/>
          <p:nvPr/>
        </p:nvSpPr>
        <p:spPr>
          <a:xfrm>
            <a:off x="457200" y="914400"/>
            <a:ext cx="8229600" cy="274320"/>
          </a:xfrm>
          <a:prstGeom prst="rect">
            <a:avLst/>
          </a:prstGeom>
          <a:noFill/>
          <a:ln/>
        </p:spPr>
        <p:txBody>
          <a:bodyPr wrap="square" rtlCol="0" anchor="ctr"/>
          <a:lstStyle/>
          <a:p>
            <a:pPr marL="0" indent="0">
              <a:buNone/>
            </a:pPr>
            <a:r>
              <a:rPr lang="en-US" sz="1400" i="1" dirty="0">
                <a:solidFill>
                  <a:srgbClr val="363636"/>
                </a:solidFill>
                <a:latin typeface="+mj-lt"/>
                <a:ea typeface="Calibri Light" panose="020F0302020204030204" pitchFamily="34" charset="0"/>
                <a:cs typeface="Calibri Light" panose="020F0302020204030204" pitchFamily="34" charset="0"/>
              </a:rPr>
              <a:t>How to access and share the FinOps dashboard</a:t>
            </a:r>
            <a:endParaRPr lang="en-US" sz="1400" dirty="0">
              <a:latin typeface="+mj-lt"/>
              <a:ea typeface="Calibri Light" panose="020F0302020204030204" pitchFamily="34" charset="0"/>
              <a:cs typeface="Calibri Light" panose="020F0302020204030204" pitchFamily="34" charset="0"/>
            </a:endParaRPr>
          </a:p>
        </p:txBody>
      </p:sp>
      <p:sp>
        <p:nvSpPr>
          <p:cNvPr id="6" name="Shape 2"/>
          <p:cNvSpPr/>
          <p:nvPr/>
        </p:nvSpPr>
        <p:spPr>
          <a:xfrm>
            <a:off x="457200" y="1371600"/>
            <a:ext cx="8229600" cy="1005840"/>
          </a:xfrm>
          <a:prstGeom prst="rect">
            <a:avLst/>
          </a:prstGeom>
          <a:solidFill>
            <a:srgbClr val="F5F5F5"/>
          </a:solidFill>
          <a:ln/>
        </p:spPr>
        <p:txBody>
          <a:bodyPr/>
          <a:lstStyle/>
          <a:p>
            <a:endParaRPr lang="en-US">
              <a:latin typeface="+mj-lt"/>
              <a:ea typeface="Calibri Light" panose="020F0302020204030204" pitchFamily="34" charset="0"/>
              <a:cs typeface="Calibri Light" panose="020F0302020204030204" pitchFamily="34" charset="0"/>
            </a:endParaRPr>
          </a:p>
        </p:txBody>
      </p:sp>
      <p:sp>
        <p:nvSpPr>
          <p:cNvPr id="7" name="Shape 3"/>
          <p:cNvSpPr/>
          <p:nvPr/>
        </p:nvSpPr>
        <p:spPr>
          <a:xfrm>
            <a:off x="457200" y="1371600"/>
            <a:ext cx="8229600" cy="365760"/>
          </a:xfrm>
          <a:prstGeom prst="rect">
            <a:avLst/>
          </a:prstGeom>
          <a:solidFill>
            <a:schemeClr val="bg1"/>
          </a:solidFill>
          <a:ln/>
        </p:spPr>
        <p:txBody>
          <a:bodyPr/>
          <a:lstStyle/>
          <a:p>
            <a:endParaRPr lang="en-US" dirty="0">
              <a:solidFill>
                <a:schemeClr val="bg1"/>
              </a:solidFill>
              <a:latin typeface="+mj-lt"/>
              <a:ea typeface="Calibri Light" panose="020F0302020204030204" pitchFamily="34" charset="0"/>
              <a:cs typeface="Calibri Light" panose="020F0302020204030204" pitchFamily="34" charset="0"/>
            </a:endParaRPr>
          </a:p>
        </p:txBody>
      </p:sp>
      <p:sp>
        <p:nvSpPr>
          <p:cNvPr id="8" name="Text 4"/>
          <p:cNvSpPr/>
          <p:nvPr/>
        </p:nvSpPr>
        <p:spPr>
          <a:xfrm>
            <a:off x="457200" y="1371600"/>
            <a:ext cx="8229600" cy="365760"/>
          </a:xfrm>
          <a:prstGeom prst="rect">
            <a:avLst/>
          </a:prstGeom>
          <a:noFill/>
          <a:ln/>
        </p:spPr>
        <p:txBody>
          <a:bodyPr wrap="square" rtlCol="0" anchor="ctr"/>
          <a:lstStyle/>
          <a:p>
            <a:pPr marL="0" indent="0">
              <a:buNone/>
            </a:pPr>
            <a:r>
              <a:rPr lang="en-US" sz="1500" b="1" dirty="0">
                <a:latin typeface="+mj-lt"/>
                <a:ea typeface="Calibri Light" panose="020F0302020204030204" pitchFamily="34" charset="0"/>
                <a:cs typeface="Calibri Light" panose="020F0302020204030204" pitchFamily="34" charset="0"/>
              </a:rPr>
              <a:t>Access Requirements</a:t>
            </a:r>
            <a:endParaRPr lang="en-US" sz="1500" dirty="0">
              <a:latin typeface="+mj-lt"/>
              <a:ea typeface="Calibri Light" panose="020F0302020204030204" pitchFamily="34" charset="0"/>
              <a:cs typeface="Calibri Light" panose="020F0302020204030204" pitchFamily="34" charset="0"/>
            </a:endParaRPr>
          </a:p>
        </p:txBody>
      </p:sp>
      <p:sp>
        <p:nvSpPr>
          <p:cNvPr id="9" name="Text 5"/>
          <p:cNvSpPr/>
          <p:nvPr/>
        </p:nvSpPr>
        <p:spPr>
          <a:xfrm>
            <a:off x="640080" y="1828800"/>
            <a:ext cx="7863840" cy="457200"/>
          </a:xfrm>
          <a:prstGeom prst="rect">
            <a:avLst/>
          </a:prstGeom>
          <a:noFill/>
          <a:ln/>
        </p:spPr>
        <p:txBody>
          <a:bodyPr wrap="square" rtlCol="0" anchor="ctr"/>
          <a:lstStyle/>
          <a:p>
            <a:pPr marL="0" indent="0">
              <a:buNone/>
            </a:pPr>
            <a:r>
              <a:rPr lang="en-US" sz="1200" b="1" dirty="0">
                <a:solidFill>
                  <a:srgbClr val="363636"/>
                </a:solidFill>
                <a:latin typeface="+mj-lt"/>
                <a:ea typeface="Calibri Light" panose="020F0302020204030204" pitchFamily="34" charset="0"/>
                <a:cs typeface="Calibri Light" panose="020F0302020204030204" pitchFamily="34" charset="0"/>
              </a:rPr>
              <a:t xml:space="preserve">Required AD Group: </a:t>
            </a:r>
            <a:r>
              <a:rPr lang="en-US" sz="1200" dirty="0">
                <a:solidFill>
                  <a:srgbClr val="363636"/>
                </a:solidFill>
                <a:latin typeface="+mj-lt"/>
                <a:ea typeface="Calibri Light" panose="020F0302020204030204" pitchFamily="34" charset="0"/>
                <a:cs typeface="Calibri Light" panose="020F0302020204030204" pitchFamily="34" charset="0"/>
              </a:rPr>
              <a:t>A_BDH_sf_fg_plat_dev_developer</a:t>
            </a:r>
            <a:endParaRPr lang="en-US" sz="1200" dirty="0">
              <a:latin typeface="+mj-lt"/>
              <a:ea typeface="Calibri Light" panose="020F0302020204030204" pitchFamily="34" charset="0"/>
              <a:cs typeface="Calibri Light" panose="020F0302020204030204" pitchFamily="34" charset="0"/>
            </a:endParaRPr>
          </a:p>
          <a:p>
            <a:pPr marL="0" indent="0">
              <a:buNone/>
            </a:pPr>
            <a:r>
              <a:rPr lang="en-US" sz="1200" b="1" dirty="0">
                <a:solidFill>
                  <a:srgbClr val="363636"/>
                </a:solidFill>
                <a:latin typeface="+mj-lt"/>
                <a:ea typeface="Calibri Light" panose="020F0302020204030204" pitchFamily="34" charset="0"/>
                <a:cs typeface="Calibri Light" panose="020F0302020204030204" pitchFamily="34" charset="0"/>
              </a:rPr>
              <a:t xml:space="preserve">Dashboard Location: </a:t>
            </a:r>
            <a:r>
              <a:rPr lang="en-US" sz="1200" dirty="0">
                <a:solidFill>
                  <a:srgbClr val="363636"/>
                </a:solidFill>
                <a:latin typeface="+mj-lt"/>
                <a:ea typeface="Calibri Light" panose="020F0302020204030204" pitchFamily="34" charset="0"/>
                <a:cs typeface="Calibri Light" panose="020F0302020204030204" pitchFamily="34" charset="0"/>
              </a:rPr>
              <a:t>Snowflake account → Dashboards → Finops-Dashboard</a:t>
            </a:r>
            <a:endParaRPr lang="en-US" sz="1200" dirty="0">
              <a:latin typeface="+mj-lt"/>
              <a:ea typeface="Calibri Light" panose="020F0302020204030204" pitchFamily="34" charset="0"/>
              <a:cs typeface="Calibri Light" panose="020F0302020204030204" pitchFamily="34" charset="0"/>
            </a:endParaRPr>
          </a:p>
        </p:txBody>
      </p:sp>
      <p:sp>
        <p:nvSpPr>
          <p:cNvPr id="10" name="Shape 6"/>
          <p:cNvSpPr/>
          <p:nvPr/>
        </p:nvSpPr>
        <p:spPr>
          <a:xfrm>
            <a:off x="457200" y="2560320"/>
            <a:ext cx="8229600" cy="1316355"/>
          </a:xfrm>
          <a:prstGeom prst="rect">
            <a:avLst/>
          </a:prstGeom>
          <a:solidFill>
            <a:srgbClr val="F5F5F5"/>
          </a:solidFill>
          <a:ln/>
        </p:spPr>
        <p:txBody>
          <a:bodyPr/>
          <a:lstStyle/>
          <a:p>
            <a:endParaRPr lang="en-US">
              <a:latin typeface="+mj-lt"/>
              <a:ea typeface="Calibri Light" panose="020F0302020204030204" pitchFamily="34" charset="0"/>
              <a:cs typeface="Calibri Light" panose="020F0302020204030204" pitchFamily="34" charset="0"/>
            </a:endParaRPr>
          </a:p>
        </p:txBody>
      </p:sp>
      <p:sp>
        <p:nvSpPr>
          <p:cNvPr id="11" name="Text 8"/>
          <p:cNvSpPr/>
          <p:nvPr/>
        </p:nvSpPr>
        <p:spPr>
          <a:xfrm>
            <a:off x="457200" y="2560320"/>
            <a:ext cx="2743200" cy="365760"/>
          </a:xfrm>
          <a:prstGeom prst="rect">
            <a:avLst/>
          </a:prstGeom>
          <a:noFill/>
          <a:ln/>
        </p:spPr>
        <p:txBody>
          <a:bodyPr wrap="square" rtlCol="0" anchor="ctr"/>
          <a:lstStyle/>
          <a:p>
            <a:pPr marL="0" indent="0">
              <a:buNone/>
            </a:pPr>
            <a:r>
              <a:rPr lang="en-US" sz="1300" b="1" dirty="0">
                <a:latin typeface="+mj-lt"/>
                <a:ea typeface="Calibri Light" panose="020F0302020204030204" pitchFamily="34" charset="0"/>
                <a:cs typeface="Calibri Light" panose="020F0302020204030204" pitchFamily="34" charset="0"/>
              </a:rPr>
              <a:t>Direct URL Sharing</a:t>
            </a:r>
            <a:endParaRPr lang="en-US" sz="1300" dirty="0">
              <a:latin typeface="+mj-lt"/>
              <a:ea typeface="Calibri Light" panose="020F0302020204030204" pitchFamily="34" charset="0"/>
              <a:cs typeface="Calibri Light" panose="020F0302020204030204" pitchFamily="34" charset="0"/>
            </a:endParaRPr>
          </a:p>
        </p:txBody>
      </p:sp>
      <p:sp>
        <p:nvSpPr>
          <p:cNvPr id="12" name="Text 9"/>
          <p:cNvSpPr/>
          <p:nvPr/>
        </p:nvSpPr>
        <p:spPr>
          <a:xfrm>
            <a:off x="594359" y="3017520"/>
            <a:ext cx="7797165" cy="1188720"/>
          </a:xfrm>
          <a:prstGeom prst="rect">
            <a:avLst/>
          </a:prstGeom>
          <a:noFill/>
          <a:ln/>
        </p:spPr>
        <p:txBody>
          <a:bodyPr wrap="square" rtlCol="0" anchor="t"/>
          <a:lstStyle/>
          <a:p>
            <a:r>
              <a:rPr lang="en-US" sz="1000" dirty="0">
                <a:solidFill>
                  <a:srgbClr val="363636"/>
                </a:solidFill>
                <a:latin typeface="+mj-lt"/>
                <a:ea typeface="Calibri Light" panose="020F0302020204030204" pitchFamily="34" charset="0"/>
                <a:cs typeface="Calibri Light" panose="020F0302020204030204" pitchFamily="34" charset="0"/>
              </a:rPr>
              <a:t xml:space="preserve">• Copy dashboard URL : </a:t>
            </a:r>
            <a:r>
              <a:rPr lang="en-US" sz="1000" dirty="0" err="1">
                <a:latin typeface="+mj-lt"/>
                <a:ea typeface="Calibri Light" panose="020F0302020204030204" pitchFamily="34" charset="0"/>
                <a:cs typeface="Calibri Light" panose="020F0302020204030204" pitchFamily="34" charset="0"/>
                <a:hlinkClick r:id="rId2"/>
              </a:rPr>
              <a:t>Finops</a:t>
            </a:r>
            <a:r>
              <a:rPr lang="en-US" sz="1000" dirty="0">
                <a:latin typeface="+mj-lt"/>
                <a:ea typeface="Calibri Light" panose="020F0302020204030204" pitchFamily="34" charset="0"/>
                <a:cs typeface="Calibri Light" panose="020F0302020204030204" pitchFamily="34" charset="0"/>
                <a:hlinkClick r:id="rId2"/>
              </a:rPr>
              <a:t>-Dashboard - Snowflake</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Share via email (e.g.: user_name@bnz.co.nz)</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Recipient needs proper AD group access</a:t>
            </a:r>
            <a:endParaRPr lang="en-US" sz="1000" dirty="0">
              <a:latin typeface="+mj-lt"/>
              <a:ea typeface="Calibri Light" panose="020F0302020204030204" pitchFamily="34" charset="0"/>
              <a:cs typeface="Calibri Light" panose="020F0302020204030204" pitchFamily="34" charset="0"/>
            </a:endParaRPr>
          </a:p>
          <a:p>
            <a:pPr marL="0" indent="0">
              <a:buNone/>
            </a:pPr>
            <a:r>
              <a:rPr lang="en-US" sz="1000" dirty="0">
                <a:solidFill>
                  <a:srgbClr val="363636"/>
                </a:solidFill>
                <a:latin typeface="+mj-lt"/>
                <a:ea typeface="Calibri Light" panose="020F0302020204030204" pitchFamily="34" charset="0"/>
                <a:cs typeface="Calibri Light" panose="020F0302020204030204" pitchFamily="34" charset="0"/>
              </a:rPr>
              <a:t>• Recipient needs Snowflake login</a:t>
            </a:r>
            <a:endParaRPr lang="en-US" sz="1000" dirty="0">
              <a:latin typeface="+mj-lt"/>
              <a:ea typeface="Calibri Light" panose="020F0302020204030204" pitchFamily="34" charset="0"/>
              <a:cs typeface="Calibri Light" panose="020F0302020204030204" pitchFamily="34" charset="0"/>
            </a:endParaRPr>
          </a:p>
          <a:p>
            <a:pPr marL="0" indent="0">
              <a:buNone/>
            </a:pPr>
            <a:endParaRPr lang="en-US" sz="1000" dirty="0">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454402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0088E-6899-3BF4-245B-CF49799A08F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39A1BE0-674A-4A3D-5B55-1A0646D3A5B0}"/>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845403C2-DDFB-86B5-2F98-C4A0A15B8FB8}"/>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17</a:t>
            </a:fld>
            <a:endParaRPr lang="en-NZ" altLang="en-US">
              <a:latin typeface="+mj-lt"/>
            </a:endParaRPr>
          </a:p>
        </p:txBody>
      </p:sp>
      <p:sp>
        <p:nvSpPr>
          <p:cNvPr id="2" name="TextBox 1">
            <a:extLst>
              <a:ext uri="{FF2B5EF4-FFF2-40B4-BE49-F238E27FC236}">
                <a16:creationId xmlns:a16="http://schemas.microsoft.com/office/drawing/2014/main" id="{7DA5B525-4D9E-1F5B-D892-0D4A40FB1D91}"/>
              </a:ext>
            </a:extLst>
          </p:cNvPr>
          <p:cNvSpPr txBox="1"/>
          <p:nvPr/>
        </p:nvSpPr>
        <p:spPr>
          <a:xfrm>
            <a:off x="581025" y="463034"/>
            <a:ext cx="4572000" cy="369332"/>
          </a:xfrm>
          <a:prstGeom prst="rect">
            <a:avLst/>
          </a:prstGeom>
          <a:noFill/>
        </p:spPr>
        <p:txBody>
          <a:bodyPr wrap="square">
            <a:spAutoFit/>
          </a:bodyPr>
          <a:lstStyle/>
          <a:p>
            <a:pPr marL="0" indent="0">
              <a:buNone/>
            </a:pPr>
            <a:r>
              <a:rPr lang="en-US" sz="1800" b="1" dirty="0">
                <a:latin typeface="+mj-lt"/>
                <a:ea typeface="Calibri Light" panose="020F0302020204030204" pitchFamily="34" charset="0"/>
                <a:cs typeface="Calibri Light" panose="020F0302020204030204" pitchFamily="34" charset="0"/>
              </a:rPr>
              <a:t>Ongoing Maintenance &amp; Support</a:t>
            </a:r>
            <a:endParaRPr lang="en-US" sz="1800" dirty="0">
              <a:latin typeface="+mj-lt"/>
              <a:ea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9AD14932-04D5-2EE3-3C83-B50EAA082D74}"/>
              </a:ext>
            </a:extLst>
          </p:cNvPr>
          <p:cNvSpPr txBox="1"/>
          <p:nvPr/>
        </p:nvSpPr>
        <p:spPr>
          <a:xfrm>
            <a:off x="514349" y="1436638"/>
            <a:ext cx="7934326" cy="1384995"/>
          </a:xfrm>
          <a:prstGeom prst="rect">
            <a:avLst/>
          </a:prstGeom>
          <a:solidFill>
            <a:schemeClr val="bg1"/>
          </a:solidFill>
          <a:ln>
            <a:noFill/>
          </a:ln>
        </p:spPr>
        <p:txBody>
          <a:bodyPr wrap="square">
            <a:spAutoFit/>
          </a:bodyPr>
          <a:lstStyle/>
          <a:p>
            <a:r>
              <a:rPr lang="en-US" sz="1200" b="1" dirty="0">
                <a:latin typeface="+mj-lt"/>
                <a:ea typeface="Calibri Light" panose="020F0302020204030204" pitchFamily="34" charset="0"/>
                <a:cs typeface="Calibri Light" panose="020F0302020204030204" pitchFamily="34" charset="0"/>
              </a:rPr>
              <a:t>User access management</a:t>
            </a:r>
          </a:p>
          <a:p>
            <a:r>
              <a:rPr lang="en-US" sz="1200" dirty="0"/>
              <a:t>New zone Support Admin roles access by providing database (PLATFORM__AUDIT__PREPROD) and schema (FINOPS_CURATED) access to enable FinOps dashboard access.</a:t>
            </a:r>
            <a:r>
              <a:rPr lang="en-US" sz="1200" dirty="0">
                <a:latin typeface="+mj-lt"/>
                <a:ea typeface="Calibri Light" panose="020F0302020204030204" pitchFamily="34" charset="0"/>
                <a:cs typeface="Calibri Light" panose="020F0302020204030204" pitchFamily="34" charset="0"/>
              </a:rPr>
            </a:r>
            <a:endParaRPr lang="en-US" sz="1200" dirty="0">
              <a:latin typeface="+mj-lt"/>
              <a:ea typeface="Calibri Light" panose="020F0302020204030204" pitchFamily="34" charset="0"/>
              <a:cs typeface="Calibri Light" panose="020F0302020204030204" pitchFamily="34" charset="0"/>
            </a:endParaRPr>
          </a:p>
          <a:p>
            <a:endParaRPr lang="en-US" sz="1200" dirty="0">
              <a:latin typeface="+mj-lt"/>
              <a:ea typeface="Calibri Light" panose="020F0302020204030204" pitchFamily="34" charset="0"/>
              <a:cs typeface="Calibri Light" panose="020F0302020204030204" pitchFamily="34" charset="0"/>
            </a:endParaRPr>
          </a:p>
          <a:p>
            <a:r>
              <a:rPr lang="en-US" sz="1200" b="1" dirty="0">
                <a:latin typeface="+mj-lt"/>
                <a:ea typeface="Calibri Light" panose="020F0302020204030204" pitchFamily="34" charset="0"/>
                <a:cs typeface="Calibri Light" panose="020F0302020204030204" pitchFamily="34" charset="0"/>
              </a:rPr>
              <a:t>Dashboard Customization:</a:t>
            </a:r>
            <a:endParaRPr lang="en-US" sz="1200" dirty="0">
              <a:latin typeface="+mj-lt"/>
              <a:ea typeface="Calibri Light" panose="020F0302020204030204" pitchFamily="34" charset="0"/>
              <a:cs typeface="Calibri Light" panose="020F0302020204030204" pitchFamily="34" charset="0"/>
            </a:endParaRPr>
          </a:p>
          <a:p>
            <a:r>
              <a:rPr lang="en-US" sz="1200" dirty="0">
                <a:latin typeface="+mj-lt"/>
                <a:ea typeface="Calibri Light" panose="020F0302020204030204" pitchFamily="34" charset="0"/>
                <a:cs typeface="Calibri Light" panose="020F0302020204030204" pitchFamily="34" charset="0"/>
              </a:rPr>
              <a:t>Duplicate the dashboard to enable zone teams to create and edit customized versions while preserving the original centralized dashboard.</a:t>
            </a:r>
            <a:endParaRPr lang="en-US" sz="1200" dirty="0">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196712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29FD8-FF96-6C1E-2E72-E39189BA208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AC8EC84-EFC7-5270-0032-CCFD3F611528}"/>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087B757B-DFBA-6EAC-DDB1-A6182FAF594B}"/>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18</a:t>
            </a:fld>
            <a:endParaRPr lang="en-NZ" altLang="en-US">
              <a:latin typeface="+mj-lt"/>
            </a:endParaRPr>
          </a:p>
        </p:txBody>
      </p:sp>
      <p:sp>
        <p:nvSpPr>
          <p:cNvPr id="2" name="Text 0">
            <a:extLst>
              <a:ext uri="{FF2B5EF4-FFF2-40B4-BE49-F238E27FC236}">
                <a16:creationId xmlns:a16="http://schemas.microsoft.com/office/drawing/2014/main" id="{71399CB2-EE89-E87B-338C-1D436740065E}"/>
              </a:ext>
            </a:extLst>
          </p:cNvPr>
          <p:cNvSpPr/>
          <p:nvPr/>
        </p:nvSpPr>
        <p:spPr>
          <a:xfrm>
            <a:off x="457200" y="365760"/>
            <a:ext cx="82296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i="0" u="none" strike="noStrike" kern="1200" cap="none" spc="0" normalizeH="0" baseline="0" noProof="0" dirty="0">
                <a:ln>
                  <a:noFill/>
                </a:ln>
                <a:effectLst/>
                <a:uLnTx/>
                <a:uFillTx/>
                <a:latin typeface="+mj-lt"/>
                <a:ea typeface="Calibri Light" panose="020F0302020204030204" pitchFamily="34" charset="0"/>
                <a:cs typeface="Calibri Light" panose="020F0302020204030204" pitchFamily="34" charset="0"/>
              </a:rPr>
              <a:t>Best Practices</a:t>
            </a:r>
          </a:p>
        </p:txBody>
      </p:sp>
      <p:sp>
        <p:nvSpPr>
          <p:cNvPr id="6" name="TextBox 5">
            <a:extLst>
              <a:ext uri="{FF2B5EF4-FFF2-40B4-BE49-F238E27FC236}">
                <a16:creationId xmlns:a16="http://schemas.microsoft.com/office/drawing/2014/main" id="{0498B713-EC54-616C-7568-E05045CAA8F8}"/>
              </a:ext>
            </a:extLst>
          </p:cNvPr>
          <p:cNvSpPr txBox="1"/>
          <p:nvPr/>
        </p:nvSpPr>
        <p:spPr>
          <a:xfrm>
            <a:off x="323011" y="2284594"/>
            <a:ext cx="4572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noProof="0" dirty="0">
                <a:ln>
                  <a:noFill/>
                </a:ln>
                <a:effectLst/>
                <a:uLnTx/>
                <a:uFillTx/>
                <a:latin typeface="+mj-lt"/>
                <a:ea typeface="+mn-ea"/>
                <a:cs typeface="+mn-cs"/>
              </a:rPr>
              <a:t>Reference links</a:t>
            </a:r>
          </a:p>
        </p:txBody>
      </p:sp>
      <p:sp>
        <p:nvSpPr>
          <p:cNvPr id="8" name="TextBox 7">
            <a:extLst>
              <a:ext uri="{FF2B5EF4-FFF2-40B4-BE49-F238E27FC236}">
                <a16:creationId xmlns:a16="http://schemas.microsoft.com/office/drawing/2014/main" id="{59C64D87-F621-4821-C38C-ABEC8E03EE9C}"/>
              </a:ext>
            </a:extLst>
          </p:cNvPr>
          <p:cNvSpPr txBox="1"/>
          <p:nvPr/>
        </p:nvSpPr>
        <p:spPr>
          <a:xfrm>
            <a:off x="323011" y="1171134"/>
            <a:ext cx="4572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noProof="0" dirty="0">
                <a:ln>
                  <a:noFill/>
                </a:ln>
                <a:effectLst/>
                <a:uLnTx/>
                <a:uFillTx/>
                <a:latin typeface="+mj-lt"/>
                <a:ea typeface="+mn-ea"/>
                <a:cs typeface="+mn-cs"/>
              </a:rPr>
              <a:t>Implementation Best Practices</a:t>
            </a:r>
            <a:endParaRPr kumimoji="0" lang="en-US" sz="1200" b="0" i="0" u="none" strike="noStrike" kern="1200" cap="none" spc="0" normalizeH="0" noProof="0" dirty="0">
              <a:ln>
                <a:noFill/>
              </a:ln>
              <a:effectLst/>
              <a:uLnTx/>
              <a:uFillTx/>
              <a:latin typeface="+mj-lt"/>
              <a:ea typeface="+mn-ea"/>
              <a:cs typeface="+mn-cs"/>
            </a:endParaRPr>
          </a:p>
        </p:txBody>
      </p:sp>
      <p:sp>
        <p:nvSpPr>
          <p:cNvPr id="10" name="TextBox 9">
            <a:extLst>
              <a:ext uri="{FF2B5EF4-FFF2-40B4-BE49-F238E27FC236}">
                <a16:creationId xmlns:a16="http://schemas.microsoft.com/office/drawing/2014/main" id="{5E15263D-7AF4-5F25-E6ED-B0A2FFD7AD05}"/>
              </a:ext>
            </a:extLst>
          </p:cNvPr>
          <p:cNvSpPr txBox="1"/>
          <p:nvPr/>
        </p:nvSpPr>
        <p:spPr>
          <a:xfrm>
            <a:off x="323011" y="1543198"/>
            <a:ext cx="7865533" cy="646331"/>
          </a:xfrm>
          <a:prstGeom prst="rect">
            <a:avLst/>
          </a:prstGeom>
          <a:noFill/>
        </p:spPr>
        <p:txBody>
          <a:bodyPr wrap="square">
            <a:spAutoFit/>
          </a:bodyPr>
          <a:lstStyle/>
          <a:p>
            <a:r>
              <a:rPr lang="en-US" sz="1200" dirty="0">
                <a:latin typeface="+mj-lt"/>
                <a:ea typeface="Calibri Light" panose="020F0302020204030204" pitchFamily="34" charset="0"/>
                <a:cs typeface="Calibri Light" panose="020F0302020204030204" pitchFamily="34" charset="0"/>
              </a:rPr>
              <a:t>The solution now gives clear visibility into Snowflake costs, helps teams take ownership of their usage, and puts controls in place to manage spending. Teams can make better decisions using real data, while access remains secure and privacy-compliant.</a:t>
            </a:r>
          </a:p>
        </p:txBody>
      </p:sp>
      <p:sp>
        <p:nvSpPr>
          <p:cNvPr id="12" name="TextBox 11">
            <a:extLst>
              <a:ext uri="{FF2B5EF4-FFF2-40B4-BE49-F238E27FC236}">
                <a16:creationId xmlns:a16="http://schemas.microsoft.com/office/drawing/2014/main" id="{6899D7EF-7CE0-A3EA-7F1C-A7675C492A9A}"/>
              </a:ext>
            </a:extLst>
          </p:cNvPr>
          <p:cNvSpPr txBox="1"/>
          <p:nvPr/>
        </p:nvSpPr>
        <p:spPr>
          <a:xfrm>
            <a:off x="396815" y="2743201"/>
            <a:ext cx="8612370" cy="1015663"/>
          </a:xfrm>
          <a:prstGeom prst="rect">
            <a:avLst/>
          </a:prstGeom>
          <a:noFill/>
        </p:spPr>
        <p:txBody>
          <a:bodyPr wrap="square">
            <a:spAutoFit/>
          </a:bodyPr>
          <a:lstStyle/>
          <a:p>
            <a:pPr lvl="0"/>
            <a:r>
              <a:rPr lang="en-US" sz="1200" dirty="0">
                <a:latin typeface="+mj-lt"/>
                <a:ea typeface="Calibri Light" panose="020F0302020204030204" pitchFamily="34" charset="0"/>
                <a:cs typeface="Calibri Light" panose="020F0302020204030204" pitchFamily="34" charset="0"/>
                <a:hlinkClick r:id="rId2">
                  <a:extLst>
                    <a:ext uri="{A12FA001-AC4F-418D-AE19-62706E023703}">
                      <ahyp:hlinkClr xmlns:ahyp="http://schemas.microsoft.com/office/drawing/2018/hyperlinkcolor" val="tx"/>
                    </a:ext>
                  </a:extLst>
                </a:hlinkClick>
              </a:rPr>
              <a:t>https://confluence.nz.thenational.com/spaces/BAI/pages/2007668201/WIP+FinOps+Design</a:t>
            </a:r>
            <a:endParaRPr lang="en-US" sz="1200" dirty="0">
              <a:latin typeface="+mj-lt"/>
              <a:ea typeface="Calibri Light" panose="020F0302020204030204" pitchFamily="34" charset="0"/>
              <a:cs typeface="Calibri Light" panose="020F0302020204030204" pitchFamily="34" charset="0"/>
            </a:endParaRPr>
          </a:p>
          <a:p>
            <a:pPr lvl="0"/>
            <a:endParaRPr lang="en-US" sz="1200" dirty="0">
              <a:latin typeface="+mj-lt"/>
              <a:ea typeface="Calibri Light" panose="020F0302020204030204" pitchFamily="34" charset="0"/>
              <a:cs typeface="Calibri Light" panose="020F0302020204030204" pitchFamily="34" charset="0"/>
            </a:endParaRPr>
          </a:p>
          <a:p>
            <a:pPr lvl="0"/>
            <a:r>
              <a:rPr lang="en-US" sz="1200" dirty="0">
                <a:latin typeface="+mj-lt"/>
                <a:ea typeface="Calibri Light" panose="020F0302020204030204" pitchFamily="34" charset="0"/>
                <a:cs typeface="Calibri Light" panose="020F0302020204030204" pitchFamily="34" charset="0"/>
                <a:hlinkClick r:id="rId3">
                  <a:extLst>
                    <a:ext uri="{A12FA001-AC4F-418D-AE19-62706E023703}">
                      <ahyp:hlinkClr xmlns:ahyp="http://schemas.microsoft.com/office/drawing/2018/hyperlinkcolor" val="tx"/>
                    </a:ext>
                  </a:extLst>
                </a:hlinkClick>
              </a:rPr>
              <a:t>https://confluence.nz.thenational.com/spaces/BAI/pages/1995278440/Row+Access+Policy+Design+Document</a:t>
            </a:r>
            <a:endParaRPr lang="en-US" sz="1200" dirty="0">
              <a:latin typeface="+mj-lt"/>
              <a:ea typeface="Calibri Light" panose="020F0302020204030204" pitchFamily="34" charset="0"/>
              <a:cs typeface="Calibri Light" panose="020F0302020204030204" pitchFamily="34" charset="0"/>
            </a:endParaRPr>
          </a:p>
          <a:p>
            <a:pPr lvl="0"/>
            <a:endParaRPr lang="en-US" sz="1200" dirty="0">
              <a:latin typeface="+mj-lt"/>
              <a:ea typeface="Calibri Light" panose="020F0302020204030204" pitchFamily="34" charset="0"/>
              <a:cs typeface="Calibri Light" panose="020F0302020204030204" pitchFamily="34" charset="0"/>
            </a:endParaRPr>
          </a:p>
          <a:p>
            <a:pPr lvl="0"/>
            <a:r>
              <a:rPr lang="en-US" sz="1200" dirty="0">
                <a:latin typeface="+mj-lt"/>
                <a:ea typeface="Calibri Light" panose="020F0302020204030204" pitchFamily="34" charset="0"/>
                <a:cs typeface="Calibri Light" panose="020F0302020204030204" pitchFamily="34" charset="0"/>
                <a:hlinkClick r:id="rId4">
                  <a:extLst>
                    <a:ext uri="{A12FA001-AC4F-418D-AE19-62706E023703}">
                      <ahyp:hlinkClr xmlns:ahyp="http://schemas.microsoft.com/office/drawing/2018/hyperlinkcolor" val="tx"/>
                    </a:ext>
                  </a:extLst>
                </a:hlinkClick>
              </a:rPr>
              <a:t>https://confluence.nz.thenational.com/spaces/BAI/pages/1606193437/BDH+DLD+-Audit+Logging+Mechanism+Solution</a:t>
            </a:r>
            <a:endParaRPr lang="en-US" sz="1200" dirty="0">
              <a:latin typeface="+mj-lt"/>
              <a:ea typeface="Calibri Light" panose="020F0302020204030204" pitchFamily="34" charset="0"/>
              <a:cs typeface="Calibri Light" panose="020F0302020204030204" pitchFamily="34" charset="0"/>
            </a:endParaRPr>
          </a:p>
        </p:txBody>
      </p:sp>
      <p:cxnSp>
        <p:nvCxnSpPr>
          <p:cNvPr id="13" name="Google Shape;227;p33">
            <a:extLst>
              <a:ext uri="{FF2B5EF4-FFF2-40B4-BE49-F238E27FC236}">
                <a16:creationId xmlns:a16="http://schemas.microsoft.com/office/drawing/2014/main" id="{BC84C3FE-E73E-ACE4-F1CB-3AC688AE4DAE}"/>
              </a:ext>
            </a:extLst>
          </p:cNvPr>
          <p:cNvCxnSpPr>
            <a:cxnSpLocks/>
          </p:cNvCxnSpPr>
          <p:nvPr/>
        </p:nvCxnSpPr>
        <p:spPr>
          <a:xfrm>
            <a:off x="46566" y="1063280"/>
            <a:ext cx="9050867" cy="0"/>
          </a:xfrm>
          <a:prstGeom prst="straightConnector1">
            <a:avLst/>
          </a:prstGeom>
          <a:ln w="9525">
            <a:solidFill>
              <a:srgbClr val="083C77"/>
            </a:solidFill>
            <a:round/>
          </a:ln>
        </p:spPr>
      </p:cxnSp>
    </p:spTree>
    <p:extLst>
      <p:ext uri="{BB962C8B-B14F-4D97-AF65-F5344CB8AC3E}">
        <p14:creationId xmlns:p14="http://schemas.microsoft.com/office/powerpoint/2010/main" val="1808812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96830-3912-EFD0-AF72-D02A8B68EC6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0790FE-2168-36F2-2513-1905064523C6}"/>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6C71142A-0602-E7F9-C8D4-5CFBEB2F55CD}"/>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19</a:t>
            </a:fld>
            <a:endParaRPr lang="en-NZ" altLang="en-US">
              <a:latin typeface="+mj-lt"/>
            </a:endParaRPr>
          </a:p>
        </p:txBody>
      </p:sp>
      <p:sp>
        <p:nvSpPr>
          <p:cNvPr id="100" name="PlaceHolder 1"/>
          <p:cNvSpPr>
            <a:spLocks noGrp="1"/>
          </p:cNvSpPr>
          <p:nvPr>
            <p:ph type="title"/>
          </p:nvPr>
        </p:nvSpPr>
        <p:spPr>
          <a:xfrm>
            <a:off x="295275" y="886905"/>
            <a:ext cx="2781300" cy="49296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US" sz="3200" b="0" u="none" strike="noStrike" dirty="0">
                <a:solidFill>
                  <a:schemeClr val="dk1"/>
                </a:solidFill>
                <a:effectLst/>
                <a:uFillTx/>
                <a:latin typeface="+mj-lt"/>
                <a:ea typeface="Calibri Light" panose="020F0302020204030204" pitchFamily="34" charset="0"/>
                <a:cs typeface="Calibri Light" panose="020F0302020204030204" pitchFamily="34" charset="0"/>
              </a:rPr>
              <a:t>Conclusions</a:t>
            </a:r>
            <a:endParaRPr lang="fr-FR" sz="3200" b="0" u="none" strike="noStrike" dirty="0">
              <a:solidFill>
                <a:schemeClr val="dk1"/>
              </a:solidFill>
              <a:effectLst/>
              <a:uFillTx/>
              <a:latin typeface="+mj-lt"/>
              <a:ea typeface="Calibri Light" panose="020F0302020204030204" pitchFamily="34" charset="0"/>
              <a:cs typeface="Calibri Light" panose="020F0302020204030204" pitchFamily="34" charset="0"/>
            </a:endParaRPr>
          </a:p>
        </p:txBody>
      </p:sp>
      <p:sp>
        <p:nvSpPr>
          <p:cNvPr id="101" name="PlaceHolder 2"/>
          <p:cNvSpPr txBox="1">
            <a:spLocks/>
          </p:cNvSpPr>
          <p:nvPr/>
        </p:nvSpPr>
        <p:spPr bwMode="auto">
          <a:xfrm>
            <a:off x="228599" y="1733400"/>
            <a:ext cx="8677276" cy="2819550"/>
          </a:xfrm>
          <a:prstGeom prst="rect">
            <a:avLst/>
          </a:prstGeom>
          <a:noFill/>
          <a:ln w="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91440" rIns="91440" bIns="91440" numCol="1" anchor="t" anchorCtr="0" compatLnSpc="1">
            <a:prstTxWarp prst="textNoShape">
              <a:avLst/>
            </a:prstTxWarp>
            <a:normAutofit/>
          </a:bodyPr>
          <a:lstStyle>
            <a:lvl1pPr algn="l" rtl="0" eaLnBrk="0" fontAlgn="base" hangingPunct="0">
              <a:spcBef>
                <a:spcPct val="0"/>
              </a:spcBef>
              <a:spcAft>
                <a:spcPct val="0"/>
              </a:spcAft>
              <a:defRPr sz="1500" b="1" kern="1200">
                <a:solidFill>
                  <a:schemeClr val="tx2"/>
                </a:solidFill>
                <a:latin typeface="Arial" pitchFamily="34" charset="0"/>
                <a:ea typeface="+mj-ea"/>
                <a:cs typeface="Arial" pitchFamily="34" charset="0"/>
              </a:defRPr>
            </a:lvl1pPr>
            <a:lvl2pPr algn="l" rtl="0" eaLnBrk="0" fontAlgn="base" hangingPunct="0">
              <a:spcBef>
                <a:spcPct val="0"/>
              </a:spcBef>
              <a:spcAft>
                <a:spcPct val="0"/>
              </a:spcAft>
              <a:defRPr sz="1500" b="1">
                <a:solidFill>
                  <a:schemeClr val="tx2"/>
                </a:solidFill>
                <a:latin typeface="Arial" charset="0"/>
                <a:cs typeface="Arial" charset="0"/>
              </a:defRPr>
            </a:lvl2pPr>
            <a:lvl3pPr algn="l" rtl="0" eaLnBrk="0" fontAlgn="base" hangingPunct="0">
              <a:spcBef>
                <a:spcPct val="0"/>
              </a:spcBef>
              <a:spcAft>
                <a:spcPct val="0"/>
              </a:spcAft>
              <a:defRPr sz="1500" b="1">
                <a:solidFill>
                  <a:schemeClr val="tx2"/>
                </a:solidFill>
                <a:latin typeface="Arial" charset="0"/>
                <a:cs typeface="Arial" charset="0"/>
              </a:defRPr>
            </a:lvl3pPr>
            <a:lvl4pPr algn="l" rtl="0" eaLnBrk="0" fontAlgn="base" hangingPunct="0">
              <a:spcBef>
                <a:spcPct val="0"/>
              </a:spcBef>
              <a:spcAft>
                <a:spcPct val="0"/>
              </a:spcAft>
              <a:defRPr sz="1500" b="1">
                <a:solidFill>
                  <a:schemeClr val="tx2"/>
                </a:solidFill>
                <a:latin typeface="Arial" charset="0"/>
                <a:cs typeface="Arial" charset="0"/>
              </a:defRPr>
            </a:lvl4pPr>
            <a:lvl5pPr algn="l" rtl="0" eaLnBrk="0" fontAlgn="base" hangingPunct="0">
              <a:spcBef>
                <a:spcPct val="0"/>
              </a:spcBef>
              <a:spcAft>
                <a:spcPct val="0"/>
              </a:spcAft>
              <a:defRPr sz="1500" b="1">
                <a:solidFill>
                  <a:schemeClr val="tx2"/>
                </a:solidFill>
                <a:latin typeface="Arial" charset="0"/>
                <a:cs typeface="Arial" charset="0"/>
              </a:defRPr>
            </a:lvl5pPr>
            <a:lvl6pPr marL="342900" algn="l" rtl="0" fontAlgn="base">
              <a:spcBef>
                <a:spcPct val="0"/>
              </a:spcBef>
              <a:spcAft>
                <a:spcPct val="0"/>
              </a:spcAft>
              <a:defRPr sz="1500" b="1">
                <a:solidFill>
                  <a:srgbClr val="002060"/>
                </a:solidFill>
                <a:latin typeface="Trebuchet MS" pitchFamily="34" charset="0"/>
                <a:cs typeface="Tahoma" pitchFamily="34" charset="0"/>
              </a:defRPr>
            </a:lvl6pPr>
            <a:lvl7pPr marL="685800" algn="l" rtl="0" fontAlgn="base">
              <a:spcBef>
                <a:spcPct val="0"/>
              </a:spcBef>
              <a:spcAft>
                <a:spcPct val="0"/>
              </a:spcAft>
              <a:defRPr sz="1500" b="1">
                <a:solidFill>
                  <a:srgbClr val="002060"/>
                </a:solidFill>
                <a:latin typeface="Trebuchet MS" pitchFamily="34" charset="0"/>
                <a:cs typeface="Tahoma" pitchFamily="34" charset="0"/>
              </a:defRPr>
            </a:lvl7pPr>
            <a:lvl8pPr marL="1028700" algn="l" rtl="0" fontAlgn="base">
              <a:spcBef>
                <a:spcPct val="0"/>
              </a:spcBef>
              <a:spcAft>
                <a:spcPct val="0"/>
              </a:spcAft>
              <a:defRPr sz="1500" b="1">
                <a:solidFill>
                  <a:srgbClr val="002060"/>
                </a:solidFill>
                <a:latin typeface="Trebuchet MS" pitchFamily="34" charset="0"/>
                <a:cs typeface="Tahoma" pitchFamily="34" charset="0"/>
              </a:defRPr>
            </a:lvl8pPr>
            <a:lvl9pPr marL="1371600" algn="l" rtl="0" fontAlgn="base">
              <a:spcBef>
                <a:spcPct val="0"/>
              </a:spcBef>
              <a:spcAft>
                <a:spcPct val="0"/>
              </a:spcAft>
              <a:defRPr sz="1500" b="1">
                <a:solidFill>
                  <a:srgbClr val="002060"/>
                </a:solidFill>
                <a:latin typeface="Trebuchet MS" pitchFamily="34" charset="0"/>
                <a:cs typeface="Tahoma" pitchFamily="34" charset="0"/>
              </a:defRPr>
            </a:lvl9pPr>
          </a:lstStyle>
          <a:p>
            <a:pPr>
              <a:lnSpc>
                <a:spcPct val="150000"/>
              </a:lnSpc>
              <a:tabLst>
                <a:tab pos="0" algn="l"/>
              </a:tabLst>
            </a:pPr>
            <a:r>
              <a:rPr lang="en-US" sz="1200" b="0" dirty="0">
                <a:solidFill>
                  <a:schemeClr val="dk1"/>
                </a:solidFill>
                <a:latin typeface="+mj-lt"/>
                <a:ea typeface="Calibri Light" panose="020F0302020204030204" pitchFamily="34" charset="0"/>
                <a:cs typeface="Calibri Light" panose="020F0302020204030204" pitchFamily="34" charset="0"/>
              </a:rPr>
              <a:t xml:space="preserve">The FinOps implementation successfully balances </a:t>
            </a:r>
            <a:r>
              <a:rPr lang="en-US" sz="1200" dirty="0">
                <a:solidFill>
                  <a:schemeClr val="dk1"/>
                </a:solidFill>
                <a:latin typeface="+mj-lt"/>
                <a:ea typeface="Calibri Light" panose="020F0302020204030204" pitchFamily="34" charset="0"/>
                <a:cs typeface="Calibri Light" panose="020F0302020204030204" pitchFamily="34" charset="0"/>
              </a:rPr>
              <a:t>cost transparency, security, and operational efficiency</a:t>
            </a:r>
            <a:r>
              <a:rPr lang="en-US" sz="1200" b="0" dirty="0">
                <a:solidFill>
                  <a:schemeClr val="dk1"/>
                </a:solidFill>
                <a:latin typeface="+mj-lt"/>
                <a:ea typeface="Calibri Light" panose="020F0302020204030204" pitchFamily="34" charset="0"/>
                <a:cs typeface="Calibri Light" panose="020F0302020204030204" pitchFamily="34" charset="0"/>
              </a:rPr>
              <a:t>, enabling proactive management of Snowflake expenditure. Role-based access ensures privacy without sacrificing insight, while comprehensive dashboards provide actionable metrics. Continued optimization efforts will further enhance performance and cost-effectiveness, securing long-term business value and control.</a:t>
            </a:r>
          </a:p>
          <a:p>
            <a:pPr>
              <a:lnSpc>
                <a:spcPct val="150000"/>
              </a:lnSpc>
              <a:tabLst>
                <a:tab pos="0" algn="l"/>
              </a:tabLst>
            </a:pPr>
            <a:r>
              <a:rPr lang="en-US" sz="1200" b="0" dirty="0">
                <a:solidFill>
                  <a:srgbClr val="000000"/>
                </a:solidFill>
                <a:latin typeface="+mj-lt"/>
                <a:ea typeface="Calibri Light" panose="020F0302020204030204" pitchFamily="34" charset="0"/>
                <a:cs typeface="Calibri Light" panose="020F0302020204030204" pitchFamily="34" charset="0"/>
              </a:rPr>
              <a:t>- Balances cost transparency, security, and operational efficiency.</a:t>
            </a:r>
          </a:p>
          <a:p>
            <a:pPr>
              <a:lnSpc>
                <a:spcPct val="150000"/>
              </a:lnSpc>
              <a:tabLst>
                <a:tab pos="0" algn="l"/>
              </a:tabLst>
            </a:pPr>
            <a:r>
              <a:rPr lang="en-US" sz="1200" b="0" dirty="0">
                <a:solidFill>
                  <a:srgbClr val="000000"/>
                </a:solidFill>
                <a:latin typeface="+mj-lt"/>
                <a:ea typeface="Calibri Light" panose="020F0302020204030204" pitchFamily="34" charset="0"/>
                <a:cs typeface="Calibri Light" panose="020F0302020204030204" pitchFamily="34" charset="0"/>
              </a:rPr>
              <a:t>- Role-based access ensures privacy without sacrificing insight.</a:t>
            </a:r>
          </a:p>
          <a:p>
            <a:pPr>
              <a:lnSpc>
                <a:spcPct val="150000"/>
              </a:lnSpc>
              <a:tabLst>
                <a:tab pos="0" algn="l"/>
              </a:tabLst>
            </a:pPr>
            <a:r>
              <a:rPr lang="en-US" sz="1200" b="0" dirty="0">
                <a:solidFill>
                  <a:srgbClr val="000000"/>
                </a:solidFill>
                <a:latin typeface="+mj-lt"/>
                <a:ea typeface="Calibri Light" panose="020F0302020204030204" pitchFamily="34" charset="0"/>
                <a:cs typeface="Calibri Light" panose="020F0302020204030204" pitchFamily="34" charset="0"/>
              </a:rPr>
              <a:t>- Dashboards provide actionable metrics for proactive cost management.</a:t>
            </a:r>
          </a:p>
          <a:p>
            <a:pPr>
              <a:lnSpc>
                <a:spcPct val="150000"/>
              </a:lnSpc>
              <a:tabLst>
                <a:tab pos="0" algn="l"/>
              </a:tabLst>
            </a:pPr>
            <a:r>
              <a:rPr lang="en-US" sz="1200" b="0" dirty="0">
                <a:solidFill>
                  <a:srgbClr val="000000"/>
                </a:solidFill>
                <a:latin typeface="+mj-lt"/>
                <a:ea typeface="Calibri Light" panose="020F0302020204030204" pitchFamily="34" charset="0"/>
                <a:cs typeface="Calibri Light" panose="020F0302020204030204" pitchFamily="34" charset="0"/>
              </a:rPr>
              <a:t>- Continued optimization will further improve performance and cost-effectiveness.</a:t>
            </a:r>
          </a:p>
        </p:txBody>
      </p:sp>
      <p:cxnSp>
        <p:nvCxnSpPr>
          <p:cNvPr id="102" name="Google Shape;227;p33"/>
          <p:cNvCxnSpPr/>
          <p:nvPr/>
        </p:nvCxnSpPr>
        <p:spPr>
          <a:xfrm>
            <a:off x="-76320" y="1494720"/>
            <a:ext cx="9302040" cy="360"/>
          </a:xfrm>
          <a:prstGeom prst="straightConnector1">
            <a:avLst/>
          </a:prstGeom>
          <a:ln w="9525">
            <a:solidFill>
              <a:srgbClr val="083C77"/>
            </a:solidFill>
            <a:round/>
          </a:ln>
        </p:spPr>
      </p:cxnSp>
    </p:spTree>
    <p:extLst>
      <p:ext uri="{BB962C8B-B14F-4D97-AF65-F5344CB8AC3E}">
        <p14:creationId xmlns:p14="http://schemas.microsoft.com/office/powerpoint/2010/main" val="3311511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7DBAE-23B8-CBCB-6F5B-4ABE0B8E96F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3F55CF4-2B85-00FC-8034-98FA51CE0E25}"/>
              </a:ext>
            </a:extLst>
          </p:cNvPr>
          <p:cNvSpPr>
            <a:spLocks noGrp="1"/>
          </p:cNvSpPr>
          <p:nvPr>
            <p:ph type="ftr" sz="quarter" idx="10"/>
          </p:nvPr>
        </p:nvSpPr>
        <p:spPr/>
        <p:txBody>
          <a:bodyPr/>
          <a:lstStyle/>
          <a:p>
            <a:pPr defTabSz="685800">
              <a:defRPr/>
            </a:pPr>
            <a:r>
              <a:rPr lang="en-US" dirty="0">
                <a:solidFill>
                  <a:srgbClr val="202020">
                    <a:lumMod val="50000"/>
                    <a:lumOff val="50000"/>
                  </a:srgbClr>
                </a:solidFill>
                <a:latin typeface="+mj-lt"/>
              </a:rPr>
              <a:t>Confidential – Internal BNZ Discussion Only</a:t>
            </a:r>
          </a:p>
        </p:txBody>
      </p:sp>
      <p:sp>
        <p:nvSpPr>
          <p:cNvPr id="4" name="Slide Number Placeholder 3">
            <a:extLst>
              <a:ext uri="{FF2B5EF4-FFF2-40B4-BE49-F238E27FC236}">
                <a16:creationId xmlns:a16="http://schemas.microsoft.com/office/drawing/2014/main" id="{AA73A372-BF9E-D578-7411-22A593816FB1}"/>
              </a:ext>
            </a:extLst>
          </p:cNvPr>
          <p:cNvSpPr>
            <a:spLocks noGrp="1"/>
          </p:cNvSpPr>
          <p:nvPr>
            <p:ph type="sldNum" sz="quarter" idx="11"/>
          </p:nvPr>
        </p:nvSpPr>
        <p:spPr/>
        <p:txBody>
          <a:bodyPr/>
          <a:lstStyle/>
          <a:p>
            <a:pPr defTabSz="685800" fontAlgn="base">
              <a:spcBef>
                <a:spcPct val="0"/>
              </a:spcBef>
              <a:spcAft>
                <a:spcPct val="0"/>
              </a:spcAft>
            </a:pPr>
            <a:fld id="{BB75A05E-A768-448D-89EA-D79CB42F5018}" type="slidenum">
              <a:rPr lang="en-NZ" altLang="en-US">
                <a:latin typeface="+mj-lt"/>
              </a:rPr>
              <a:pPr defTabSz="685800" fontAlgn="base">
                <a:spcBef>
                  <a:spcPct val="0"/>
                </a:spcBef>
                <a:spcAft>
                  <a:spcPct val="0"/>
                </a:spcAft>
              </a:pPr>
              <a:t>20</a:t>
            </a:fld>
            <a:endParaRPr lang="en-NZ" altLang="en-US">
              <a:latin typeface="+mj-lt"/>
            </a:endParaRPr>
          </a:p>
        </p:txBody>
      </p:sp>
      <p:sp>
        <p:nvSpPr>
          <p:cNvPr id="103" name="PlaceHolder 1"/>
          <p:cNvSpPr>
            <a:spLocks noGrp="1"/>
          </p:cNvSpPr>
          <p:nvPr>
            <p:ph type="title"/>
          </p:nvPr>
        </p:nvSpPr>
        <p:spPr>
          <a:xfrm>
            <a:off x="416378" y="2771805"/>
            <a:ext cx="4604657" cy="677108"/>
          </a:xfrm>
          <a:prstGeom prst="rect">
            <a:avLst/>
          </a:prstGeom>
          <a:noFill/>
          <a:ln w="0">
            <a:noFill/>
          </a:ln>
        </p:spPr>
        <p:txBody>
          <a:bodyPr wrap="square" lIns="91440" tIns="91440" rIns="91440" bIns="91440" anchor="b">
            <a:spAutoFit/>
          </a:bodyPr>
          <a:lstStyle/>
          <a:p>
            <a:pPr indent="0" algn="r">
              <a:lnSpc>
                <a:spcPct val="100000"/>
              </a:lnSpc>
              <a:buNone/>
              <a:tabLst>
                <a:tab pos="0" algn="l"/>
              </a:tabLst>
            </a:pPr>
            <a:r>
              <a:rPr lang="en" sz="3200" b="0" u="none" strike="noStrike" dirty="0">
                <a:solidFill>
                  <a:schemeClr val="dk1"/>
                </a:solidFill>
                <a:effectLst/>
                <a:uFillTx/>
                <a:latin typeface="+mj-lt"/>
                <a:ea typeface="Calibri Light" panose="020F0302020204030204" pitchFamily="34" charset="0"/>
                <a:cs typeface="Calibri Light" panose="020F0302020204030204" pitchFamily="34" charset="0"/>
              </a:rPr>
              <a:t>Thank you</a:t>
            </a:r>
            <a:endParaRPr lang="fr-FR" sz="3200" b="0" u="none" strike="noStrike" dirty="0">
              <a:solidFill>
                <a:schemeClr val="dk1"/>
              </a:solidFill>
              <a:effectLst/>
              <a:uFillTx/>
              <a:latin typeface="+mj-lt"/>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754764516"/>
      </p:ext>
    </p:extLst>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BNZ Colours Master">
  <a:themeElements>
    <a:clrScheme name="BNZ">
      <a:dk1>
        <a:srgbClr val="202020"/>
      </a:dk1>
      <a:lt1>
        <a:sysClr val="window" lastClr="FFFFFF"/>
      </a:lt1>
      <a:dk2>
        <a:srgbClr val="073775"/>
      </a:dk2>
      <a:lt2>
        <a:srgbClr val="E1E8F6"/>
      </a:lt2>
      <a:accent1>
        <a:srgbClr val="073775"/>
      </a:accent1>
      <a:accent2>
        <a:srgbClr val="E19A00"/>
      </a:accent2>
      <a:accent3>
        <a:srgbClr val="0973B4"/>
      </a:accent3>
      <a:accent4>
        <a:srgbClr val="F03759"/>
      </a:accent4>
      <a:accent5>
        <a:srgbClr val="C1D82E"/>
      </a:accent5>
      <a:accent6>
        <a:srgbClr val="4BA6A1"/>
      </a:accent6>
      <a:hlink>
        <a:srgbClr val="C1D82E"/>
      </a:hlink>
      <a:folHlink>
        <a:srgbClr val="0A1C42"/>
      </a:folHlink>
    </a:clrScheme>
    <a:fontScheme name="Arail">
      <a:majorFont>
        <a:latin typeface="Arial"/>
        <a:ea typeface=""/>
        <a:cs typeface=""/>
      </a:majorFont>
      <a:minorFont>
        <a:latin typeface="Arial"/>
        <a:ea typeface=""/>
        <a:cs typeface=""/>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solidFill>
          <a:schemeClr val="bg1"/>
        </a:solidFill>
        <a:ln>
          <a:noFill/>
        </a:ln>
      </a:spPr>
      <a:bodyPr wrap="square" rtlCol="0">
        <a:noAutofit/>
      </a:bodyPr>
      <a:lstStyle>
        <a:defPPr>
          <a:defRPr sz="1200" dirty="0" err="1" smtClean="0"/>
        </a:defPPr>
      </a:lstStyle>
    </a:txDef>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5036</TotalTime>
  <Words>1824</Words>
  <Application>Microsoft Office PowerPoint</Application>
  <PresentationFormat>On-screen Show (16:9)</PresentationFormat>
  <Paragraphs>308</Paragraphs>
  <Slides>20</Slides>
  <Notes>0</Notes>
  <HiddenSlides>0</HiddenSlides>
  <MMClips>0</MMClips>
  <ScaleCrop>false</ScaleCrop>
  <HeadingPairs>
    <vt:vector size="6" baseType="variant">
      <vt:variant>
        <vt:lpstr>Fonts Used</vt:lpstr>
      </vt:variant>
      <vt:variant>
        <vt:i4>9</vt:i4>
      </vt:variant>
      <vt:variant>
        <vt:lpstr>Theme</vt:lpstr>
      </vt:variant>
      <vt:variant>
        <vt:i4>11</vt:i4>
      </vt:variant>
      <vt:variant>
        <vt:lpstr>Slide Titles</vt:lpstr>
      </vt:variant>
      <vt:variant>
        <vt:i4>20</vt:i4>
      </vt:variant>
    </vt:vector>
  </HeadingPairs>
  <TitlesOfParts>
    <vt:vector size="40" baseType="lpstr">
      <vt:lpstr>Aptos</vt:lpstr>
      <vt:lpstr>Arial</vt:lpstr>
      <vt:lpstr>Calibri Light</vt:lpstr>
      <vt:lpstr>Figtree Black</vt:lpstr>
      <vt:lpstr>OpenSymbol</vt:lpstr>
      <vt:lpstr>Serrano Office</vt:lpstr>
      <vt:lpstr>Symbol</vt:lpstr>
      <vt:lpstr>Trebuchet MS</vt:lpstr>
      <vt:lpstr>Wingdings</vt:lpstr>
      <vt:lpstr>Elegant Black &amp; White Thesis Defense by Slidesgo</vt:lpstr>
      <vt:lpstr>Elegant Black &amp; White Thesis Defense by Slidesgo</vt:lpstr>
      <vt:lpstr>Elegant Black &amp; White Thesis Defense by Slidesgo</vt:lpstr>
      <vt:lpstr>Elegant Black &amp; White Thesis Defense by Slidesgo</vt:lpstr>
      <vt:lpstr>Elegant Black &amp; White Thesis Defense by Slidesgo</vt:lpstr>
      <vt:lpstr>Elegant Black &amp; White Thesis Defense by Slidesgo</vt:lpstr>
      <vt:lpstr>Elegant Black &amp; White Thesis Defense by Slidesgo</vt:lpstr>
      <vt:lpstr>Elegant Black &amp; White Thesis Defense by Slidesgo</vt:lpstr>
      <vt:lpstr>Elegant Black &amp; White Thesis Defense by Slidesgo</vt:lpstr>
      <vt:lpstr>Elegant Black &amp; White Thesis Defense by Slidesgo</vt:lpstr>
      <vt:lpstr>BNZ Colours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Behara, Himasreya</dc:creator>
  <cp:lastModifiedBy>Pavan Jangam</cp:lastModifiedBy>
  <cp:revision>51</cp:revision>
  <dcterms:modified xsi:type="dcterms:W3CDTF">2026-02-09T12:27:24Z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2026-02-04T16:11:24Z</dcterms:created>
  <dc:creator>Unknown Creator</dc:creator>
  <dc:description/>
  <dc:language>en-US</dc:language>
  <cp:lastModifiedBy>Unknown Creator</cp:lastModifiedBy>
  <dcterms:modified xsi:type="dcterms:W3CDTF">2026-02-04T16:11:24Z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y fmtid="{D5CDD505-2E9C-101B-9397-08002B2CF9AE}" pid="3" name="MSIP_Label_da9c9c86-6906-4eae-a338-31260c18a8cc_Enabled">
    <vt:lpwstr>true</vt:lpwstr>
  </property>
  <property fmtid="{D5CDD505-2E9C-101B-9397-08002B2CF9AE}" pid="4" name="MSIP_Label_da9c9c86-6906-4eae-a338-31260c18a8cc_SetDate">
    <vt:lpwstr>2026-02-05T08:49:17Z</vt:lpwstr>
  </property>
  <property fmtid="{D5CDD505-2E9C-101B-9397-08002B2CF9AE}" pid="5" name="MSIP_Label_da9c9c86-6906-4eae-a338-31260c18a8cc_Method">
    <vt:lpwstr>Privileged</vt:lpwstr>
  </property>
  <property fmtid="{D5CDD505-2E9C-101B-9397-08002B2CF9AE}" pid="6" name="MSIP_Label_da9c9c86-6906-4eae-a338-31260c18a8cc_Name">
    <vt:lpwstr>da9c9c86-6906-4eae-a338-31260c18a8cc</vt:lpwstr>
  </property>
  <property fmtid="{D5CDD505-2E9C-101B-9397-08002B2CF9AE}" pid="7" name="MSIP_Label_da9c9c86-6906-4eae-a338-31260c18a8cc_SiteId">
    <vt:lpwstr>2dc32a81-25ce-4e14-b7bd-f7a45d1170c0</vt:lpwstr>
  </property>
  <property fmtid="{D5CDD505-2E9C-101B-9397-08002B2CF9AE}" pid="8" name="MSIP_Label_da9c9c86-6906-4eae-a338-31260c18a8cc_ActionId">
    <vt:lpwstr>c42ec8d8-59fa-4e01-b62e-330da201b8dd</vt:lpwstr>
  </property>
  <property fmtid="{D5CDD505-2E9C-101B-9397-08002B2CF9AE}" pid="9" name="MSIP_Label_da9c9c86-6906-4eae-a338-31260c18a8cc_ContentBits">
    <vt:lpwstr>0</vt:lpwstr>
  </property>
  <property fmtid="{D5CDD505-2E9C-101B-9397-08002B2CF9AE}" pid="10" name="MSIP_Label_da9c9c86-6906-4eae-a338-31260c18a8cc_Tag">
    <vt:lpwstr>10, 0, 1, 1</vt:lpwstr>
  </property>
</Properties>
</file>